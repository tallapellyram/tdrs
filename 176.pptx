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248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EB1AA-729D-43EE-83FD-B823E97C720D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15738-A15B-4802-8880-308835270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7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3744" y="2668914"/>
            <a:ext cx="2789554" cy="6874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0002" y="837564"/>
            <a:ext cx="5685790" cy="725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65498" y="9130825"/>
            <a:ext cx="285622" cy="3101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itsw.ac.in/principle_message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5000/login" TargetMode="Externa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login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anstats.bts.gov/carriers.asp" TargetMode="External"/><Relationship Id="rId2" Type="http://schemas.openxmlformats.org/officeDocument/2006/relationships/hyperlink" Target="http://stat/" TargetMode="Externa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nalyticsvidhya.com/blog/2017/09/understaing-support-vector-" TargetMode="External"/><Relationship Id="rId2" Type="http://schemas.openxmlformats.org/officeDocument/2006/relationships/hyperlink" Target="https://medium.com/%40Synced/how-random-forest-algorithm-" TargetMode="Externa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12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coursehero.com/file/pfrtb5/Use-Case-Diagram-A-use-case-diagram-visually-represents-the-interaction-between/" TargetMode="External"/><Relationship Id="rId11" Type="http://schemas.openxmlformats.org/officeDocument/2006/relationships/image" Target="../media/image25.png"/><Relationship Id="rId5" Type="http://schemas.openxmlformats.org/officeDocument/2006/relationships/hyperlink" Target="https://doi.org/10.1201/9781003641537" TargetMode="External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31.png"/><Relationship Id="rId1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4.png"/><Relationship Id="rId2" Type="http://schemas.openxmlformats.org/officeDocument/2006/relationships/image" Target="../media/image18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hyperlink" Target="http://redcrevistas.com/index.php/Revista/article/download/24/22" TargetMode="External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4" Type="http://schemas.openxmlformats.org/officeDocument/2006/relationships/hyperlink" Target="https://export.arxiv.org/pdf/2212.14109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mailto:b21ec145@kitsw.ac.in" TargetMode="External"/><Relationship Id="rId2" Type="http://schemas.openxmlformats.org/officeDocument/2006/relationships/hyperlink" Target="mailto:b21ec154@kitsw.ac.i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b21ec175@kitsw.ac.in" TargetMode="External"/><Relationship Id="rId4" Type="http://schemas.openxmlformats.org/officeDocument/2006/relationships/hyperlink" Target="mailto:b21ec182@kitsw.ac.in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1923" y="5751456"/>
            <a:ext cx="1552575" cy="16352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42796" y="753872"/>
            <a:ext cx="5358765" cy="2912977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97865" marR="5080" indent="-685800">
              <a:lnSpc>
                <a:spcPts val="1789"/>
              </a:lnSpc>
              <a:spcBef>
                <a:spcPts val="215"/>
              </a:spcBef>
            </a:pPr>
            <a:r>
              <a:rPr sz="1550" b="1" spc="-10" dirty="0">
                <a:latin typeface="Times New Roman"/>
                <a:cs typeface="Times New Roman"/>
              </a:rPr>
              <a:t>PREDICTIVE</a:t>
            </a:r>
            <a:r>
              <a:rPr sz="1550" b="1" spc="-7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MODEL</a:t>
            </a:r>
            <a:r>
              <a:rPr sz="1550" b="1" spc="-4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OF</a:t>
            </a:r>
            <a:r>
              <a:rPr sz="1550" b="1" spc="-6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TRAIN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DELAYS</a:t>
            </a:r>
            <a:r>
              <a:rPr sz="1550" b="1" spc="-5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IN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RAILWAY </a:t>
            </a:r>
            <a:r>
              <a:rPr sz="1550" b="1" dirty="0">
                <a:latin typeface="Times New Roman"/>
                <a:cs typeface="Times New Roman"/>
              </a:rPr>
              <a:t>SYSTEM</a:t>
            </a:r>
            <a:r>
              <a:rPr sz="1550" b="1" spc="-6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USING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MACHINE</a:t>
            </a:r>
            <a:r>
              <a:rPr sz="1550" b="1" spc="-65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LEARNING</a:t>
            </a:r>
            <a:endParaRPr sz="1550" dirty="0">
              <a:latin typeface="Times New Roman"/>
              <a:cs typeface="Times New Roman"/>
            </a:endParaRPr>
          </a:p>
          <a:p>
            <a:pPr marL="330835" algn="ctr">
              <a:lnSpc>
                <a:spcPct val="100000"/>
              </a:lnSpc>
              <a:spcBef>
                <a:spcPts val="1714"/>
              </a:spcBef>
            </a:pPr>
            <a:r>
              <a:rPr sz="1200" b="1" i="1" dirty="0">
                <a:latin typeface="Times New Roman"/>
                <a:cs typeface="Times New Roman"/>
              </a:rPr>
              <a:t>A</a:t>
            </a:r>
            <a:r>
              <a:rPr sz="1200" b="1" i="1" spc="-2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report</a:t>
            </a:r>
            <a:r>
              <a:rPr sz="1200" b="1" i="1" spc="-1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on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major</a:t>
            </a:r>
            <a:r>
              <a:rPr sz="1200" b="1" i="1" spc="-20" dirty="0">
                <a:latin typeface="Times New Roman"/>
                <a:cs typeface="Times New Roman"/>
              </a:rPr>
              <a:t> </a:t>
            </a:r>
            <a:r>
              <a:rPr sz="1200" b="1" i="1" dirty="0">
                <a:latin typeface="Times New Roman"/>
                <a:cs typeface="Times New Roman"/>
              </a:rPr>
              <a:t>project</a:t>
            </a:r>
            <a:r>
              <a:rPr sz="1200" b="1" i="1" spc="-15" dirty="0">
                <a:latin typeface="Times New Roman"/>
                <a:cs typeface="Times New Roman"/>
              </a:rPr>
              <a:t> </a:t>
            </a:r>
            <a:r>
              <a:rPr sz="1200" b="1" i="1" spc="-20" dirty="0">
                <a:latin typeface="Times New Roman"/>
                <a:cs typeface="Times New Roman"/>
              </a:rPr>
              <a:t>work</a:t>
            </a:r>
            <a:endParaRPr sz="1200" dirty="0">
              <a:latin typeface="Times New Roman"/>
              <a:cs typeface="Times New Roman"/>
            </a:endParaRPr>
          </a:p>
          <a:p>
            <a:pPr marL="1184275" marR="854075" algn="ctr">
              <a:lnSpc>
                <a:spcPts val="2520"/>
              </a:lnSpc>
            </a:pPr>
            <a:r>
              <a:rPr sz="1200" spc="-10" dirty="0">
                <a:latin typeface="Times New Roman"/>
                <a:cs typeface="Times New Roman"/>
              </a:rPr>
              <a:t>Submitted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fulfillment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award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degree</a:t>
            </a:r>
            <a:r>
              <a:rPr sz="1200" spc="-25" dirty="0">
                <a:latin typeface="Times New Roman"/>
                <a:cs typeface="Times New Roman"/>
              </a:rPr>
              <a:t> of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329565"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Times New Roman"/>
                <a:cs typeface="Times New Roman"/>
              </a:rPr>
              <a:t>BACHELOR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OF</a:t>
            </a:r>
            <a:r>
              <a:rPr sz="1400" b="1" spc="-8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  <a:p>
            <a:pPr marL="330200" algn="ctr">
              <a:lnSpc>
                <a:spcPct val="100000"/>
              </a:lnSpc>
              <a:spcBef>
                <a:spcPts val="660"/>
              </a:spcBef>
            </a:pPr>
            <a:r>
              <a:rPr sz="1400" i="1" spc="-25" dirty="0">
                <a:latin typeface="Times New Roman"/>
                <a:cs typeface="Times New Roman"/>
              </a:rPr>
              <a:t>in</a:t>
            </a:r>
            <a:endParaRPr sz="1400" dirty="0">
              <a:latin typeface="Times New Roman"/>
              <a:cs typeface="Times New Roman"/>
            </a:endParaRPr>
          </a:p>
          <a:p>
            <a:pPr marL="328930" algn="ctr">
              <a:lnSpc>
                <a:spcPct val="100000"/>
              </a:lnSpc>
              <a:spcBef>
                <a:spcPts val="1490"/>
              </a:spcBef>
            </a:pPr>
            <a:r>
              <a:rPr sz="1400" b="1" spc="-25" dirty="0">
                <a:latin typeface="Times New Roman"/>
                <a:cs typeface="Times New Roman"/>
              </a:rPr>
              <a:t>ELECTRONICS</a:t>
            </a:r>
            <a:r>
              <a:rPr sz="1400" b="1" spc="-10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COMMUNICATION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327660" algn="ctr">
              <a:lnSpc>
                <a:spcPct val="100000"/>
              </a:lnSpc>
              <a:spcBef>
                <a:spcPts val="60"/>
              </a:spcBef>
            </a:pPr>
            <a:r>
              <a:rPr lang="en-US" sz="1400" i="1" spc="-25" dirty="0">
                <a:latin typeface="Times New Roman"/>
                <a:cs typeface="Times New Roman"/>
              </a:rPr>
              <a:t>b</a:t>
            </a:r>
            <a:r>
              <a:rPr sz="1400" i="1" spc="-25" dirty="0">
                <a:latin typeface="Times New Roman"/>
                <a:cs typeface="Times New Roman"/>
              </a:rPr>
              <a:t>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614484" y="3820795"/>
            <a:ext cx="1393825" cy="17222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4445">
              <a:lnSpc>
                <a:spcPct val="103600"/>
              </a:lnSpc>
              <a:spcBef>
                <a:spcPts val="55"/>
              </a:spcBef>
            </a:pPr>
            <a:r>
              <a:rPr sz="1100" b="1" spc="-10" dirty="0">
                <a:latin typeface="Times New Roman"/>
                <a:cs typeface="Times New Roman"/>
              </a:rPr>
              <a:t>T.RAMCHARAN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TEJ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9200" y="3820794"/>
            <a:ext cx="662940" cy="17222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270" algn="just">
              <a:lnSpc>
                <a:spcPct val="103600"/>
              </a:lnSpc>
              <a:spcBef>
                <a:spcPts val="55"/>
              </a:spcBef>
            </a:pPr>
            <a:r>
              <a:rPr sz="1100" b="1" spc="-10" dirty="0">
                <a:latin typeface="Times New Roman"/>
                <a:cs typeface="Times New Roman"/>
              </a:rPr>
              <a:t>B21EC176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3681" y="4531748"/>
            <a:ext cx="1369060" cy="8451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endParaRPr sz="1200" dirty="0">
              <a:latin typeface="Times New Roman"/>
              <a:cs typeface="Times New Roman"/>
            </a:endParaRPr>
          </a:p>
          <a:p>
            <a:pPr marL="86995">
              <a:lnSpc>
                <a:spcPts val="1650"/>
              </a:lnSpc>
              <a:spcBef>
                <a:spcPts val="305"/>
              </a:spcBef>
            </a:pPr>
            <a:r>
              <a:rPr sz="1400" b="1" dirty="0">
                <a:latin typeface="Times New Roman"/>
                <a:cs typeface="Times New Roman"/>
              </a:rPr>
              <a:t>SRI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E.SURESH</a:t>
            </a:r>
            <a:endParaRPr sz="1400" dirty="0">
              <a:latin typeface="Times New Roman"/>
              <a:cs typeface="Times New Roman"/>
            </a:endParaRPr>
          </a:p>
          <a:p>
            <a:pPr marL="90170" marR="40640" indent="-3175">
              <a:lnSpc>
                <a:spcPts val="1390"/>
              </a:lnSpc>
              <a:spcBef>
                <a:spcPts val="55"/>
              </a:spcBef>
            </a:pPr>
            <a:r>
              <a:rPr sz="1200" spc="-10" dirty="0">
                <a:latin typeface="Times New Roman"/>
                <a:cs typeface="Times New Roman"/>
              </a:rPr>
              <a:t>Associate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Professor, Department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ECE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4394" y="7952993"/>
            <a:ext cx="5207635" cy="1133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41300" marR="5080" indent="-228600">
              <a:lnSpc>
                <a:spcPct val="105000"/>
              </a:lnSpc>
              <a:spcBef>
                <a:spcPts val="25"/>
              </a:spcBef>
            </a:pPr>
            <a:r>
              <a:rPr sz="1200" b="1" spc="-10" dirty="0">
                <a:latin typeface="Times New Roman"/>
                <a:cs typeface="Times New Roman"/>
              </a:rPr>
              <a:t>DEPARTMENT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ELECTRONICS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&amp;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COMMUNICATION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 </a:t>
            </a:r>
            <a:r>
              <a:rPr sz="1200" b="1" dirty="0">
                <a:latin typeface="Times New Roman"/>
                <a:cs typeface="Times New Roman"/>
              </a:rPr>
              <a:t>KAKATIYA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INSTITUTE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OF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TECHNOLOGY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SCIENCE,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WARANGAL</a:t>
            </a:r>
            <a:endParaRPr sz="1200">
              <a:latin typeface="Times New Roman"/>
              <a:cs typeface="Times New Roman"/>
            </a:endParaRPr>
          </a:p>
          <a:p>
            <a:pPr marL="14604" algn="ctr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latin typeface="Times New Roman"/>
                <a:cs typeface="Times New Roman"/>
              </a:rPr>
              <a:t>(An</a:t>
            </a:r>
            <a:r>
              <a:rPr sz="1100" i="1" spc="-3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Autonomous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Institute</a:t>
            </a:r>
            <a:r>
              <a:rPr sz="1100" i="1" spc="-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under Kakatiya</a:t>
            </a:r>
            <a:r>
              <a:rPr sz="1100" i="1" spc="-3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University,</a:t>
            </a:r>
            <a:r>
              <a:rPr sz="1100" i="1" spc="-4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Warangal)</a:t>
            </a:r>
            <a:endParaRPr sz="110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725"/>
              </a:spcBef>
            </a:pPr>
            <a:r>
              <a:rPr sz="1200" b="1" spc="-20" dirty="0">
                <a:latin typeface="Times New Roman"/>
                <a:cs typeface="Times New Roman"/>
              </a:rPr>
              <a:t>WARANGAL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506015</a:t>
            </a:r>
            <a:endParaRPr sz="1200">
              <a:latin typeface="Times New Roman"/>
              <a:cs typeface="Times New Roman"/>
            </a:endParaRPr>
          </a:p>
          <a:p>
            <a:pPr marL="93345" algn="ctr">
              <a:lnSpc>
                <a:spcPct val="100000"/>
              </a:lnSpc>
              <a:spcBef>
                <a:spcPts val="735"/>
              </a:spcBef>
            </a:pPr>
            <a:r>
              <a:rPr sz="1200" b="1" spc="-25" dirty="0">
                <a:latin typeface="Times New Roman"/>
                <a:cs typeface="Times New Roman"/>
              </a:rPr>
              <a:t>2024-</a:t>
            </a:r>
            <a:r>
              <a:rPr sz="1200" b="1" spc="-20" dirty="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275" y="1905000"/>
            <a:ext cx="1552575" cy="16352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9841" y="984250"/>
            <a:ext cx="5173980" cy="64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KAKATIYA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INSTITUTE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OF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TECHNOLOGY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SCIENCE,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WARANGAL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20" dirty="0">
                <a:latin typeface="Times New Roman"/>
                <a:cs typeface="Times New Roman"/>
              </a:rPr>
              <a:t>DEPARTMENT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OF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ELECTRONICS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&amp;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COMMUNICATION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ENGINEERING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322577" y="3939666"/>
            <a:ext cx="5591175" cy="1664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5"/>
              </a:spcBef>
            </a:pPr>
            <a:r>
              <a:rPr sz="14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CERTIFICATE</a:t>
            </a:r>
            <a:endParaRPr sz="14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7200"/>
              </a:lnSpc>
              <a:spcBef>
                <a:spcPts val="875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certify 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 entitled “</a:t>
            </a:r>
            <a:r>
              <a:rPr sz="1200" b="1" dirty="0">
                <a:latin typeface="Times New Roman"/>
                <a:cs typeface="Times New Roman"/>
              </a:rPr>
              <a:t>Predictive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Delays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4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a </a:t>
            </a:r>
            <a:r>
              <a:rPr sz="1200" b="1" dirty="0">
                <a:latin typeface="Times New Roman"/>
                <a:cs typeface="Times New Roman"/>
              </a:rPr>
              <a:t>Railway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2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Using</a:t>
            </a:r>
            <a:r>
              <a:rPr sz="1200" b="1" spc="25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2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Learning</a:t>
            </a:r>
            <a:r>
              <a:rPr sz="1100" dirty="0">
                <a:latin typeface="Times New Roman"/>
                <a:cs typeface="Times New Roman"/>
              </a:rPr>
              <a:t>”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bonafide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carried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b="1" dirty="0">
                <a:latin typeface="Times New Roman"/>
                <a:cs typeface="Times New Roman"/>
              </a:rPr>
              <a:t>T.RAMCHARAN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TEJ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bearing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 err="1">
                <a:latin typeface="Times New Roman"/>
                <a:cs typeface="Times New Roman"/>
              </a:rPr>
              <a:t>Roll.No</a:t>
            </a:r>
            <a:r>
              <a:rPr lang="en-US"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B21EC176</a:t>
            </a:r>
            <a:r>
              <a:rPr lang="en-US" sz="1100" b="1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partial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fulfillment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requirements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degree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Bachelor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Kakatiya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Institute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Science,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Warangal during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 year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2024-2025</a:t>
            </a:r>
            <a:r>
              <a:rPr sz="1400" spc="-10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913" y="6587108"/>
            <a:ext cx="10725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Project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Guide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3484" y="6587108"/>
            <a:ext cx="18516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Head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Department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153" y="7378446"/>
            <a:ext cx="1302385" cy="8959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1200" b="1" dirty="0">
                <a:latin typeface="Times New Roman"/>
                <a:cs typeface="Times New Roman"/>
              </a:rPr>
              <a:t>SRI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E.SURESH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dirty="0">
                <a:latin typeface="Times New Roman"/>
                <a:cs typeface="Times New Roman"/>
              </a:rPr>
              <a:t>Associate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Professor,</a:t>
            </a:r>
            <a:endParaRPr sz="1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375"/>
              </a:spcBef>
            </a:pP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ECE,</a:t>
            </a:r>
            <a:endParaRPr sz="1200">
              <a:latin typeface="Times New Roman"/>
              <a:cs typeface="Times New Roman"/>
            </a:endParaRPr>
          </a:p>
          <a:p>
            <a:pPr marL="116205">
              <a:lnSpc>
                <a:spcPct val="100000"/>
              </a:lnSpc>
              <a:spcBef>
                <a:spcPts val="550"/>
              </a:spcBef>
            </a:pPr>
            <a:r>
              <a:rPr sz="1200" spc="-10" dirty="0">
                <a:latin typeface="Times New Roman"/>
                <a:cs typeface="Times New Roman"/>
              </a:rPr>
              <a:t>KITS,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Warangal.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3860" y="7378446"/>
            <a:ext cx="2322195" cy="8959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b="1" spc="-10" dirty="0">
                <a:latin typeface="Times New Roman"/>
                <a:cs typeface="Times New Roman"/>
              </a:rPr>
              <a:t>Dr.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V.VENKATESHWAR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REDDY</a:t>
            </a:r>
            <a:endParaRPr sz="12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85"/>
              </a:spcBef>
            </a:pPr>
            <a:r>
              <a:rPr sz="1200" dirty="0">
                <a:latin typeface="Times New Roman"/>
                <a:cs typeface="Times New Roman"/>
              </a:rPr>
              <a:t>Associate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</a:t>
            </a:r>
            <a:r>
              <a:rPr sz="1200" spc="-25" dirty="0">
                <a:latin typeface="Times New Roman"/>
                <a:cs typeface="Times New Roman"/>
              </a:rPr>
              <a:t> of</a:t>
            </a:r>
            <a:endParaRPr sz="12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  <a:spcBef>
                <a:spcPts val="375"/>
              </a:spcBef>
            </a:pP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ECE,</a:t>
            </a:r>
            <a:endParaRPr sz="1200">
              <a:latin typeface="Times New Roman"/>
              <a:cs typeface="Times New Roman"/>
            </a:endParaRPr>
          </a:p>
          <a:p>
            <a:pPr marL="608330">
              <a:lnSpc>
                <a:spcPct val="100000"/>
              </a:lnSpc>
              <a:spcBef>
                <a:spcPts val="550"/>
              </a:spcBef>
            </a:pPr>
            <a:r>
              <a:rPr sz="1200" spc="-10" dirty="0">
                <a:latin typeface="Times New Roman"/>
                <a:cs typeface="Times New Roman"/>
              </a:rPr>
              <a:t>KITS,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Warangal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151940" y="746251"/>
            <a:ext cx="5761990" cy="1639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DECLARATION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 marR="5080" indent="554355" algn="just">
              <a:lnSpc>
                <a:spcPct val="142500"/>
              </a:lnSpc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declare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original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been </a:t>
            </a:r>
            <a:r>
              <a:rPr sz="1200" spc="-10" dirty="0">
                <a:latin typeface="Times New Roman"/>
                <a:cs typeface="Times New Roman"/>
              </a:rPr>
              <a:t>carried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Electronics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Kakatiya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Institute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Warangal,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Telangana,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been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not </a:t>
            </a:r>
            <a:r>
              <a:rPr sz="1200" dirty="0">
                <a:latin typeface="Times New Roman"/>
                <a:cs typeface="Times New Roman"/>
              </a:rPr>
              <a:t>submitted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elsewhere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degree.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0200" y="3048000"/>
            <a:ext cx="1503730" cy="92012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78105">
              <a:lnSpc>
                <a:spcPts val="1380"/>
              </a:lnSpc>
              <a:spcBef>
                <a:spcPts val="195"/>
              </a:spcBef>
            </a:pPr>
            <a:r>
              <a:rPr sz="1200" b="1" spc="-20" dirty="0">
                <a:latin typeface="Times New Roman"/>
                <a:cs typeface="Times New Roman"/>
              </a:rPr>
              <a:t>T.RAMCHARAN </a:t>
            </a:r>
            <a:r>
              <a:rPr sz="1200" b="1" spc="-25" dirty="0">
                <a:latin typeface="Times New Roman"/>
                <a:cs typeface="Times New Roman"/>
              </a:rPr>
              <a:t>TEJ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Roll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B21EC176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151940" y="991870"/>
            <a:ext cx="5852795" cy="58705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ACKNOWLEDGEMENT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 marR="5080" indent="455295" algn="just">
              <a:lnSpc>
                <a:spcPct val="106200"/>
              </a:lnSpc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deepest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sense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gratitude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indebtedness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guide </a:t>
            </a:r>
            <a:r>
              <a:rPr sz="1200" b="1" dirty="0">
                <a:latin typeface="Times New Roman"/>
                <a:cs typeface="Times New Roman"/>
              </a:rPr>
              <a:t>Sri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E.Suresh,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Dept.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Warangal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sourceof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inspiration,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precious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guidance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generous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assistance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deem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privilege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guidance.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close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monitoring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suggestions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wouldn’t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shape.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not </a:t>
            </a:r>
            <a:r>
              <a:rPr sz="1200" dirty="0">
                <a:latin typeface="Times New Roman"/>
                <a:cs typeface="Times New Roman"/>
              </a:rPr>
              <a:t>substitutable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unforgettable.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indent="455295" algn="just">
              <a:lnSpc>
                <a:spcPct val="106100"/>
              </a:lnSpc>
              <a:spcBef>
                <a:spcPts val="1175"/>
              </a:spcBef>
            </a:pPr>
            <a:r>
              <a:rPr sz="1200" spc="-1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thankful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B.Tech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major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convener,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Smt.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Vijaya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Associate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Professor, </a:t>
            </a:r>
            <a:r>
              <a:rPr sz="1200" dirty="0">
                <a:latin typeface="Times New Roman"/>
                <a:cs typeface="Times New Roman"/>
              </a:rPr>
              <a:t>Dept.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ECE,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KITSW,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co-</a:t>
            </a:r>
            <a:r>
              <a:rPr sz="1200" dirty="0">
                <a:latin typeface="Times New Roman"/>
                <a:cs typeface="Times New Roman"/>
              </a:rPr>
              <a:t>ordinators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Dr.R.Srikanth</a:t>
            </a:r>
            <a:r>
              <a:rPr sz="1200" b="1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Assistant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Professor</a:t>
            </a:r>
            <a:r>
              <a:rPr sz="1200" b="1" spc="-10" dirty="0">
                <a:latin typeface="Times New Roman"/>
                <a:cs typeface="Times New Roman"/>
              </a:rPr>
              <a:t>, </a:t>
            </a:r>
            <a:r>
              <a:rPr sz="1200" b="1" dirty="0">
                <a:latin typeface="Times New Roman"/>
                <a:cs typeface="Times New Roman"/>
              </a:rPr>
              <a:t>Dr.D.Venu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Assistant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V.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Raju</a:t>
            </a:r>
            <a:r>
              <a:rPr sz="1200" b="1" spc="1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Reddy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Assistant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Professor,Dept.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ECE, </a:t>
            </a:r>
            <a:r>
              <a:rPr sz="1200" dirty="0">
                <a:latin typeface="Times New Roman"/>
                <a:cs typeface="Times New Roman"/>
              </a:rPr>
              <a:t>KITSW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conduction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presentations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suggestions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presenting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document.</a:t>
            </a:r>
            <a:endParaRPr sz="1200" dirty="0">
              <a:latin typeface="Times New Roman"/>
              <a:cs typeface="Times New Roman"/>
            </a:endParaRPr>
          </a:p>
          <a:p>
            <a:pPr marL="12700" marR="7620" indent="455295" algn="just">
              <a:lnSpc>
                <a:spcPct val="104200"/>
              </a:lnSpc>
              <a:spcBef>
                <a:spcPts val="107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profoundly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thankful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Dr.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V.Venkateshawar</a:t>
            </a:r>
            <a:r>
              <a:rPr sz="1200" b="1" spc="10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Reddy,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Professor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&amp; </a:t>
            </a:r>
            <a:r>
              <a:rPr sz="1200" dirty="0">
                <a:latin typeface="Times New Roman"/>
                <a:cs typeface="Times New Roman"/>
              </a:rPr>
              <a:t>Head,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Dept.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ECEfor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encouragement.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indent="455295" algn="just">
              <a:lnSpc>
                <a:spcPct val="105000"/>
              </a:lnSpc>
              <a:spcBef>
                <a:spcPts val="1010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express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sincere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2"/>
              </a:rPr>
              <a:t>Dr.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2"/>
              </a:rPr>
              <a:t>K.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2"/>
              </a:rPr>
              <a:t>Ash</a:t>
            </a:r>
            <a:r>
              <a:rPr sz="1200" b="1" dirty="0">
                <a:latin typeface="Times New Roman"/>
                <a:cs typeface="Times New Roman"/>
              </a:rPr>
              <a:t>oka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Reddy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Principal,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Warangal,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gesture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support.</a:t>
            </a:r>
            <a:endParaRPr sz="1200" dirty="0">
              <a:latin typeface="Times New Roman"/>
              <a:cs typeface="Times New Roman"/>
            </a:endParaRPr>
          </a:p>
          <a:p>
            <a:pPr marL="12700" marR="17145" indent="455295" algn="just">
              <a:lnSpc>
                <a:spcPct val="106200"/>
              </a:lnSpc>
              <a:spcBef>
                <a:spcPts val="71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indebted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Kakatiya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Science, </a:t>
            </a:r>
            <a:r>
              <a:rPr sz="1200" dirty="0">
                <a:latin typeface="Times New Roman"/>
                <a:cs typeface="Times New Roman"/>
              </a:rPr>
              <a:t>Warangal,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infrastructure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academic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 </a:t>
            </a:r>
            <a:r>
              <a:rPr sz="1200" dirty="0">
                <a:latin typeface="Times New Roman"/>
                <a:cs typeface="Times New Roman"/>
              </a:rPr>
              <a:t>endeavor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complete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ECE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IEEE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papers.</a:t>
            </a:r>
            <a:endParaRPr sz="1200" dirty="0">
              <a:latin typeface="Times New Roman"/>
              <a:cs typeface="Times New Roman"/>
            </a:endParaRPr>
          </a:p>
          <a:p>
            <a:pPr marL="12700" marR="636905" indent="66675">
              <a:lnSpc>
                <a:spcPct val="105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acknowledge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faculty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non-teaching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staff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Electronics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Engineering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Department.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4176395" marR="64135">
              <a:lnSpc>
                <a:spcPct val="95900"/>
              </a:lnSpc>
            </a:pPr>
            <a:r>
              <a:rPr sz="1300" b="1" spc="-10" dirty="0">
                <a:latin typeface="Times New Roman"/>
                <a:cs typeface="Times New Roman"/>
              </a:rPr>
              <a:t>T.RAMCHARAN</a:t>
            </a:r>
            <a:r>
              <a:rPr sz="1300" b="1" spc="-55" dirty="0">
                <a:latin typeface="Times New Roman"/>
                <a:cs typeface="Times New Roman"/>
              </a:rPr>
              <a:t> </a:t>
            </a:r>
            <a:r>
              <a:rPr sz="1300" b="1" spc="-25" dirty="0">
                <a:latin typeface="Times New Roman"/>
                <a:cs typeface="Times New Roman"/>
              </a:rPr>
              <a:t>TEJ</a:t>
            </a:r>
            <a:endParaRPr sz="1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914196" y="1196085"/>
            <a:ext cx="6202680" cy="452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64515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ABSTRACT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comprehensive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generalized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potentially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Unlike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traditional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single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specific </a:t>
            </a:r>
            <a:r>
              <a:rPr sz="1200" dirty="0">
                <a:latin typeface="Times New Roman"/>
                <a:cs typeface="Times New Roman"/>
              </a:rPr>
              <a:t>stations,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broadens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scope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Automatic </a:t>
            </a:r>
            <a:r>
              <a:rPr sz="1200" dirty="0">
                <a:latin typeface="Times New Roman"/>
                <a:cs typeface="Times New Roman"/>
              </a:rPr>
              <a:t>Dependent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Surveillance-</a:t>
            </a:r>
            <a:r>
              <a:rPr sz="1200" dirty="0">
                <a:latin typeface="Times New Roman"/>
                <a:cs typeface="Times New Roman"/>
              </a:rPr>
              <a:t>Broadcast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(ADS-</a:t>
            </a:r>
            <a:r>
              <a:rPr sz="1200" dirty="0">
                <a:latin typeface="Times New Roman"/>
                <a:cs typeface="Times New Roman"/>
              </a:rPr>
              <a:t>B)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messages,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schedules,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railway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infrastructure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pre-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combined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robust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likelihood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estimate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duration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tested,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Short-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(LSTM)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showed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promise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sequential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environmental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overfitting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limited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size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Despite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proposed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significant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 </a:t>
            </a:r>
            <a:r>
              <a:rPr sz="1200" dirty="0">
                <a:latin typeface="Times New Roman"/>
                <a:cs typeface="Times New Roman"/>
              </a:rPr>
              <a:t>accuracy,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95.2%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previous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959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incorporating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predictions.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more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planning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passengers.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overfitting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incorporating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diverse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901823" y="1253998"/>
            <a:ext cx="21761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TABLE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OF</a:t>
            </a:r>
            <a:r>
              <a:rPr sz="1600" b="1" spc="-10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CONTENTS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7136" y="1897633"/>
          <a:ext cx="6086474" cy="5497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0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71120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Content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9785" algn="r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Page.No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40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Certificates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Declaration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iii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Acknowledgment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Abstract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40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Figures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vii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L="7112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Introduction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85090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Objectives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40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340">
                <a:tc>
                  <a:txBody>
                    <a:bodyPr/>
                    <a:lstStyle/>
                    <a:p>
                      <a:pPr marL="85090">
                        <a:lnSpc>
                          <a:spcPts val="143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Review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43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4-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8509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8509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8-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7112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314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10-16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451484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 Design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314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17-19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7112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71120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314" algn="ctr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21-26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71120">
                        <a:lnSpc>
                          <a:spcPts val="13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165" algn="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27-29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5823" rIns="0" bIns="0" rtlCol="0">
            <a:spAutoFit/>
          </a:bodyPr>
          <a:lstStyle/>
          <a:p>
            <a:pPr marL="116839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2965830" y="1162558"/>
            <a:ext cx="1648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LIST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FIGURE</a:t>
            </a:r>
            <a:endParaRPr sz="16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3691" y="1646173"/>
          <a:ext cx="6919595" cy="2110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505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4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4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54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L="4445" algn="ctr">
                        <a:lnSpc>
                          <a:spcPts val="135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5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135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R="63500" algn="ctr">
                        <a:lnSpc>
                          <a:spcPts val="129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flow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129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marR="63500" algn="ctr">
                        <a:lnSpc>
                          <a:spcPts val="137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7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case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137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R="63500" algn="ctr">
                        <a:lnSpc>
                          <a:spcPts val="128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128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marR="63500" algn="ctr">
                        <a:lnSpc>
                          <a:spcPts val="137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7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137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139700" algn="ctr">
                        <a:lnSpc>
                          <a:spcPts val="135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6.6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4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Activity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Diagram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7955" algn="ctr">
                        <a:lnSpc>
                          <a:spcPts val="135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R="13970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ctr">
                        <a:lnSpc>
                          <a:spcPts val="139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28-29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2776" rIns="0" bIns="0" rtlCol="0">
            <a:spAutoFit/>
          </a:bodyPr>
          <a:lstStyle/>
          <a:p>
            <a:pPr marL="137160">
              <a:lnSpc>
                <a:spcPts val="1410"/>
              </a:lnSpc>
            </a:pPr>
            <a:r>
              <a:rPr spc="-50" dirty="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1028446"/>
            <a:ext cx="6368415" cy="723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9620">
              <a:lnSpc>
                <a:spcPct val="100000"/>
              </a:lnSpc>
              <a:spcBef>
                <a:spcPts val="95"/>
              </a:spcBef>
            </a:pPr>
            <a:r>
              <a:rPr sz="1500" b="1" spc="-10" dirty="0">
                <a:latin typeface="Times New Roman"/>
                <a:cs typeface="Times New Roman"/>
              </a:rPr>
              <a:t>1.</a:t>
            </a:r>
            <a:r>
              <a:rPr sz="1600" b="1" spc="-10" dirty="0">
                <a:latin typeface="Times New Roman"/>
                <a:cs typeface="Times New Roman"/>
              </a:rPr>
              <a:t>INTRODUCTION</a:t>
            </a:r>
            <a:endParaRPr sz="16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700"/>
              </a:lnSpc>
              <a:spcBef>
                <a:spcPts val="162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necessity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cutting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acknowledged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10" dirty="0">
                <a:latin typeface="Times New Roman"/>
                <a:cs typeface="Times New Roman"/>
              </a:rPr>
              <a:t>recent </a:t>
            </a:r>
            <a:r>
              <a:rPr sz="1200" dirty="0">
                <a:latin typeface="Times New Roman"/>
                <a:cs typeface="Times New Roman"/>
              </a:rPr>
              <a:t>years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transportation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sector,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4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railroads.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causing</a:t>
            </a:r>
            <a:r>
              <a:rPr sz="1200" spc="4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passengers' </a:t>
            </a:r>
            <a:r>
              <a:rPr sz="1200" dirty="0">
                <a:latin typeface="Times New Roman"/>
                <a:cs typeface="Times New Roman"/>
              </a:rPr>
              <a:t>inconvenience,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transportation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network's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timetable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disrupted,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lowers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customer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satisfaction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financial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losses.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Modern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</a:t>
            </a:r>
            <a:r>
              <a:rPr sz="1200" dirty="0">
                <a:latin typeface="Times New Roman"/>
                <a:cs typeface="Times New Roman"/>
              </a:rPr>
              <a:t>learning,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answers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anticipate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 </a:t>
            </a:r>
            <a:r>
              <a:rPr sz="1200" dirty="0">
                <a:latin typeface="Times New Roman"/>
                <a:cs typeface="Times New Roman"/>
              </a:rPr>
              <a:t>operations.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things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traffic,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maintenance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problems,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analyzed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recognizing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trends,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likelihood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severity, </a:t>
            </a:r>
            <a:r>
              <a:rPr sz="1200" dirty="0">
                <a:latin typeface="Times New Roman"/>
                <a:cs typeface="Times New Roman"/>
              </a:rPr>
              <a:t>enabling </a:t>
            </a:r>
            <a:r>
              <a:rPr sz="1200" spc="-10" dirty="0">
                <a:latin typeface="Times New Roman"/>
                <a:cs typeface="Times New Roman"/>
              </a:rPr>
              <a:t>preventative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incorporated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make it available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helpful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general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public.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decision-makers,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railroad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can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regarding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suggestions,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real-</a:t>
            </a:r>
            <a:r>
              <a:rPr sz="1200" spc="-20" dirty="0">
                <a:latin typeface="Times New Roman"/>
                <a:cs typeface="Times New Roman"/>
              </a:rPr>
              <a:t>time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timetable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technology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useful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intuitive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timeliness.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7145" algn="just">
              <a:lnSpc>
                <a:spcPct val="143700"/>
              </a:lnSpc>
            </a:pP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networks'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capacity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significantly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increased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combining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railroads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their </a:t>
            </a:r>
            <a:r>
              <a:rPr sz="1200" dirty="0">
                <a:latin typeface="Times New Roman"/>
                <a:cs typeface="Times New Roman"/>
              </a:rPr>
              <a:t>resources,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delay-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expenses.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promising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(ML),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vast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amounts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accurately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 weather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 delay records. Railway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operators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lower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expenses,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communication,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more </a:t>
            </a:r>
            <a:r>
              <a:rPr sz="1200" spc="-10" dirty="0">
                <a:latin typeface="Times New Roman"/>
                <a:cs typeface="Times New Roman"/>
              </a:rPr>
              <a:t>proactively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2776" rIns="0" bIns="0" rtlCol="0">
            <a:spAutoFit/>
          </a:bodyPr>
          <a:lstStyle/>
          <a:p>
            <a:pPr marL="137160">
              <a:lnSpc>
                <a:spcPts val="1410"/>
              </a:lnSpc>
            </a:pPr>
            <a:r>
              <a:rPr spc="-50" dirty="0"/>
              <a:t>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773429"/>
            <a:ext cx="6365240" cy="309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9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Gradient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Boosting,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Neural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Networks,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affect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-20" dirty="0">
                <a:latin typeface="Times New Roman"/>
                <a:cs typeface="Times New Roman"/>
              </a:rPr>
              <a:t> such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kind 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train, 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outside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circumstances.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 be </a:t>
            </a:r>
            <a:r>
              <a:rPr sz="1200" spc="-20" dirty="0">
                <a:latin typeface="Times New Roman"/>
                <a:cs typeface="Times New Roman"/>
              </a:rPr>
              <a:t>able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arrivals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offer 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experience.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platform,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choose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particular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routes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receive crucial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along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estimated </a:t>
            </a:r>
            <a:r>
              <a:rPr sz="1200" dirty="0">
                <a:latin typeface="Times New Roman"/>
                <a:cs typeface="Times New Roman"/>
              </a:rPr>
              <a:t>delays.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Essentially,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workable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decreasing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streamlining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fusing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learning.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2776" rIns="0" bIns="0" rtlCol="0">
            <a:spAutoFit/>
          </a:bodyPr>
          <a:lstStyle/>
          <a:p>
            <a:pPr marL="137160">
              <a:lnSpc>
                <a:spcPts val="1410"/>
              </a:lnSpc>
            </a:pPr>
            <a:r>
              <a:rPr spc="-50" dirty="0"/>
              <a:t>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850138"/>
            <a:ext cx="6334125" cy="399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7885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2.</a:t>
            </a:r>
            <a:r>
              <a:rPr sz="1500" b="1" spc="7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OBJECTIVES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153035" indent="162560">
              <a:lnSpc>
                <a:spcPct val="143300"/>
              </a:lnSpc>
              <a:buAutoNum type="arabicPeriod"/>
              <a:tabLst>
                <a:tab pos="17526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day,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traffic,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congestion.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5080" indent="177800">
              <a:lnSpc>
                <a:spcPct val="143300"/>
              </a:lnSpc>
              <a:buAutoNum type="arabicPeriod"/>
              <a:tabLst>
                <a:tab pos="19050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XGBoost,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6350" indent="153670">
              <a:lnSpc>
                <a:spcPct val="144200"/>
              </a:lnSpc>
              <a:buAutoNum type="arabicPeriod"/>
              <a:tabLst>
                <a:tab pos="16637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improve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proactive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on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enhance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5715" indent="170180">
              <a:lnSpc>
                <a:spcPct val="143300"/>
              </a:lnSpc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intuitive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better </a:t>
            </a:r>
            <a:r>
              <a:rPr sz="1200" spc="-25" dirty="0">
                <a:latin typeface="Times New Roman"/>
                <a:cs typeface="Times New Roman"/>
              </a:rPr>
              <a:t>decision-</a:t>
            </a:r>
            <a:r>
              <a:rPr sz="1200" spc="-10" dirty="0">
                <a:latin typeface="Times New Roman"/>
                <a:cs typeface="Times New Roman"/>
              </a:rPr>
              <a:t>making.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993393"/>
            <a:ext cx="6316980" cy="811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3.</a:t>
            </a:r>
            <a:r>
              <a:rPr sz="1500" b="1" spc="114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LITERATURE</a:t>
            </a:r>
            <a:r>
              <a:rPr sz="1600" b="1" spc="-8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REVIEW</a:t>
            </a:r>
            <a:endParaRPr sz="16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800"/>
              </a:lnSpc>
              <a:spcBef>
                <a:spcPts val="57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Intelligence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Transportation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(ITS)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pieces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past.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Literature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have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performed.</a:t>
            </a: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600"/>
              </a:lnSpc>
              <a:spcBef>
                <a:spcPts val="340"/>
              </a:spcBef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Hansen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[8]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things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consideration,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dispatching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conflicts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[8].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arrival </a:t>
            </a:r>
            <a:r>
              <a:rPr sz="1200" dirty="0">
                <a:latin typeface="Times New Roman"/>
                <a:cs typeface="Times New Roman"/>
              </a:rPr>
              <a:t>times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ontime,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kind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effectiveness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dispatching decisions.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Masoud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Yaghini et al., [9]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presented 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 with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 accuracy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 delays.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He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strategies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results,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advantage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Multinomial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algorithms.</a:t>
            </a: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70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Pongnumkul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al.,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[10]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average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travel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k-nearest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neighbours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arrival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respectively.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paper,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review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percent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errors.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some work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Thai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predicting train delay. They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discovered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 one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stops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stations.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9 </a:t>
            </a:r>
            <a:r>
              <a:rPr sz="1200" dirty="0">
                <a:latin typeface="Times New Roman"/>
                <a:cs typeface="Times New Roman"/>
              </a:rPr>
              <a:t>parameters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months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delay.</a:t>
            </a:r>
            <a:endParaRPr sz="1200">
              <a:latin typeface="Times New Roman"/>
              <a:cs typeface="Times New Roman"/>
            </a:endParaRPr>
          </a:p>
          <a:p>
            <a:pPr marL="12700" marR="5080" indent="38100" algn="just">
              <a:lnSpc>
                <a:spcPct val="14370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Jia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[11]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Artificial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Neural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Network </a:t>
            </a:r>
            <a:r>
              <a:rPr sz="1200" dirty="0">
                <a:latin typeface="Times New Roman"/>
                <a:cs typeface="Times New Roman"/>
              </a:rPr>
              <a:t>(ANN).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overcome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endogenous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drawback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ANN,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Genetic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spc="-10" dirty="0">
                <a:latin typeface="Times New Roman"/>
                <a:cs typeface="Times New Roman"/>
              </a:rPr>
              <a:t>implemented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ANN.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thorough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thoroughly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methodology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used: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flight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 means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arrived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prescheduled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unexpected </a:t>
            </a:r>
            <a:r>
              <a:rPr sz="1200" dirty="0">
                <a:latin typeface="Times New Roman"/>
                <a:cs typeface="Times New Roman"/>
              </a:rPr>
              <a:t>stopping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near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unavailability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platform.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important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origin,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 breakdown,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train’s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breakdown,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waiting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overtaking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Climate/weather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condition </a:t>
            </a:r>
            <a:r>
              <a:rPr sz="1200" dirty="0">
                <a:latin typeface="Times New Roman"/>
                <a:cs typeface="Times New Roman"/>
              </a:rPr>
              <a:t>(temperature,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speed,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heavy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rain,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snowfall)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(railways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assets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festivals, </a:t>
            </a:r>
            <a:r>
              <a:rPr sz="1200" dirty="0">
                <a:latin typeface="Times New Roman"/>
                <a:cs typeface="Times New Roman"/>
              </a:rPr>
              <a:t>strikes,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national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etc.).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paper,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result.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meta-</a:t>
            </a:r>
            <a:r>
              <a:rPr sz="1200" dirty="0">
                <a:latin typeface="Times New Roman"/>
                <a:cs typeface="Times New Roman"/>
              </a:rPr>
              <a:t>heuristic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genetic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2004" y="243331"/>
            <a:ext cx="2985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algorithm,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hybrid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ensemble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161033"/>
            <a:ext cx="6315075" cy="262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</a:t>
            </a:r>
            <a:r>
              <a:rPr sz="1200" b="1" dirty="0">
                <a:latin typeface="Times New Roman"/>
                <a:cs typeface="Times New Roman"/>
              </a:rPr>
              <a:t>OOLS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</a:t>
            </a:r>
            <a:r>
              <a:rPr sz="1200" b="1" spc="-10" dirty="0">
                <a:latin typeface="Times New Roman"/>
                <a:cs typeface="Times New Roman"/>
              </a:rPr>
              <a:t> LEARNING</a:t>
            </a:r>
            <a:endParaRPr sz="1200">
              <a:latin typeface="Times New Roman"/>
              <a:cs typeface="Times New Roman"/>
            </a:endParaRPr>
          </a:p>
          <a:p>
            <a:pPr marL="12700" marR="5080" indent="38100" algn="just">
              <a:lnSpc>
                <a:spcPct val="143800"/>
              </a:lnSpc>
              <a:spcBef>
                <a:spcPts val="35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comprehensive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survey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conclude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less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knowledge;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them </a:t>
            </a:r>
            <a:r>
              <a:rPr sz="1200" dirty="0">
                <a:latin typeface="Times New Roman"/>
                <a:cs typeface="Times New Roman"/>
              </a:rPr>
              <a:t>might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friendly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WEKA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beginners.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intermediate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Scikit-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tools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tasks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numerous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amount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numpy, scipy, etc.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 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 </a:t>
            </a:r>
            <a:r>
              <a:rPr sz="1200" dirty="0">
                <a:latin typeface="Times New Roman"/>
                <a:cs typeface="Times New Roman"/>
              </a:rPr>
              <a:t>background,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Matlab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options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Matlab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heavy processor.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 paper,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Scikit-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 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 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 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1051305"/>
            <a:ext cx="6716395" cy="779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236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4.</a:t>
            </a:r>
            <a:r>
              <a:rPr sz="1500" b="1" spc="65" dirty="0">
                <a:latin typeface="Times New Roman"/>
                <a:cs typeface="Times New Roman"/>
              </a:rPr>
              <a:t>  </a:t>
            </a: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ANALYSIS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85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EXISTING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8890" indent="-229235" algn="just">
              <a:lnSpc>
                <a:spcPct val="141200"/>
              </a:lnSpc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accordingly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labeled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unsupervised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classifies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having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labeled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researchers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classification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educational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domain.</a:t>
            </a:r>
            <a:endParaRPr sz="1200">
              <a:latin typeface="Times New Roman"/>
              <a:cs typeface="Times New Roman"/>
            </a:endParaRPr>
          </a:p>
          <a:p>
            <a:pPr marL="241300" marR="15875" indent="-229235" algn="just">
              <a:lnSpc>
                <a:spcPct val="139400"/>
              </a:lnSpc>
              <a:spcBef>
                <a:spcPts val="355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Keeping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identification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demographic,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Climate,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social,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personal,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literature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DISADVANTAGES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EXISTING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SYSTEM: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6350" algn="just">
              <a:lnSpc>
                <a:spcPct val="1433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innovative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grade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85%.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SVM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96%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nearest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neighbor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attitude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Hungarian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PROPOSED</a:t>
            </a:r>
            <a:r>
              <a:rPr sz="12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SYSTEM:</a:t>
            </a: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43600"/>
              </a:lnSpc>
              <a:spcBef>
                <a:spcPts val="21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latest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optimization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MLP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respective </a:t>
            </a:r>
            <a:r>
              <a:rPr sz="1200" dirty="0">
                <a:latin typeface="Times New Roman"/>
                <a:cs typeface="Times New Roman"/>
              </a:rPr>
              <a:t>optimizer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testing,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activation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functions,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regularization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parameters,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Afterward,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optimistic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MLP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robust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RCNN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experiments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popular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Orange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3.24.1,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opensource,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hands-</a:t>
            </a:r>
            <a:r>
              <a:rPr sz="1200" dirty="0">
                <a:latin typeface="Times New Roman"/>
                <a:cs typeface="Times New Roman"/>
              </a:rPr>
              <a:t>on,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enriched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massive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algorithms.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hybrid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Database.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popular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platform.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PROPOSED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SYSTEM: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10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accomplished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10" dirty="0">
                <a:latin typeface="Times New Roman"/>
                <a:cs typeface="Times New Roman"/>
              </a:rPr>
              <a:t> Station’s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realtime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demographic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41300" marR="114935" indent="-229235">
              <a:lnSpc>
                <a:spcPct val="139100"/>
              </a:lnSpc>
              <a:spcBef>
                <a:spcPts val="350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deploying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online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optimistic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native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place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182371"/>
            <a:ext cx="6712584" cy="80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 algn="just">
              <a:lnSpc>
                <a:spcPct val="1412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promising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native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identification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gained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prime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depicted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preliminary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state-of-theart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research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inclusive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mathematical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equations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990346"/>
            <a:ext cx="6781165" cy="798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516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5.</a:t>
            </a:r>
            <a:r>
              <a:rPr sz="1500" b="1" spc="9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IMPLEMENTATION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Collection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spc="-10" dirty="0">
                <a:latin typeface="Times New Roman"/>
                <a:cs typeface="Times New Roman"/>
              </a:rPr>
              <a:t>Dataset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Preparation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Selection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spc="-10" dirty="0">
                <a:latin typeface="Times New Roman"/>
                <a:cs typeface="Times New Roman"/>
              </a:rPr>
              <a:t>Accuracy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test </a:t>
            </a:r>
            <a:r>
              <a:rPr sz="1200" spc="-25" dirty="0">
                <a:latin typeface="Times New Roman"/>
                <a:cs typeface="Times New Roman"/>
              </a:rPr>
              <a:t>set</a:t>
            </a:r>
            <a:endParaRPr sz="12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Wingdings"/>
              <a:buChar char=""/>
              <a:tabLst>
                <a:tab pos="240665" algn="l"/>
              </a:tabLst>
            </a:pPr>
            <a:r>
              <a:rPr sz="1200" dirty="0">
                <a:latin typeface="Times New Roman"/>
                <a:cs typeface="Times New Roman"/>
              </a:rPr>
              <a:t>Saving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DESCSRIPTION: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Collection:</a:t>
            </a:r>
            <a:endParaRPr sz="1200">
              <a:latin typeface="Times New Roman"/>
              <a:cs typeface="Times New Roman"/>
            </a:endParaRPr>
          </a:p>
          <a:p>
            <a:pPr marL="241300" marR="698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towards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critical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cascade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perform.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several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scraping,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manual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interventions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Preparation:</a:t>
            </a:r>
            <a:endParaRPr sz="1200">
              <a:latin typeface="Times New Roman"/>
              <a:cs typeface="Times New Roman"/>
            </a:endParaRPr>
          </a:p>
          <a:p>
            <a:pPr marL="241300" marR="44450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getting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retain.</a:t>
            </a:r>
            <a:endParaRPr sz="1200">
              <a:latin typeface="Times New Roman"/>
              <a:cs typeface="Times New Roman"/>
            </a:endParaRPr>
          </a:p>
          <a:p>
            <a:pPr marL="241300" marR="1500505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Next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drop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except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retain. </a:t>
            </a:r>
            <a:r>
              <a:rPr sz="1200" dirty="0">
                <a:latin typeface="Times New Roman"/>
                <a:cs typeface="Times New Roman"/>
              </a:rPr>
              <a:t>Finally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set.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Selection:</a:t>
            </a:r>
            <a:endParaRPr sz="1200">
              <a:latin typeface="Times New Roman"/>
              <a:cs typeface="Times New Roman"/>
            </a:endParaRPr>
          </a:p>
          <a:p>
            <a:pPr marL="241300" marR="6350" indent="7620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 need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But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ratio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80:20.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dataframe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into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column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label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column.</a:t>
            </a: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433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train_test_split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sklearn.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dataset. Also,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test_size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=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i="1" spc="-20" dirty="0">
                <a:latin typeface="Times New Roman"/>
                <a:cs typeface="Times New Roman"/>
              </a:rPr>
              <a:t>0.2</a:t>
            </a:r>
            <a:r>
              <a:rPr sz="1200" spc="-20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80%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20%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dataset.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random_state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164083"/>
            <a:ext cx="6552565" cy="370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43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returns four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datasets. Labelled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train_x,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train_y,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test_x, test_y.</a:t>
            </a:r>
            <a:r>
              <a:rPr sz="1200" i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shape 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split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dataset.</a:t>
            </a:r>
            <a:endParaRPr sz="1200">
              <a:latin typeface="Times New Roman"/>
              <a:cs typeface="Times New Roman"/>
            </a:endParaRPr>
          </a:p>
          <a:p>
            <a:pPr marL="12700" marR="6350" indent="38100" algn="just">
              <a:lnSpc>
                <a:spcPct val="1435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We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Classifier</a:t>
            </a:r>
            <a:r>
              <a:rPr sz="1200" i="1" dirty="0">
                <a:latin typeface="Times New Roman"/>
                <a:cs typeface="Times New Roman"/>
              </a:rPr>
              <a:t>,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fits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tree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model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train_x,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train_y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fit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test_x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38100" algn="just">
              <a:lnSpc>
                <a:spcPct val="143600"/>
              </a:lnSpc>
            </a:pP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powerful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regression </a:t>
            </a:r>
            <a:r>
              <a:rPr sz="1200" dirty="0">
                <a:latin typeface="Times New Roman"/>
                <a:cs typeface="Times New Roman"/>
              </a:rPr>
              <a:t>problems.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supervised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carried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deals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deals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regressor.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Accuracy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test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set: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95.1%,97.1%,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98.1%,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96.5%,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-20" dirty="0">
                <a:latin typeface="Times New Roman"/>
                <a:cs typeface="Times New Roman"/>
              </a:rPr>
              <a:t> set.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616" y="4450207"/>
            <a:ext cx="6518275" cy="152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Saving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Model: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500"/>
              </a:lnSpc>
            </a:pPr>
            <a:r>
              <a:rPr sz="1200" spc="-10" dirty="0">
                <a:latin typeface="Times New Roman"/>
                <a:cs typeface="Times New Roman"/>
              </a:rPr>
              <a:t>Once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you’re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confident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take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your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production-ready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environment,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.h5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pkl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pickle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pickle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environment.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Next,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let’s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import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dump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pkl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file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429" y="1891029"/>
            <a:ext cx="3661410" cy="31219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616" y="853186"/>
            <a:ext cx="4137025" cy="70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695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6.</a:t>
            </a:r>
            <a:r>
              <a:rPr sz="1500" b="1" spc="1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1400" b="1" dirty="0">
                <a:latin typeface="Times New Roman"/>
                <a:cs typeface="Times New Roman"/>
              </a:rPr>
              <a:t>SYSTEM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ARCHITECTURE: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616" y="4998592"/>
            <a:ext cx="6542405" cy="40633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413125">
              <a:lnSpc>
                <a:spcPct val="100000"/>
              </a:lnSpc>
              <a:spcBef>
                <a:spcPts val="390"/>
              </a:spcBef>
            </a:pPr>
            <a:r>
              <a:rPr sz="1200" b="1" spc="-10" dirty="0">
                <a:latin typeface="Times New Roman"/>
                <a:cs typeface="Times New Roman"/>
              </a:rPr>
              <a:t>Fig.6.1</a:t>
            </a:r>
            <a:endParaRPr sz="1200">
              <a:latin typeface="Times New Roman"/>
              <a:cs typeface="Times New Roman"/>
            </a:endParaRPr>
          </a:p>
          <a:p>
            <a:pPr marL="12700" marR="10795">
              <a:lnSpc>
                <a:spcPts val="1380"/>
              </a:lnSpc>
              <a:spcBef>
                <a:spcPts val="385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6.1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interrelated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 marL="12700" marR="8890" indent="170180">
              <a:lnSpc>
                <a:spcPts val="1380"/>
              </a:lnSpc>
              <a:spcBef>
                <a:spcPts val="350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domain.</a:t>
            </a:r>
            <a:endParaRPr sz="1200">
              <a:latin typeface="Times New Roman"/>
              <a:cs typeface="Times New Roman"/>
            </a:endParaRPr>
          </a:p>
          <a:p>
            <a:pPr marL="12700" marR="11430" indent="170180">
              <a:lnSpc>
                <a:spcPts val="1380"/>
              </a:lnSpc>
              <a:spcBef>
                <a:spcPts val="345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Understanding: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gaining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discover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 marL="182880" indent="-117475">
              <a:lnSpc>
                <a:spcPct val="100000"/>
              </a:lnSpc>
              <a:spcBef>
                <a:spcPts val="254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Preparation: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 marL="12700" marR="8890" indent="170180">
              <a:lnSpc>
                <a:spcPts val="1380"/>
              </a:lnSpc>
              <a:spcBef>
                <a:spcPts val="380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Modeling: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prepared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discover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build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models.</a:t>
            </a:r>
            <a:endParaRPr sz="1200">
              <a:latin typeface="Times New Roman"/>
              <a:cs typeface="Times New Roman"/>
            </a:endParaRPr>
          </a:p>
          <a:p>
            <a:pPr marL="182880" indent="-117475">
              <a:lnSpc>
                <a:spcPct val="100000"/>
              </a:lnSpc>
              <a:spcBef>
                <a:spcPts val="254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Evaluation: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objectives.</a:t>
            </a:r>
            <a:endParaRPr sz="1200">
              <a:latin typeface="Times New Roman"/>
              <a:cs typeface="Times New Roman"/>
            </a:endParaRPr>
          </a:p>
          <a:p>
            <a:pPr marL="12700" marR="5080" indent="170180">
              <a:lnSpc>
                <a:spcPts val="1380"/>
              </a:lnSpc>
              <a:spcBef>
                <a:spcPts val="395"/>
              </a:spcBef>
              <a:buSzPct val="91666"/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Deployment: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deployed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production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 making.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central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emphasizes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pivotal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interdependency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steps,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being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iterative, </a:t>
            </a: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evaluation,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typical</a:t>
            </a:r>
            <a:r>
              <a:rPr sz="1200" spc="24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CRISP-</a:t>
            </a:r>
            <a:r>
              <a:rPr sz="1200" dirty="0">
                <a:latin typeface="Times New Roman"/>
                <a:cs typeface="Times New Roman"/>
              </a:rPr>
              <a:t>DM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(Cross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Industry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2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35" dirty="0"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Mining)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framework.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31012" y="990345"/>
            <a:ext cx="6665595" cy="371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Flow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(DFD)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69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(DFD)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shown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40" dirty="0">
                <a:latin typeface="Times New Roman"/>
                <a:cs typeface="Times New Roman"/>
              </a:rPr>
              <a:t>Fig.6.2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graphical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representation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moves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depicting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stores,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external </a:t>
            </a:r>
            <a:r>
              <a:rPr sz="1200" dirty="0">
                <a:latin typeface="Times New Roman"/>
                <a:cs typeface="Times New Roman"/>
              </a:rPr>
              <a:t>entities.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commonly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movement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DFDs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stage.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DFD, the system 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broken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circles or rounded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rectangles.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rectangles,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represented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open-</a:t>
            </a:r>
            <a:r>
              <a:rPr sz="1200" dirty="0">
                <a:latin typeface="Times New Roman"/>
                <a:cs typeface="Times New Roman"/>
              </a:rPr>
              <a:t>ended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rectangles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parallel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lines.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Arrows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these </a:t>
            </a:r>
            <a:r>
              <a:rPr sz="1200" dirty="0">
                <a:latin typeface="Times New Roman"/>
                <a:cs typeface="Times New Roman"/>
              </a:rPr>
              <a:t>components,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direction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movement.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outputted,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inefficiencies,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bottlenecks,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gaps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system's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handling.</a:t>
            </a:r>
            <a:endParaRPr sz="1200">
              <a:latin typeface="Times New Roman"/>
              <a:cs typeface="Times New Roman"/>
            </a:endParaRPr>
          </a:p>
          <a:p>
            <a:pPr marL="12700" marR="10795" algn="just">
              <a:lnSpc>
                <a:spcPct val="1438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DFDs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valuable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dependencies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flows.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simplify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manageable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5203317"/>
            <a:ext cx="6659880" cy="1341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43700"/>
              </a:lnSpc>
              <a:spcBef>
                <a:spcPts val="105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6.2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prediction.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data, </a:t>
            </a:r>
            <a:r>
              <a:rPr sz="1200" dirty="0">
                <a:latin typeface="Times New Roman"/>
                <a:cs typeface="Times New Roman"/>
              </a:rPr>
              <a:t>followed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Training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Extraction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performed.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Prediction/Regression </a:t>
            </a:r>
            <a:r>
              <a:rPr sz="1200" dirty="0">
                <a:latin typeface="Times New Roman"/>
                <a:cs typeface="Times New Roman"/>
              </a:rPr>
              <a:t>models,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outcome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14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76095" y="1193419"/>
            <a:ext cx="2640965" cy="556895"/>
            <a:chOff x="1776095" y="1193419"/>
            <a:chExt cx="2640965" cy="556895"/>
          </a:xfrm>
        </p:grpSpPr>
        <p:sp>
          <p:nvSpPr>
            <p:cNvPr id="3" name="object 3"/>
            <p:cNvSpPr/>
            <p:nvPr/>
          </p:nvSpPr>
          <p:spPr>
            <a:xfrm>
              <a:off x="1788795" y="1206119"/>
              <a:ext cx="2615565" cy="531495"/>
            </a:xfrm>
            <a:custGeom>
              <a:avLst/>
              <a:gdLst/>
              <a:ahLst/>
              <a:cxnLst/>
              <a:rect l="l" t="t" r="r" b="b"/>
              <a:pathLst>
                <a:path w="2615565" h="531494">
                  <a:moveTo>
                    <a:pt x="2615564" y="0"/>
                  </a:moveTo>
                  <a:lnTo>
                    <a:pt x="0" y="0"/>
                  </a:lnTo>
                  <a:lnTo>
                    <a:pt x="0" y="531495"/>
                  </a:lnTo>
                  <a:lnTo>
                    <a:pt x="2615564" y="531495"/>
                  </a:lnTo>
                  <a:lnTo>
                    <a:pt x="2615564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88795" y="1206119"/>
              <a:ext cx="2615565" cy="531495"/>
            </a:xfrm>
            <a:custGeom>
              <a:avLst/>
              <a:gdLst/>
              <a:ahLst/>
              <a:cxnLst/>
              <a:rect l="l" t="t" r="r" b="b"/>
              <a:pathLst>
                <a:path w="2615565" h="531494">
                  <a:moveTo>
                    <a:pt x="0" y="531495"/>
                  </a:moveTo>
                  <a:lnTo>
                    <a:pt x="2615564" y="531495"/>
                  </a:lnTo>
                  <a:lnTo>
                    <a:pt x="2615564" y="0"/>
                  </a:lnTo>
                  <a:lnTo>
                    <a:pt x="0" y="0"/>
                  </a:lnTo>
                  <a:lnTo>
                    <a:pt x="0" y="531495"/>
                  </a:lnTo>
                  <a:close/>
                </a:path>
              </a:pathLst>
            </a:custGeom>
            <a:ln w="25400">
              <a:solidFill>
                <a:srgbClr val="234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798955" y="1973199"/>
            <a:ext cx="2640965" cy="557530"/>
            <a:chOff x="1798955" y="1973199"/>
            <a:chExt cx="2640965" cy="557530"/>
          </a:xfrm>
        </p:grpSpPr>
        <p:sp>
          <p:nvSpPr>
            <p:cNvPr id="6" name="object 6"/>
            <p:cNvSpPr/>
            <p:nvPr/>
          </p:nvSpPr>
          <p:spPr>
            <a:xfrm>
              <a:off x="1811655" y="1985899"/>
              <a:ext cx="2615565" cy="532130"/>
            </a:xfrm>
            <a:custGeom>
              <a:avLst/>
              <a:gdLst/>
              <a:ahLst/>
              <a:cxnLst/>
              <a:rect l="l" t="t" r="r" b="b"/>
              <a:pathLst>
                <a:path w="2615565" h="532130">
                  <a:moveTo>
                    <a:pt x="2615565" y="0"/>
                  </a:moveTo>
                  <a:lnTo>
                    <a:pt x="0" y="0"/>
                  </a:lnTo>
                  <a:lnTo>
                    <a:pt x="0" y="532129"/>
                  </a:lnTo>
                  <a:lnTo>
                    <a:pt x="2615565" y="532129"/>
                  </a:lnTo>
                  <a:lnTo>
                    <a:pt x="2615565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1655" y="1985899"/>
              <a:ext cx="2615565" cy="532130"/>
            </a:xfrm>
            <a:custGeom>
              <a:avLst/>
              <a:gdLst/>
              <a:ahLst/>
              <a:cxnLst/>
              <a:rect l="l" t="t" r="r" b="b"/>
              <a:pathLst>
                <a:path w="2615565" h="532130">
                  <a:moveTo>
                    <a:pt x="0" y="532129"/>
                  </a:moveTo>
                  <a:lnTo>
                    <a:pt x="2615565" y="532129"/>
                  </a:lnTo>
                  <a:lnTo>
                    <a:pt x="2615565" y="0"/>
                  </a:lnTo>
                  <a:lnTo>
                    <a:pt x="0" y="0"/>
                  </a:lnTo>
                  <a:lnTo>
                    <a:pt x="0" y="532129"/>
                  </a:lnTo>
                  <a:close/>
                </a:path>
              </a:pathLst>
            </a:custGeom>
            <a:ln w="25398">
              <a:solidFill>
                <a:srgbClr val="234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98955" y="2669032"/>
            <a:ext cx="2640965" cy="557530"/>
            <a:chOff x="1798955" y="2669032"/>
            <a:chExt cx="2640965" cy="557530"/>
          </a:xfrm>
        </p:grpSpPr>
        <p:sp>
          <p:nvSpPr>
            <p:cNvPr id="9" name="object 9"/>
            <p:cNvSpPr/>
            <p:nvPr/>
          </p:nvSpPr>
          <p:spPr>
            <a:xfrm>
              <a:off x="1811655" y="2681731"/>
              <a:ext cx="2615565" cy="532130"/>
            </a:xfrm>
            <a:custGeom>
              <a:avLst/>
              <a:gdLst/>
              <a:ahLst/>
              <a:cxnLst/>
              <a:rect l="l" t="t" r="r" b="b"/>
              <a:pathLst>
                <a:path w="2615565" h="532130">
                  <a:moveTo>
                    <a:pt x="2615565" y="0"/>
                  </a:moveTo>
                  <a:lnTo>
                    <a:pt x="0" y="0"/>
                  </a:lnTo>
                  <a:lnTo>
                    <a:pt x="0" y="532129"/>
                  </a:lnTo>
                  <a:lnTo>
                    <a:pt x="2615565" y="532129"/>
                  </a:lnTo>
                  <a:lnTo>
                    <a:pt x="2615565" y="0"/>
                  </a:lnTo>
                  <a:close/>
                </a:path>
              </a:pathLst>
            </a:custGeom>
            <a:solidFill>
              <a:srgbClr val="4F8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11655" y="2681731"/>
              <a:ext cx="2615565" cy="532130"/>
            </a:xfrm>
            <a:custGeom>
              <a:avLst/>
              <a:gdLst/>
              <a:ahLst/>
              <a:cxnLst/>
              <a:rect l="l" t="t" r="r" b="b"/>
              <a:pathLst>
                <a:path w="2615565" h="532130">
                  <a:moveTo>
                    <a:pt x="0" y="532129"/>
                  </a:moveTo>
                  <a:lnTo>
                    <a:pt x="2615565" y="532129"/>
                  </a:lnTo>
                  <a:lnTo>
                    <a:pt x="2615565" y="0"/>
                  </a:lnTo>
                  <a:lnTo>
                    <a:pt x="0" y="0"/>
                  </a:lnTo>
                  <a:lnTo>
                    <a:pt x="0" y="532129"/>
                  </a:lnTo>
                  <a:close/>
                </a:path>
              </a:pathLst>
            </a:custGeom>
            <a:ln w="25398">
              <a:solidFill>
                <a:srgbClr val="234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3057525" y="1008507"/>
            <a:ext cx="115570" cy="260985"/>
          </a:xfrm>
          <a:custGeom>
            <a:avLst/>
            <a:gdLst/>
            <a:ahLst/>
            <a:cxnLst/>
            <a:rect l="l" t="t" r="r" b="b"/>
            <a:pathLst>
              <a:path w="115569" h="260984">
                <a:moveTo>
                  <a:pt x="34670" y="0"/>
                </a:moveTo>
                <a:lnTo>
                  <a:pt x="9779" y="5461"/>
                </a:lnTo>
                <a:lnTo>
                  <a:pt x="51435" y="192786"/>
                </a:lnTo>
                <a:lnTo>
                  <a:pt x="18668" y="157479"/>
                </a:lnTo>
                <a:lnTo>
                  <a:pt x="10541" y="157099"/>
                </a:lnTo>
                <a:lnTo>
                  <a:pt x="254" y="166624"/>
                </a:lnTo>
                <a:lnTo>
                  <a:pt x="0" y="174751"/>
                </a:lnTo>
                <a:lnTo>
                  <a:pt x="79375" y="260603"/>
                </a:lnTo>
                <a:lnTo>
                  <a:pt x="115062" y="149225"/>
                </a:lnTo>
                <a:lnTo>
                  <a:pt x="111379" y="141986"/>
                </a:lnTo>
                <a:lnTo>
                  <a:pt x="98043" y="137795"/>
                </a:lnTo>
                <a:lnTo>
                  <a:pt x="90931" y="141477"/>
                </a:lnTo>
                <a:lnTo>
                  <a:pt x="76200" y="187325"/>
                </a:lnTo>
                <a:lnTo>
                  <a:pt x="34670" y="0"/>
                </a:lnTo>
                <a:close/>
              </a:path>
            </a:pathLst>
          </a:custGeom>
          <a:solidFill>
            <a:srgbClr val="234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27220" y="3636264"/>
            <a:ext cx="329565" cy="118110"/>
          </a:xfrm>
          <a:custGeom>
            <a:avLst/>
            <a:gdLst/>
            <a:ahLst/>
            <a:cxnLst/>
            <a:rect l="l" t="t" r="r" b="b"/>
            <a:pathLst>
              <a:path w="329564" h="118110">
                <a:moveTo>
                  <a:pt x="100964" y="0"/>
                </a:moveTo>
                <a:lnTo>
                  <a:pt x="0" y="58927"/>
                </a:lnTo>
                <a:lnTo>
                  <a:pt x="100964" y="117856"/>
                </a:lnTo>
                <a:lnTo>
                  <a:pt x="108838" y="115824"/>
                </a:lnTo>
                <a:lnTo>
                  <a:pt x="115824" y="103632"/>
                </a:lnTo>
                <a:lnTo>
                  <a:pt x="113791" y="95885"/>
                </a:lnTo>
                <a:lnTo>
                  <a:pt x="72262" y="71627"/>
                </a:lnTo>
                <a:lnTo>
                  <a:pt x="329564" y="71627"/>
                </a:lnTo>
                <a:lnTo>
                  <a:pt x="329564" y="46227"/>
                </a:lnTo>
                <a:lnTo>
                  <a:pt x="72008" y="46227"/>
                </a:lnTo>
                <a:lnTo>
                  <a:pt x="113791" y="21844"/>
                </a:lnTo>
                <a:lnTo>
                  <a:pt x="115824" y="14097"/>
                </a:lnTo>
                <a:lnTo>
                  <a:pt x="108838" y="2032"/>
                </a:lnTo>
                <a:lnTo>
                  <a:pt x="100964" y="0"/>
                </a:lnTo>
                <a:close/>
              </a:path>
            </a:pathLst>
          </a:custGeom>
          <a:solidFill>
            <a:srgbClr val="2340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1583" y="1760092"/>
            <a:ext cx="115950" cy="2430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7176" y="2471292"/>
            <a:ext cx="115949" cy="24993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4707" y="3187445"/>
            <a:ext cx="115824" cy="26009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86735" y="3980815"/>
            <a:ext cx="113155" cy="2388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7525" y="1008507"/>
            <a:ext cx="115062" cy="26060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693035" y="1369822"/>
            <a:ext cx="795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Preprocessing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12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654935" y="2148585"/>
            <a:ext cx="9194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11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06167" y="2846273"/>
            <a:ext cx="10496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Feature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Extraction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14829" y="502919"/>
            <a:ext cx="2697480" cy="518159"/>
          </a:xfrm>
          <a:prstGeom prst="rect">
            <a:avLst/>
          </a:prstGeom>
          <a:solidFill>
            <a:srgbClr val="4F81BB"/>
          </a:solidFill>
          <a:ln w="25400">
            <a:solidFill>
              <a:srgbClr val="23405F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r>
              <a:rPr sz="11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73960" y="4190365"/>
            <a:ext cx="1247775" cy="891540"/>
          </a:xfrm>
          <a:prstGeom prst="rect">
            <a:avLst/>
          </a:prstGeom>
          <a:solidFill>
            <a:srgbClr val="4F81BB"/>
          </a:solidFill>
          <a:ln w="25400">
            <a:solidFill>
              <a:srgbClr val="23405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Times New Roman"/>
              <a:cs typeface="Times New Roman"/>
            </a:endParaRPr>
          </a:p>
          <a:p>
            <a:pPr marL="24193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Predict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1654" y="3448177"/>
            <a:ext cx="2615565" cy="531495"/>
          </a:xfrm>
          <a:prstGeom prst="rect">
            <a:avLst/>
          </a:prstGeom>
          <a:solidFill>
            <a:srgbClr val="4F81BB"/>
          </a:solidFill>
          <a:ln w="25400">
            <a:solidFill>
              <a:srgbClr val="23405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imes New Roman"/>
              <a:cs typeface="Times New Roman"/>
            </a:endParaRPr>
          </a:p>
          <a:p>
            <a:pPr marL="713740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Prediction/regression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56784" y="3427221"/>
            <a:ext cx="1882139" cy="531495"/>
          </a:xfrm>
          <a:prstGeom prst="rect">
            <a:avLst/>
          </a:prstGeom>
          <a:solidFill>
            <a:srgbClr val="4F81BB"/>
          </a:solidFill>
          <a:ln w="25400">
            <a:solidFill>
              <a:srgbClr val="23405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sz="11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6712" y="5253609"/>
            <a:ext cx="6715759" cy="283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83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Fig.6.2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UML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Diagrams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UML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Diagrams</a:t>
            </a: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UML (Unified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 Language)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 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system,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software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communicate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ideas,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document </a:t>
            </a:r>
            <a:r>
              <a:rPr sz="1200" dirty="0">
                <a:latin typeface="Times New Roman"/>
                <a:cs typeface="Times New Roman"/>
              </a:rPr>
              <a:t>requirements,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development.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specific </a:t>
            </a:r>
            <a:r>
              <a:rPr sz="1200" dirty="0">
                <a:latin typeface="Times New Roman"/>
                <a:cs typeface="Times New Roman"/>
              </a:rPr>
              <a:t>purpose,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as: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14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Class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Diagram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attributes,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162559"/>
            <a:ext cx="6715759" cy="896493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35"/>
              </a:spcBef>
            </a:pPr>
            <a:r>
              <a:rPr sz="1200" spc="-10" dirty="0">
                <a:latin typeface="Times New Roman"/>
                <a:cs typeface="Times New Roman"/>
              </a:rPr>
              <a:t>relationships.</a:t>
            </a:r>
            <a:endParaRPr sz="1200">
              <a:latin typeface="Times New Roman"/>
              <a:cs typeface="Times New Roman"/>
            </a:endParaRPr>
          </a:p>
          <a:p>
            <a:pPr marL="241300" marR="34925" indent="-229235">
              <a:lnSpc>
                <a:spcPct val="142500"/>
              </a:lnSpc>
              <a:spcBef>
                <a:spcPts val="25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1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Case</a:t>
            </a:r>
            <a:r>
              <a:rPr sz="1200" b="1" spc="1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(actors)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system's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requirements.</a:t>
            </a:r>
            <a:endParaRPr sz="1200">
              <a:latin typeface="Times New Roman"/>
              <a:cs typeface="Times New Roman"/>
            </a:endParaRPr>
          </a:p>
          <a:p>
            <a:pPr marL="241300" marR="69850" indent="-229235">
              <a:lnSpc>
                <a:spcPct val="143300"/>
              </a:lnSpc>
              <a:spcBef>
                <a:spcPts val="15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Sequence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 another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 time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messages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exchanged.</a:t>
            </a:r>
            <a:endParaRPr sz="1200">
              <a:latin typeface="Times New Roman"/>
              <a:cs typeface="Times New Roman"/>
            </a:endParaRPr>
          </a:p>
          <a:p>
            <a:pPr marL="241300" marR="62230" indent="-229235">
              <a:lnSpc>
                <a:spcPct val="143300"/>
              </a:lnSpc>
              <a:spcBef>
                <a:spcPts val="10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Activity</a:t>
            </a:r>
            <a:r>
              <a:rPr sz="1200" b="1" spc="110" dirty="0">
                <a:latin typeface="Times New Roman"/>
                <a:cs typeface="Times New Roman"/>
              </a:rPr>
              <a:t> 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activities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process,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helping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points.</a:t>
            </a:r>
            <a:endParaRPr sz="1200">
              <a:latin typeface="Times New Roman"/>
              <a:cs typeface="Times New Roman"/>
            </a:endParaRPr>
          </a:p>
          <a:p>
            <a:pPr marL="241300" marR="64769" indent="-229235">
              <a:lnSpc>
                <a:spcPct val="143300"/>
              </a:lnSpc>
              <a:spcBef>
                <a:spcPts val="15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State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transitions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another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events.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sz="1200" b="1" dirty="0">
                <a:latin typeface="Times New Roman"/>
                <a:cs typeface="Times New Roman"/>
              </a:rPr>
              <a:t>Goals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UML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Diagrams</a:t>
            </a:r>
            <a:endParaRPr sz="1200">
              <a:latin typeface="Times New Roman"/>
              <a:cs typeface="Times New Roman"/>
            </a:endParaRPr>
          </a:p>
          <a:p>
            <a:pPr marL="241300" marR="63500">
              <a:lnSpc>
                <a:spcPct val="14270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UML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standardized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way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behavior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include:</a:t>
            </a:r>
            <a:endParaRPr sz="1200">
              <a:latin typeface="Times New Roman"/>
              <a:cs typeface="Times New Roman"/>
            </a:endParaRPr>
          </a:p>
          <a:p>
            <a:pPr marL="241300" marR="64135" lvl="1" indent="-229235">
              <a:lnSpc>
                <a:spcPct val="143300"/>
              </a:lnSpc>
              <a:spcBef>
                <a:spcPts val="1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Improved</a:t>
            </a:r>
            <a:r>
              <a:rPr sz="1200" b="1" spc="1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Communication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stakeholders,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clients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system’s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confusion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collaboration.</a:t>
            </a:r>
            <a:endParaRPr sz="1200">
              <a:latin typeface="Times New Roman"/>
              <a:cs typeface="Times New Roman"/>
            </a:endParaRPr>
          </a:p>
          <a:p>
            <a:pPr marL="241300" marR="65405" lvl="1" indent="-229235">
              <a:lnSpc>
                <a:spcPct val="143300"/>
              </a:lnSpc>
              <a:spcBef>
                <a:spcPts val="1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4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48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Clarification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breaking</a:t>
            </a:r>
            <a:r>
              <a:rPr sz="1200" spc="45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manageable </a:t>
            </a:r>
            <a:r>
              <a:rPr sz="1200" dirty="0">
                <a:latin typeface="Times New Roman"/>
                <a:cs typeface="Times New Roman"/>
              </a:rPr>
              <a:t>parts,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interactions.</a:t>
            </a:r>
            <a:endParaRPr sz="1200">
              <a:latin typeface="Times New Roman"/>
              <a:cs typeface="Times New Roman"/>
            </a:endParaRPr>
          </a:p>
          <a:p>
            <a:pPr marL="241300" marR="64135" lvl="1" indent="-229235">
              <a:lnSpc>
                <a:spcPct val="143300"/>
              </a:lnSpc>
              <a:spcBef>
                <a:spcPts val="1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Documentation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UML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documentation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referred</a:t>
            </a:r>
            <a:r>
              <a:rPr sz="1200" spc="2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during development,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maintenance,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future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41300" marR="63500" lvl="1" indent="-229235">
              <a:lnSpc>
                <a:spcPct val="143500"/>
              </a:lnSpc>
              <a:spcBef>
                <a:spcPts val="1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Requirement</a:t>
            </a:r>
            <a:r>
              <a:rPr sz="1200" b="1" spc="3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Analysis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assist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refining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system’s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3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non-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behavior.</a:t>
            </a:r>
            <a:endParaRPr sz="1200">
              <a:latin typeface="Times New Roman"/>
              <a:cs typeface="Times New Roman"/>
            </a:endParaRPr>
          </a:p>
          <a:p>
            <a:pPr marL="241300" marR="64135" lvl="1" indent="-229235">
              <a:lnSpc>
                <a:spcPct val="143300"/>
              </a:lnSpc>
              <a:spcBef>
                <a:spcPts val="2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10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Validation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mapping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UML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intended.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Case</a:t>
            </a:r>
            <a:r>
              <a:rPr sz="1200" b="1" spc="-10" dirty="0">
                <a:latin typeface="Times New Roman"/>
                <a:cs typeface="Times New Roman"/>
              </a:rPr>
              <a:t> Diagram: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representation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(actors)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system, showing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system's functionality from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end-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perspective.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used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various </a:t>
            </a:r>
            <a:r>
              <a:rPr sz="1200" dirty="0">
                <a:latin typeface="Times New Roman"/>
                <a:cs typeface="Times New Roman"/>
              </a:rPr>
              <a:t>ways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diagram </a:t>
            </a:r>
            <a:r>
              <a:rPr sz="1200" dirty="0">
                <a:latin typeface="Times New Roman"/>
                <a:cs typeface="Times New Roman"/>
              </a:rPr>
              <a:t>highlights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specific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services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how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actors.</a:t>
            </a:r>
            <a:endParaRPr sz="1200">
              <a:latin typeface="Times New Roman"/>
              <a:cs typeface="Times New Roman"/>
            </a:endParaRPr>
          </a:p>
          <a:p>
            <a:pPr marL="241300" marR="6350" algn="just">
              <a:lnSpc>
                <a:spcPct val="143600"/>
              </a:lnSpc>
              <a:spcBef>
                <a:spcPts val="10"/>
              </a:spcBef>
            </a:pP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diagram,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actors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stick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figures,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ovals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ellipses.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actors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connected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lines,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they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associations,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994" y="918210"/>
            <a:ext cx="4745989" cy="49029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616" y="164083"/>
            <a:ext cx="6453505" cy="54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boundaries,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clarifying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requirements,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necessary </a:t>
            </a:r>
            <a:r>
              <a:rPr sz="1200" dirty="0">
                <a:latin typeface="Times New Roman"/>
                <a:cs typeface="Times New Roman"/>
              </a:rPr>
              <a:t>interactions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understood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stakeholders.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3561" y="7958073"/>
            <a:ext cx="50800" cy="15240"/>
          </a:xfrm>
          <a:custGeom>
            <a:avLst/>
            <a:gdLst/>
            <a:ahLst/>
            <a:cxnLst/>
            <a:rect l="l" t="t" r="r" b="b"/>
            <a:pathLst>
              <a:path w="50800" h="15240">
                <a:moveTo>
                  <a:pt x="50292" y="0"/>
                </a:moveTo>
                <a:lnTo>
                  <a:pt x="0" y="0"/>
                </a:lnTo>
                <a:lnTo>
                  <a:pt x="0" y="15239"/>
                </a:lnTo>
                <a:lnTo>
                  <a:pt x="50292" y="15239"/>
                </a:lnTo>
                <a:lnTo>
                  <a:pt x="50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7400" y="6373748"/>
            <a:ext cx="6543040" cy="274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96315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Fig.6.3</a:t>
            </a:r>
            <a:endParaRPr sz="1200">
              <a:latin typeface="Times New Roman"/>
              <a:cs typeface="Times New Roman"/>
            </a:endParaRPr>
          </a:p>
          <a:p>
            <a:pPr marL="12700" marR="120014" algn="just">
              <a:lnSpc>
                <a:spcPct val="95900"/>
              </a:lnSpc>
              <a:spcBef>
                <a:spcPts val="1380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6.3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K- </a:t>
            </a:r>
            <a:r>
              <a:rPr sz="1200" dirty="0">
                <a:latin typeface="Times New Roman"/>
                <a:cs typeface="Times New Roman"/>
              </a:rPr>
              <a:t>Means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Saving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Graph.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functionalities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interacts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with,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illustrating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user’s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2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tasks.</a:t>
            </a:r>
            <a:endParaRPr sz="12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  <a:spcBef>
                <a:spcPts val="1320"/>
              </a:spcBef>
            </a:pPr>
            <a:r>
              <a:rPr sz="1200" b="1" dirty="0">
                <a:latin typeface="Times New Roman"/>
                <a:cs typeface="Times New Roman"/>
              </a:rPr>
              <a:t>CLASS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DIAGRAM:</a:t>
            </a:r>
            <a:endParaRPr sz="1200">
              <a:latin typeface="Times New Roman"/>
              <a:cs typeface="Times New Roman"/>
            </a:endParaRPr>
          </a:p>
          <a:p>
            <a:pPr marL="13970" marR="5080" algn="just">
              <a:lnSpc>
                <a:spcPct val="143600"/>
              </a:lnSpc>
              <a:spcBef>
                <a:spcPts val="69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structural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object-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static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key </a:t>
            </a:r>
            <a:r>
              <a:rPr sz="1200" dirty="0">
                <a:latin typeface="Times New Roman"/>
                <a:cs typeface="Times New Roman"/>
              </a:rPr>
              <a:t>component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Unified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(UML)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system's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architecture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define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another.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113791"/>
            <a:ext cx="6488430" cy="8224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rectangle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divided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sections: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section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middle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class's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attributes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(or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properties),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bottom </a:t>
            </a:r>
            <a:r>
              <a:rPr sz="1200" dirty="0">
                <a:latin typeface="Times New Roman"/>
                <a:cs typeface="Times New Roman"/>
              </a:rPr>
              <a:t>section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displays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(or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operations).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classes,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inheritance, </a:t>
            </a:r>
            <a:r>
              <a:rPr sz="1200" dirty="0">
                <a:latin typeface="Times New Roman"/>
                <a:cs typeface="Times New Roman"/>
              </a:rPr>
              <a:t>associations,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dependencies,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represented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classes.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Inheritance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shown </a:t>
            </a:r>
            <a:r>
              <a:rPr sz="1200" dirty="0">
                <a:latin typeface="Times New Roman"/>
                <a:cs typeface="Times New Roman"/>
              </a:rPr>
              <a:t>with 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triangle,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associations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sometimes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multiplicity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how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associated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another.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developers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143900"/>
              </a:lnSpc>
            </a:pPr>
            <a:r>
              <a:rPr sz="1200" dirty="0">
                <a:latin typeface="Times New Roman"/>
                <a:cs typeface="Times New Roman"/>
              </a:rPr>
              <a:t>refine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picture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related,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aiding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identification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proper </a:t>
            </a:r>
            <a:r>
              <a:rPr sz="1200" dirty="0">
                <a:latin typeface="Times New Roman"/>
                <a:cs typeface="Times New Roman"/>
              </a:rPr>
              <a:t>organization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maintainability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scalability.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143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Fig.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6.4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 It </a:t>
            </a:r>
            <a:r>
              <a:rPr sz="1200" spc="-10" dirty="0">
                <a:latin typeface="Times New Roman"/>
                <a:cs typeface="Times New Roman"/>
              </a:rPr>
              <a:t>consists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blocks: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Output.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Block: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2080"/>
              </a:lnSpc>
              <a:spcBef>
                <a:spcPts val="160"/>
              </a:spcBef>
            </a:pPr>
            <a:r>
              <a:rPr sz="1200" dirty="0">
                <a:latin typeface="Times New Roman"/>
                <a:cs typeface="Times New Roman"/>
              </a:rPr>
              <a:t>Input Data: This includes historical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 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arrival times, departure times,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station </a:t>
            </a:r>
            <a:r>
              <a:rPr sz="1200" dirty="0">
                <a:latin typeface="Times New Roman"/>
                <a:cs typeface="Times New Roman"/>
              </a:rPr>
              <a:t>names,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Times New Roman"/>
                <a:cs typeface="Times New Roman"/>
              </a:rPr>
              <a:t>Preprocessing():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undergoes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missing</a:t>
            </a:r>
            <a:endParaRPr sz="1200">
              <a:latin typeface="Times New Roman"/>
              <a:cs typeface="Times New Roman"/>
            </a:endParaRPr>
          </a:p>
          <a:p>
            <a:pPr marL="12700" marR="952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normalization,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transformations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Block:</a:t>
            </a:r>
            <a:endParaRPr sz="1200">
              <a:latin typeface="Times New Roman"/>
              <a:cs typeface="Times New Roman"/>
            </a:endParaRPr>
          </a:p>
          <a:p>
            <a:pPr marL="12700" marR="635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Feature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extracted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fed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delays.</a:t>
            </a:r>
            <a:endParaRPr sz="1200">
              <a:latin typeface="Times New Roman"/>
              <a:cs typeface="Times New Roman"/>
            </a:endParaRPr>
          </a:p>
          <a:p>
            <a:pPr marL="12700" marR="191135">
              <a:lnSpc>
                <a:spcPct val="1439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delay.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—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0795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analyzed,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 delaypredictions.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16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74724" y="1036319"/>
          <a:ext cx="1928495" cy="298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368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6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58818" y="1036319"/>
          <a:ext cx="1935480" cy="2985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3680">
                <a:tc>
                  <a:txBody>
                    <a:bodyPr/>
                    <a:lstStyle/>
                    <a:p>
                      <a:pPr marL="99060" marR="675005">
                        <a:lnSpc>
                          <a:spcPts val="1380"/>
                        </a:lnSpc>
                        <a:spcBef>
                          <a:spcPts val="3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extraction Regression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9060" marR="9779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Finally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get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Regression&amp;Display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Result: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Delay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Predict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88923" y="193040"/>
            <a:ext cx="6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616" y="4311522"/>
            <a:ext cx="6549390" cy="339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1334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imes New Roman"/>
                <a:cs typeface="Times New Roman"/>
              </a:rPr>
              <a:t>Fig.6.4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Flow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for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Train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Delay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Prediction</a:t>
            </a:r>
            <a:endParaRPr sz="1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35"/>
              </a:spcBef>
            </a:pPr>
            <a:r>
              <a:rPr sz="1400" b="1" spc="-10" dirty="0">
                <a:latin typeface="Times New Roman"/>
                <a:cs typeface="Times New Roman"/>
              </a:rPr>
              <a:t>SEQUENCE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91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exchanged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entities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occur.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spc="-10" dirty="0">
                <a:latin typeface="Times New Roman"/>
                <a:cs typeface="Times New Roman"/>
              </a:rPr>
              <a:t>visualize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particular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scenario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case.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vertical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participating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horizontal </a:t>
            </a:r>
            <a:r>
              <a:rPr sz="1200" dirty="0">
                <a:latin typeface="Times New Roman"/>
                <a:cs typeface="Times New Roman"/>
              </a:rPr>
              <a:t>arrows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depict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them.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arrows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calls,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responses,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events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triggered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bottom,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vertical </a:t>
            </a:r>
            <a:r>
              <a:rPr sz="1200" dirty="0">
                <a:latin typeface="Times New Roman"/>
                <a:cs typeface="Times New Roman"/>
              </a:rPr>
              <a:t>direction.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loops,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alternative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interactions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circumstances.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Sequence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essential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behavior,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clarifying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collaborate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80" y="2101214"/>
            <a:ext cx="4582414" cy="34791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616" y="164083"/>
            <a:ext cx="6545580" cy="813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43800"/>
              </a:lnSpc>
              <a:spcBef>
                <a:spcPts val="90"/>
              </a:spcBef>
            </a:pPr>
            <a:r>
              <a:rPr sz="1200" spc="-10" dirty="0">
                <a:latin typeface="Times New Roman"/>
                <a:cs typeface="Times New Roman"/>
              </a:rPr>
              <a:t>during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specific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identifying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potential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inefficiencies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often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components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 </a:t>
            </a:r>
            <a:r>
              <a:rPr sz="1200" dirty="0">
                <a:latin typeface="Times New Roman"/>
                <a:cs typeface="Times New Roman"/>
              </a:rPr>
              <a:t>detailing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authentication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253" y="1615185"/>
            <a:ext cx="4260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Fig.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6.5: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Activity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Input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Algorithm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Selection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616" y="6140577"/>
            <a:ext cx="6538595" cy="29444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9525" indent="3810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6.5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illustrates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interaction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choosing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0" dirty="0">
                <a:latin typeface="Times New Roman"/>
                <a:cs typeface="Times New Roman"/>
              </a:rPr>
              <a:t> Interaction: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Frame.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1390"/>
              </a:lnSpc>
              <a:spcBef>
                <a:spcPts val="4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(if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applicable),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initiates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Data() action.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imes New Roman"/>
                <a:cs typeface="Times New Roman"/>
              </a:rPr>
              <a:t>Read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Component:</a:t>
            </a:r>
            <a:endParaRPr sz="1200">
              <a:latin typeface="Times New Roman"/>
              <a:cs typeface="Times New Roman"/>
            </a:endParaRPr>
          </a:p>
          <a:p>
            <a:pPr marL="12700" marR="7620">
              <a:lnSpc>
                <a:spcPts val="1390"/>
              </a:lnSpc>
              <a:spcBef>
                <a:spcPts val="47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latin typeface="Times New Roman"/>
                <a:cs typeface="Times New Roman"/>
              </a:rPr>
              <a:t>Choose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Algorithm: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ts val="1390"/>
              </a:lnSpc>
              <a:spcBef>
                <a:spcPts val="47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loaded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"Choose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Algorithm"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applying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clustering).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44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captures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user-</a:t>
            </a:r>
            <a:r>
              <a:rPr sz="1200" dirty="0">
                <a:latin typeface="Times New Roman"/>
                <a:cs typeface="Times New Roman"/>
              </a:rPr>
              <a:t>driven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next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191515"/>
            <a:ext cx="6552565" cy="408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ACTIVITY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DIAGRAM:</a:t>
            </a:r>
            <a:endParaRPr sz="1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  <a:spcBef>
                <a:spcPts val="915"/>
              </a:spcBef>
            </a:pP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flowchart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 software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represent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highlighting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outcomes.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Typically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object-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design,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activity diagrams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depict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workflow,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showcasing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interconnected,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transition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next.</a:t>
            </a:r>
            <a:endParaRPr sz="1200">
              <a:latin typeface="Times New Roman"/>
              <a:cs typeface="Times New Roman"/>
            </a:endParaRPr>
          </a:p>
          <a:p>
            <a:pPr marL="12700" marR="8890" algn="just">
              <a:lnSpc>
                <a:spcPct val="1436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rounded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rectangles,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arrows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indicate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actions.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points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diamonds,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may </a:t>
            </a:r>
            <a:r>
              <a:rPr sz="1200" spc="-10" dirty="0">
                <a:latin typeface="Times New Roman"/>
                <a:cs typeface="Times New Roman"/>
              </a:rPr>
              <a:t>branch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also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swimlanes,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organize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activities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actor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component,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task.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700" algn="just">
              <a:lnSpc>
                <a:spcPct val="143900"/>
              </a:lnSpc>
            </a:pPr>
            <a:r>
              <a:rPr sz="1200" dirty="0">
                <a:latin typeface="Times New Roman"/>
                <a:cs typeface="Times New Roman"/>
              </a:rPr>
              <a:t>Activity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diagrams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helpful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workflows,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bottlenecks,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improving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often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business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modeling,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involved,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made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Times New Roman"/>
                <a:cs typeface="Times New Roman"/>
              </a:rPr>
              <a:t>at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stage.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3245" y="854710"/>
            <a:ext cx="2459355" cy="3917315"/>
            <a:chOff x="3103245" y="854710"/>
            <a:chExt cx="2459355" cy="39173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3705" y="854710"/>
              <a:ext cx="178308" cy="40055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34614" y="1254379"/>
              <a:ext cx="2396490" cy="450850"/>
            </a:xfrm>
            <a:custGeom>
              <a:avLst/>
              <a:gdLst/>
              <a:ahLst/>
              <a:cxnLst/>
              <a:rect l="l" t="t" r="r" b="b"/>
              <a:pathLst>
                <a:path w="2396490" h="450850">
                  <a:moveTo>
                    <a:pt x="2327910" y="0"/>
                  </a:moveTo>
                  <a:lnTo>
                    <a:pt x="68580" y="0"/>
                  </a:lnTo>
                  <a:lnTo>
                    <a:pt x="41910" y="5334"/>
                  </a:lnTo>
                  <a:lnTo>
                    <a:pt x="20066" y="20066"/>
                  </a:lnTo>
                  <a:lnTo>
                    <a:pt x="5334" y="41910"/>
                  </a:lnTo>
                  <a:lnTo>
                    <a:pt x="0" y="68579"/>
                  </a:lnTo>
                  <a:lnTo>
                    <a:pt x="0" y="382270"/>
                  </a:lnTo>
                  <a:lnTo>
                    <a:pt x="5334" y="409067"/>
                  </a:lnTo>
                  <a:lnTo>
                    <a:pt x="20066" y="430784"/>
                  </a:lnTo>
                  <a:lnTo>
                    <a:pt x="41910" y="445516"/>
                  </a:lnTo>
                  <a:lnTo>
                    <a:pt x="68580" y="450850"/>
                  </a:lnTo>
                  <a:lnTo>
                    <a:pt x="2327910" y="450850"/>
                  </a:lnTo>
                  <a:lnTo>
                    <a:pt x="2354580" y="445516"/>
                  </a:lnTo>
                  <a:lnTo>
                    <a:pt x="2376424" y="430784"/>
                  </a:lnTo>
                  <a:lnTo>
                    <a:pt x="2391156" y="409067"/>
                  </a:lnTo>
                  <a:lnTo>
                    <a:pt x="2396490" y="382270"/>
                  </a:lnTo>
                  <a:lnTo>
                    <a:pt x="2396490" y="68579"/>
                  </a:lnTo>
                  <a:lnTo>
                    <a:pt x="2391156" y="41910"/>
                  </a:lnTo>
                  <a:lnTo>
                    <a:pt x="2376424" y="20066"/>
                  </a:lnTo>
                  <a:lnTo>
                    <a:pt x="2354580" y="5334"/>
                  </a:lnTo>
                  <a:lnTo>
                    <a:pt x="232791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34614" y="1038479"/>
              <a:ext cx="2396490" cy="879475"/>
            </a:xfrm>
            <a:custGeom>
              <a:avLst/>
              <a:gdLst/>
              <a:ahLst/>
              <a:cxnLst/>
              <a:rect l="l" t="t" r="r" b="b"/>
              <a:pathLst>
                <a:path w="2396490" h="879475">
                  <a:moveTo>
                    <a:pt x="0" y="284479"/>
                  </a:moveTo>
                  <a:lnTo>
                    <a:pt x="5334" y="257810"/>
                  </a:lnTo>
                  <a:lnTo>
                    <a:pt x="20066" y="235966"/>
                  </a:lnTo>
                  <a:lnTo>
                    <a:pt x="41910" y="221234"/>
                  </a:lnTo>
                  <a:lnTo>
                    <a:pt x="68580" y="215900"/>
                  </a:lnTo>
                  <a:lnTo>
                    <a:pt x="2327910" y="215900"/>
                  </a:lnTo>
                  <a:lnTo>
                    <a:pt x="2354580" y="221234"/>
                  </a:lnTo>
                  <a:lnTo>
                    <a:pt x="2376424" y="235966"/>
                  </a:lnTo>
                  <a:lnTo>
                    <a:pt x="2391156" y="257810"/>
                  </a:lnTo>
                  <a:lnTo>
                    <a:pt x="2396490" y="284479"/>
                  </a:lnTo>
                  <a:lnTo>
                    <a:pt x="2396490" y="598170"/>
                  </a:lnTo>
                  <a:lnTo>
                    <a:pt x="2391156" y="624967"/>
                  </a:lnTo>
                  <a:lnTo>
                    <a:pt x="2376424" y="646684"/>
                  </a:lnTo>
                  <a:lnTo>
                    <a:pt x="2354580" y="661416"/>
                  </a:lnTo>
                  <a:lnTo>
                    <a:pt x="2327910" y="666750"/>
                  </a:lnTo>
                  <a:lnTo>
                    <a:pt x="68580" y="666750"/>
                  </a:lnTo>
                  <a:lnTo>
                    <a:pt x="41910" y="661416"/>
                  </a:lnTo>
                  <a:lnTo>
                    <a:pt x="20066" y="646684"/>
                  </a:lnTo>
                  <a:lnTo>
                    <a:pt x="5334" y="624967"/>
                  </a:lnTo>
                  <a:lnTo>
                    <a:pt x="0" y="598170"/>
                  </a:lnTo>
                  <a:lnTo>
                    <a:pt x="0" y="284479"/>
                  </a:lnTo>
                  <a:close/>
                </a:path>
                <a:path w="2396490" h="879475">
                  <a:moveTo>
                    <a:pt x="1201420" y="0"/>
                  </a:moveTo>
                  <a:lnTo>
                    <a:pt x="1202055" y="215900"/>
                  </a:lnTo>
                </a:path>
                <a:path w="2396490" h="879475">
                  <a:moveTo>
                    <a:pt x="1201420" y="215900"/>
                  </a:moveTo>
                  <a:lnTo>
                    <a:pt x="1247139" y="106045"/>
                  </a:lnTo>
                </a:path>
                <a:path w="2396490" h="879475">
                  <a:moveTo>
                    <a:pt x="1201420" y="215900"/>
                  </a:moveTo>
                  <a:lnTo>
                    <a:pt x="1155700" y="106045"/>
                  </a:lnTo>
                </a:path>
                <a:path w="2396490" h="879475">
                  <a:moveTo>
                    <a:pt x="1201420" y="672465"/>
                  </a:moveTo>
                  <a:lnTo>
                    <a:pt x="1202055" y="879475"/>
                  </a:lnTo>
                </a:path>
                <a:path w="2396490" h="879475">
                  <a:moveTo>
                    <a:pt x="1201420" y="879475"/>
                  </a:moveTo>
                  <a:lnTo>
                    <a:pt x="1247139" y="770254"/>
                  </a:lnTo>
                </a:path>
                <a:path w="2396490" h="879475">
                  <a:moveTo>
                    <a:pt x="1201420" y="879475"/>
                  </a:moveTo>
                  <a:lnTo>
                    <a:pt x="1155700" y="770254"/>
                  </a:lnTo>
                </a:path>
                <a:path w="2396490" h="879475">
                  <a:moveTo>
                    <a:pt x="1201420" y="0"/>
                  </a:moveTo>
                  <a:lnTo>
                    <a:pt x="1202055" y="215900"/>
                  </a:lnTo>
                </a:path>
                <a:path w="2396490" h="879475">
                  <a:moveTo>
                    <a:pt x="1201420" y="215900"/>
                  </a:moveTo>
                  <a:lnTo>
                    <a:pt x="1247139" y="106045"/>
                  </a:lnTo>
                </a:path>
                <a:path w="2396490" h="879475">
                  <a:moveTo>
                    <a:pt x="1201420" y="215900"/>
                  </a:moveTo>
                  <a:lnTo>
                    <a:pt x="1155700" y="106045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49854" y="1917954"/>
              <a:ext cx="2366010" cy="386715"/>
            </a:xfrm>
            <a:custGeom>
              <a:avLst/>
              <a:gdLst/>
              <a:ahLst/>
              <a:cxnLst/>
              <a:rect l="l" t="t" r="r" b="b"/>
              <a:pathLst>
                <a:path w="2366010" h="386714">
                  <a:moveTo>
                    <a:pt x="2297557" y="0"/>
                  </a:moveTo>
                  <a:lnTo>
                    <a:pt x="68579" y="0"/>
                  </a:lnTo>
                  <a:lnTo>
                    <a:pt x="41909" y="5334"/>
                  </a:lnTo>
                  <a:lnTo>
                    <a:pt x="20065" y="20066"/>
                  </a:lnTo>
                  <a:lnTo>
                    <a:pt x="5333" y="41910"/>
                  </a:lnTo>
                  <a:lnTo>
                    <a:pt x="0" y="68579"/>
                  </a:lnTo>
                  <a:lnTo>
                    <a:pt x="0" y="318262"/>
                  </a:lnTo>
                  <a:lnTo>
                    <a:pt x="5333" y="344931"/>
                  </a:lnTo>
                  <a:lnTo>
                    <a:pt x="20065" y="366649"/>
                  </a:lnTo>
                  <a:lnTo>
                    <a:pt x="41909" y="381380"/>
                  </a:lnTo>
                  <a:lnTo>
                    <a:pt x="68579" y="386715"/>
                  </a:lnTo>
                  <a:lnTo>
                    <a:pt x="2297557" y="386715"/>
                  </a:lnTo>
                  <a:lnTo>
                    <a:pt x="2324226" y="381380"/>
                  </a:lnTo>
                  <a:lnTo>
                    <a:pt x="2345944" y="366649"/>
                  </a:lnTo>
                  <a:lnTo>
                    <a:pt x="2360675" y="344931"/>
                  </a:lnTo>
                  <a:lnTo>
                    <a:pt x="2366010" y="318262"/>
                  </a:lnTo>
                  <a:lnTo>
                    <a:pt x="2366010" y="68579"/>
                  </a:lnTo>
                  <a:lnTo>
                    <a:pt x="2360675" y="41910"/>
                  </a:lnTo>
                  <a:lnTo>
                    <a:pt x="2345944" y="20066"/>
                  </a:lnTo>
                  <a:lnTo>
                    <a:pt x="2324226" y="5334"/>
                  </a:lnTo>
                  <a:lnTo>
                    <a:pt x="229755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49854" y="1710944"/>
              <a:ext cx="2366010" cy="770255"/>
            </a:xfrm>
            <a:custGeom>
              <a:avLst/>
              <a:gdLst/>
              <a:ahLst/>
              <a:cxnLst/>
              <a:rect l="l" t="t" r="r" b="b"/>
              <a:pathLst>
                <a:path w="2366010" h="770255">
                  <a:moveTo>
                    <a:pt x="0" y="275589"/>
                  </a:moveTo>
                  <a:lnTo>
                    <a:pt x="5333" y="248920"/>
                  </a:lnTo>
                  <a:lnTo>
                    <a:pt x="20065" y="227075"/>
                  </a:lnTo>
                  <a:lnTo>
                    <a:pt x="41909" y="212344"/>
                  </a:lnTo>
                  <a:lnTo>
                    <a:pt x="68579" y="207009"/>
                  </a:lnTo>
                  <a:lnTo>
                    <a:pt x="2297557" y="207009"/>
                  </a:lnTo>
                  <a:lnTo>
                    <a:pt x="2324226" y="212344"/>
                  </a:lnTo>
                  <a:lnTo>
                    <a:pt x="2345944" y="227075"/>
                  </a:lnTo>
                  <a:lnTo>
                    <a:pt x="2360675" y="248920"/>
                  </a:lnTo>
                  <a:lnTo>
                    <a:pt x="2366010" y="275589"/>
                  </a:lnTo>
                  <a:lnTo>
                    <a:pt x="2366010" y="525272"/>
                  </a:lnTo>
                  <a:lnTo>
                    <a:pt x="2360675" y="551941"/>
                  </a:lnTo>
                  <a:lnTo>
                    <a:pt x="2345944" y="573658"/>
                  </a:lnTo>
                  <a:lnTo>
                    <a:pt x="2324226" y="588390"/>
                  </a:lnTo>
                  <a:lnTo>
                    <a:pt x="2297557" y="593725"/>
                  </a:lnTo>
                  <a:lnTo>
                    <a:pt x="68579" y="593725"/>
                  </a:lnTo>
                  <a:lnTo>
                    <a:pt x="41909" y="588390"/>
                  </a:lnTo>
                  <a:lnTo>
                    <a:pt x="20065" y="573658"/>
                  </a:lnTo>
                  <a:lnTo>
                    <a:pt x="5333" y="551941"/>
                  </a:lnTo>
                  <a:lnTo>
                    <a:pt x="0" y="525272"/>
                  </a:lnTo>
                  <a:lnTo>
                    <a:pt x="0" y="275589"/>
                  </a:lnTo>
                  <a:close/>
                </a:path>
                <a:path w="2366010" h="770255">
                  <a:moveTo>
                    <a:pt x="1186180" y="0"/>
                  </a:moveTo>
                  <a:lnTo>
                    <a:pt x="1186815" y="207009"/>
                  </a:lnTo>
                </a:path>
                <a:path w="2366010" h="770255">
                  <a:moveTo>
                    <a:pt x="1186180" y="207009"/>
                  </a:moveTo>
                  <a:lnTo>
                    <a:pt x="1231899" y="97789"/>
                  </a:lnTo>
                </a:path>
                <a:path w="2366010" h="770255">
                  <a:moveTo>
                    <a:pt x="1186180" y="207009"/>
                  </a:moveTo>
                  <a:lnTo>
                    <a:pt x="1140459" y="97789"/>
                  </a:lnTo>
                </a:path>
                <a:path w="2366010" h="770255">
                  <a:moveTo>
                    <a:pt x="1186180" y="603250"/>
                  </a:moveTo>
                  <a:lnTo>
                    <a:pt x="1186815" y="770254"/>
                  </a:lnTo>
                </a:path>
                <a:path w="2366010" h="770255">
                  <a:moveTo>
                    <a:pt x="1186180" y="770254"/>
                  </a:moveTo>
                  <a:lnTo>
                    <a:pt x="1231899" y="661034"/>
                  </a:lnTo>
                </a:path>
                <a:path w="2366010" h="770255">
                  <a:moveTo>
                    <a:pt x="1186180" y="770254"/>
                  </a:moveTo>
                  <a:lnTo>
                    <a:pt x="1140459" y="661034"/>
                  </a:lnTo>
                </a:path>
                <a:path w="2366010" h="770255">
                  <a:moveTo>
                    <a:pt x="1186180" y="0"/>
                  </a:moveTo>
                  <a:lnTo>
                    <a:pt x="1186815" y="207009"/>
                  </a:lnTo>
                </a:path>
                <a:path w="2366010" h="770255">
                  <a:moveTo>
                    <a:pt x="1186180" y="207009"/>
                  </a:moveTo>
                  <a:lnTo>
                    <a:pt x="1231899" y="97789"/>
                  </a:lnTo>
                </a:path>
                <a:path w="2366010" h="770255">
                  <a:moveTo>
                    <a:pt x="1186180" y="207009"/>
                  </a:moveTo>
                  <a:lnTo>
                    <a:pt x="1140459" y="97789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65094" y="2481199"/>
              <a:ext cx="2336165" cy="432434"/>
            </a:xfrm>
            <a:custGeom>
              <a:avLst/>
              <a:gdLst/>
              <a:ahLst/>
              <a:cxnLst/>
              <a:rect l="l" t="t" r="r" b="b"/>
              <a:pathLst>
                <a:path w="2336165" h="432435">
                  <a:moveTo>
                    <a:pt x="2267585" y="0"/>
                  </a:moveTo>
                  <a:lnTo>
                    <a:pt x="68580" y="0"/>
                  </a:lnTo>
                  <a:lnTo>
                    <a:pt x="41910" y="5333"/>
                  </a:lnTo>
                  <a:lnTo>
                    <a:pt x="20066" y="20066"/>
                  </a:lnTo>
                  <a:lnTo>
                    <a:pt x="5333" y="41909"/>
                  </a:lnTo>
                  <a:lnTo>
                    <a:pt x="0" y="68579"/>
                  </a:lnTo>
                  <a:lnTo>
                    <a:pt x="0" y="363981"/>
                  </a:lnTo>
                  <a:lnTo>
                    <a:pt x="5333" y="390651"/>
                  </a:lnTo>
                  <a:lnTo>
                    <a:pt x="20066" y="412369"/>
                  </a:lnTo>
                  <a:lnTo>
                    <a:pt x="41910" y="427100"/>
                  </a:lnTo>
                  <a:lnTo>
                    <a:pt x="68580" y="432434"/>
                  </a:lnTo>
                  <a:lnTo>
                    <a:pt x="2267585" y="432434"/>
                  </a:lnTo>
                  <a:lnTo>
                    <a:pt x="2294255" y="427100"/>
                  </a:lnTo>
                  <a:lnTo>
                    <a:pt x="2316098" y="412369"/>
                  </a:lnTo>
                  <a:lnTo>
                    <a:pt x="2330831" y="390651"/>
                  </a:lnTo>
                  <a:lnTo>
                    <a:pt x="2336165" y="363981"/>
                  </a:lnTo>
                  <a:lnTo>
                    <a:pt x="2336165" y="68579"/>
                  </a:lnTo>
                  <a:lnTo>
                    <a:pt x="2330831" y="41909"/>
                  </a:lnTo>
                  <a:lnTo>
                    <a:pt x="2316098" y="20066"/>
                  </a:lnTo>
                  <a:lnTo>
                    <a:pt x="2294255" y="5333"/>
                  </a:lnTo>
                  <a:lnTo>
                    <a:pt x="226758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65094" y="2314194"/>
              <a:ext cx="2336165" cy="840105"/>
            </a:xfrm>
            <a:custGeom>
              <a:avLst/>
              <a:gdLst/>
              <a:ahLst/>
              <a:cxnLst/>
              <a:rect l="l" t="t" r="r" b="b"/>
              <a:pathLst>
                <a:path w="2336165" h="840105">
                  <a:moveTo>
                    <a:pt x="0" y="235584"/>
                  </a:moveTo>
                  <a:lnTo>
                    <a:pt x="5333" y="208914"/>
                  </a:lnTo>
                  <a:lnTo>
                    <a:pt x="20066" y="187071"/>
                  </a:lnTo>
                  <a:lnTo>
                    <a:pt x="41910" y="172338"/>
                  </a:lnTo>
                  <a:lnTo>
                    <a:pt x="68580" y="167004"/>
                  </a:lnTo>
                  <a:lnTo>
                    <a:pt x="2267585" y="167004"/>
                  </a:lnTo>
                  <a:lnTo>
                    <a:pt x="2294255" y="172338"/>
                  </a:lnTo>
                  <a:lnTo>
                    <a:pt x="2316098" y="187071"/>
                  </a:lnTo>
                  <a:lnTo>
                    <a:pt x="2330831" y="208914"/>
                  </a:lnTo>
                  <a:lnTo>
                    <a:pt x="2336165" y="235584"/>
                  </a:lnTo>
                  <a:lnTo>
                    <a:pt x="2336165" y="530986"/>
                  </a:lnTo>
                  <a:lnTo>
                    <a:pt x="2330831" y="557656"/>
                  </a:lnTo>
                  <a:lnTo>
                    <a:pt x="2316098" y="579374"/>
                  </a:lnTo>
                  <a:lnTo>
                    <a:pt x="2294255" y="594105"/>
                  </a:lnTo>
                  <a:lnTo>
                    <a:pt x="2267585" y="599439"/>
                  </a:lnTo>
                  <a:lnTo>
                    <a:pt x="68580" y="599439"/>
                  </a:lnTo>
                  <a:lnTo>
                    <a:pt x="41910" y="594105"/>
                  </a:lnTo>
                  <a:lnTo>
                    <a:pt x="20066" y="579374"/>
                  </a:lnTo>
                  <a:lnTo>
                    <a:pt x="5333" y="557656"/>
                  </a:lnTo>
                  <a:lnTo>
                    <a:pt x="0" y="530986"/>
                  </a:lnTo>
                  <a:lnTo>
                    <a:pt x="0" y="235584"/>
                  </a:lnTo>
                  <a:close/>
                </a:path>
                <a:path w="2336165" h="840105">
                  <a:moveTo>
                    <a:pt x="1170940" y="0"/>
                  </a:moveTo>
                  <a:lnTo>
                    <a:pt x="1171575" y="167004"/>
                  </a:lnTo>
                </a:path>
                <a:path w="2336165" h="840105">
                  <a:moveTo>
                    <a:pt x="1170940" y="167004"/>
                  </a:moveTo>
                  <a:lnTo>
                    <a:pt x="1216659" y="57784"/>
                  </a:lnTo>
                </a:path>
                <a:path w="2336165" h="840105">
                  <a:moveTo>
                    <a:pt x="1170940" y="167004"/>
                  </a:moveTo>
                  <a:lnTo>
                    <a:pt x="1125220" y="57784"/>
                  </a:lnTo>
                </a:path>
                <a:path w="2336165" h="840105">
                  <a:moveTo>
                    <a:pt x="1170940" y="605789"/>
                  </a:moveTo>
                  <a:lnTo>
                    <a:pt x="1171575" y="840104"/>
                  </a:lnTo>
                </a:path>
                <a:path w="2336165" h="840105">
                  <a:moveTo>
                    <a:pt x="1170940" y="840104"/>
                  </a:moveTo>
                  <a:lnTo>
                    <a:pt x="1216659" y="730250"/>
                  </a:lnTo>
                </a:path>
                <a:path w="2336165" h="840105">
                  <a:moveTo>
                    <a:pt x="1170940" y="840104"/>
                  </a:moveTo>
                  <a:lnTo>
                    <a:pt x="1125220" y="730250"/>
                  </a:lnTo>
                </a:path>
                <a:path w="2336165" h="840105">
                  <a:moveTo>
                    <a:pt x="1170940" y="0"/>
                  </a:moveTo>
                  <a:lnTo>
                    <a:pt x="1171575" y="167004"/>
                  </a:lnTo>
                </a:path>
                <a:path w="2336165" h="840105">
                  <a:moveTo>
                    <a:pt x="1170940" y="167004"/>
                  </a:moveTo>
                  <a:lnTo>
                    <a:pt x="1216659" y="57784"/>
                  </a:lnTo>
                </a:path>
                <a:path w="2336165" h="840105">
                  <a:moveTo>
                    <a:pt x="1170940" y="167004"/>
                  </a:moveTo>
                  <a:lnTo>
                    <a:pt x="1125220" y="57784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4614" y="3154299"/>
              <a:ext cx="2396490" cy="450850"/>
            </a:xfrm>
            <a:custGeom>
              <a:avLst/>
              <a:gdLst/>
              <a:ahLst/>
              <a:cxnLst/>
              <a:rect l="l" t="t" r="r" b="b"/>
              <a:pathLst>
                <a:path w="2396490" h="450850">
                  <a:moveTo>
                    <a:pt x="2327910" y="0"/>
                  </a:moveTo>
                  <a:lnTo>
                    <a:pt x="68580" y="0"/>
                  </a:lnTo>
                  <a:lnTo>
                    <a:pt x="41910" y="5333"/>
                  </a:lnTo>
                  <a:lnTo>
                    <a:pt x="20066" y="20066"/>
                  </a:lnTo>
                  <a:lnTo>
                    <a:pt x="5334" y="41909"/>
                  </a:lnTo>
                  <a:lnTo>
                    <a:pt x="0" y="68579"/>
                  </a:lnTo>
                  <a:lnTo>
                    <a:pt x="0" y="382270"/>
                  </a:lnTo>
                  <a:lnTo>
                    <a:pt x="5334" y="409066"/>
                  </a:lnTo>
                  <a:lnTo>
                    <a:pt x="20066" y="430784"/>
                  </a:lnTo>
                  <a:lnTo>
                    <a:pt x="41910" y="445515"/>
                  </a:lnTo>
                  <a:lnTo>
                    <a:pt x="68580" y="450850"/>
                  </a:lnTo>
                  <a:lnTo>
                    <a:pt x="2327910" y="450850"/>
                  </a:lnTo>
                  <a:lnTo>
                    <a:pt x="2354580" y="445515"/>
                  </a:lnTo>
                  <a:lnTo>
                    <a:pt x="2376424" y="430784"/>
                  </a:lnTo>
                  <a:lnTo>
                    <a:pt x="2391156" y="409066"/>
                  </a:lnTo>
                  <a:lnTo>
                    <a:pt x="2396490" y="382270"/>
                  </a:lnTo>
                  <a:lnTo>
                    <a:pt x="2396490" y="68579"/>
                  </a:lnTo>
                  <a:lnTo>
                    <a:pt x="2391156" y="41909"/>
                  </a:lnTo>
                  <a:lnTo>
                    <a:pt x="2376424" y="20066"/>
                  </a:lnTo>
                  <a:lnTo>
                    <a:pt x="2354580" y="5333"/>
                  </a:lnTo>
                  <a:lnTo>
                    <a:pt x="232791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34614" y="2919983"/>
              <a:ext cx="2396490" cy="958850"/>
            </a:xfrm>
            <a:custGeom>
              <a:avLst/>
              <a:gdLst/>
              <a:ahLst/>
              <a:cxnLst/>
              <a:rect l="l" t="t" r="r" b="b"/>
              <a:pathLst>
                <a:path w="2396490" h="958850">
                  <a:moveTo>
                    <a:pt x="0" y="302895"/>
                  </a:moveTo>
                  <a:lnTo>
                    <a:pt x="5334" y="276225"/>
                  </a:lnTo>
                  <a:lnTo>
                    <a:pt x="20066" y="254381"/>
                  </a:lnTo>
                  <a:lnTo>
                    <a:pt x="41910" y="239649"/>
                  </a:lnTo>
                  <a:lnTo>
                    <a:pt x="68580" y="234315"/>
                  </a:lnTo>
                  <a:lnTo>
                    <a:pt x="2327910" y="234315"/>
                  </a:lnTo>
                  <a:lnTo>
                    <a:pt x="2354580" y="239649"/>
                  </a:lnTo>
                  <a:lnTo>
                    <a:pt x="2376424" y="254381"/>
                  </a:lnTo>
                  <a:lnTo>
                    <a:pt x="2391156" y="276225"/>
                  </a:lnTo>
                  <a:lnTo>
                    <a:pt x="2396490" y="302895"/>
                  </a:lnTo>
                  <a:lnTo>
                    <a:pt x="2396490" y="616585"/>
                  </a:lnTo>
                  <a:lnTo>
                    <a:pt x="2391156" y="643382"/>
                  </a:lnTo>
                  <a:lnTo>
                    <a:pt x="2376424" y="665099"/>
                  </a:lnTo>
                  <a:lnTo>
                    <a:pt x="2354580" y="679831"/>
                  </a:lnTo>
                  <a:lnTo>
                    <a:pt x="2327910" y="685165"/>
                  </a:lnTo>
                  <a:lnTo>
                    <a:pt x="68580" y="685165"/>
                  </a:lnTo>
                  <a:lnTo>
                    <a:pt x="41910" y="679831"/>
                  </a:lnTo>
                  <a:lnTo>
                    <a:pt x="20066" y="665099"/>
                  </a:lnTo>
                  <a:lnTo>
                    <a:pt x="5334" y="643382"/>
                  </a:lnTo>
                  <a:lnTo>
                    <a:pt x="0" y="616585"/>
                  </a:lnTo>
                  <a:lnTo>
                    <a:pt x="0" y="302895"/>
                  </a:lnTo>
                  <a:close/>
                </a:path>
                <a:path w="2396490" h="958850">
                  <a:moveTo>
                    <a:pt x="1201420" y="0"/>
                  </a:moveTo>
                  <a:lnTo>
                    <a:pt x="1202055" y="234315"/>
                  </a:lnTo>
                </a:path>
                <a:path w="2396490" h="958850">
                  <a:moveTo>
                    <a:pt x="1201420" y="234315"/>
                  </a:moveTo>
                  <a:lnTo>
                    <a:pt x="1247139" y="124460"/>
                  </a:lnTo>
                </a:path>
                <a:path w="2396490" h="958850">
                  <a:moveTo>
                    <a:pt x="1201420" y="234315"/>
                  </a:moveTo>
                  <a:lnTo>
                    <a:pt x="1155700" y="124460"/>
                  </a:lnTo>
                </a:path>
                <a:path w="2396490" h="958850">
                  <a:moveTo>
                    <a:pt x="1201420" y="690880"/>
                  </a:moveTo>
                  <a:lnTo>
                    <a:pt x="1202055" y="958850"/>
                  </a:lnTo>
                </a:path>
                <a:path w="2396490" h="958850">
                  <a:moveTo>
                    <a:pt x="1201420" y="958850"/>
                  </a:moveTo>
                  <a:lnTo>
                    <a:pt x="1247139" y="849630"/>
                  </a:lnTo>
                </a:path>
                <a:path w="2396490" h="958850">
                  <a:moveTo>
                    <a:pt x="1201420" y="958850"/>
                  </a:moveTo>
                  <a:lnTo>
                    <a:pt x="1155700" y="849630"/>
                  </a:lnTo>
                </a:path>
                <a:path w="2396490" h="958850">
                  <a:moveTo>
                    <a:pt x="1201420" y="0"/>
                  </a:moveTo>
                  <a:lnTo>
                    <a:pt x="1202055" y="234315"/>
                  </a:lnTo>
                </a:path>
                <a:path w="2396490" h="958850">
                  <a:moveTo>
                    <a:pt x="1201420" y="234315"/>
                  </a:moveTo>
                  <a:lnTo>
                    <a:pt x="1247139" y="124460"/>
                  </a:lnTo>
                </a:path>
                <a:path w="2396490" h="958850">
                  <a:moveTo>
                    <a:pt x="1201420" y="234315"/>
                  </a:moveTo>
                  <a:lnTo>
                    <a:pt x="1155700" y="12446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04134" y="3878833"/>
              <a:ext cx="2457450" cy="462915"/>
            </a:xfrm>
            <a:custGeom>
              <a:avLst/>
              <a:gdLst/>
              <a:ahLst/>
              <a:cxnLst/>
              <a:rect l="l" t="t" r="r" b="b"/>
              <a:pathLst>
                <a:path w="2457450" h="462914">
                  <a:moveTo>
                    <a:pt x="2388997" y="0"/>
                  </a:moveTo>
                  <a:lnTo>
                    <a:pt x="68580" y="0"/>
                  </a:lnTo>
                  <a:lnTo>
                    <a:pt x="41910" y="5333"/>
                  </a:lnTo>
                  <a:lnTo>
                    <a:pt x="20066" y="20065"/>
                  </a:lnTo>
                  <a:lnTo>
                    <a:pt x="5334" y="41910"/>
                  </a:lnTo>
                  <a:lnTo>
                    <a:pt x="0" y="68579"/>
                  </a:lnTo>
                  <a:lnTo>
                    <a:pt x="0" y="394462"/>
                  </a:lnTo>
                  <a:lnTo>
                    <a:pt x="5334" y="421131"/>
                  </a:lnTo>
                  <a:lnTo>
                    <a:pt x="20066" y="442849"/>
                  </a:lnTo>
                  <a:lnTo>
                    <a:pt x="41910" y="457580"/>
                  </a:lnTo>
                  <a:lnTo>
                    <a:pt x="68580" y="462914"/>
                  </a:lnTo>
                  <a:lnTo>
                    <a:pt x="2388997" y="462914"/>
                  </a:lnTo>
                  <a:lnTo>
                    <a:pt x="2415667" y="457580"/>
                  </a:lnTo>
                  <a:lnTo>
                    <a:pt x="2437384" y="442849"/>
                  </a:lnTo>
                  <a:lnTo>
                    <a:pt x="2452116" y="421131"/>
                  </a:lnTo>
                  <a:lnTo>
                    <a:pt x="2457450" y="394462"/>
                  </a:lnTo>
                  <a:lnTo>
                    <a:pt x="2457450" y="68579"/>
                  </a:lnTo>
                  <a:lnTo>
                    <a:pt x="2452116" y="41910"/>
                  </a:lnTo>
                  <a:lnTo>
                    <a:pt x="2437384" y="20065"/>
                  </a:lnTo>
                  <a:lnTo>
                    <a:pt x="2415667" y="5333"/>
                  </a:lnTo>
                  <a:lnTo>
                    <a:pt x="238899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04134" y="3610864"/>
              <a:ext cx="2457450" cy="910590"/>
            </a:xfrm>
            <a:custGeom>
              <a:avLst/>
              <a:gdLst/>
              <a:ahLst/>
              <a:cxnLst/>
              <a:rect l="l" t="t" r="r" b="b"/>
              <a:pathLst>
                <a:path w="2457450" h="910589">
                  <a:moveTo>
                    <a:pt x="0" y="336550"/>
                  </a:moveTo>
                  <a:lnTo>
                    <a:pt x="5334" y="309880"/>
                  </a:lnTo>
                  <a:lnTo>
                    <a:pt x="20066" y="288036"/>
                  </a:lnTo>
                  <a:lnTo>
                    <a:pt x="41910" y="273303"/>
                  </a:lnTo>
                  <a:lnTo>
                    <a:pt x="68580" y="267970"/>
                  </a:lnTo>
                  <a:lnTo>
                    <a:pt x="2388997" y="267970"/>
                  </a:lnTo>
                  <a:lnTo>
                    <a:pt x="2415667" y="273303"/>
                  </a:lnTo>
                  <a:lnTo>
                    <a:pt x="2437384" y="288036"/>
                  </a:lnTo>
                  <a:lnTo>
                    <a:pt x="2452116" y="309880"/>
                  </a:lnTo>
                  <a:lnTo>
                    <a:pt x="2457450" y="336550"/>
                  </a:lnTo>
                  <a:lnTo>
                    <a:pt x="2457450" y="662432"/>
                  </a:lnTo>
                  <a:lnTo>
                    <a:pt x="2452116" y="689101"/>
                  </a:lnTo>
                  <a:lnTo>
                    <a:pt x="2437384" y="710819"/>
                  </a:lnTo>
                  <a:lnTo>
                    <a:pt x="2415667" y="725551"/>
                  </a:lnTo>
                  <a:lnTo>
                    <a:pt x="2388997" y="730885"/>
                  </a:lnTo>
                  <a:lnTo>
                    <a:pt x="68580" y="730885"/>
                  </a:lnTo>
                  <a:lnTo>
                    <a:pt x="41910" y="725551"/>
                  </a:lnTo>
                  <a:lnTo>
                    <a:pt x="20066" y="710819"/>
                  </a:lnTo>
                  <a:lnTo>
                    <a:pt x="5334" y="689101"/>
                  </a:lnTo>
                  <a:lnTo>
                    <a:pt x="0" y="662432"/>
                  </a:lnTo>
                  <a:lnTo>
                    <a:pt x="0" y="336550"/>
                  </a:lnTo>
                  <a:close/>
                </a:path>
                <a:path w="2457450" h="910589">
                  <a:moveTo>
                    <a:pt x="1231900" y="0"/>
                  </a:moveTo>
                  <a:lnTo>
                    <a:pt x="1232535" y="267970"/>
                  </a:lnTo>
                </a:path>
                <a:path w="2457450" h="910589">
                  <a:moveTo>
                    <a:pt x="1231900" y="267970"/>
                  </a:moveTo>
                  <a:lnTo>
                    <a:pt x="1277620" y="158750"/>
                  </a:lnTo>
                </a:path>
                <a:path w="2457450" h="910589">
                  <a:moveTo>
                    <a:pt x="1231900" y="267970"/>
                  </a:moveTo>
                  <a:lnTo>
                    <a:pt x="1186180" y="158750"/>
                  </a:lnTo>
                </a:path>
                <a:path w="2457450" h="910589">
                  <a:moveTo>
                    <a:pt x="1231900" y="737235"/>
                  </a:moveTo>
                  <a:lnTo>
                    <a:pt x="1232535" y="910589"/>
                  </a:lnTo>
                </a:path>
                <a:path w="2457450" h="910589">
                  <a:moveTo>
                    <a:pt x="1231900" y="910589"/>
                  </a:moveTo>
                  <a:lnTo>
                    <a:pt x="1277620" y="800735"/>
                  </a:lnTo>
                </a:path>
                <a:path w="2457450" h="910589">
                  <a:moveTo>
                    <a:pt x="1231900" y="910589"/>
                  </a:moveTo>
                  <a:lnTo>
                    <a:pt x="1186180" y="800735"/>
                  </a:lnTo>
                </a:path>
                <a:path w="2457450" h="910589">
                  <a:moveTo>
                    <a:pt x="1231900" y="0"/>
                  </a:moveTo>
                  <a:lnTo>
                    <a:pt x="1232535" y="267970"/>
                  </a:lnTo>
                </a:path>
                <a:path w="2457450" h="910589">
                  <a:moveTo>
                    <a:pt x="1231900" y="267970"/>
                  </a:moveTo>
                  <a:lnTo>
                    <a:pt x="1277620" y="158750"/>
                  </a:lnTo>
                </a:path>
                <a:path w="2457450" h="910589">
                  <a:moveTo>
                    <a:pt x="1231900" y="267970"/>
                  </a:moveTo>
                  <a:lnTo>
                    <a:pt x="1186180" y="15875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7510" y="4347210"/>
              <a:ext cx="251333" cy="4246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78199" y="1323594"/>
              <a:ext cx="9525" cy="22860"/>
            </a:xfrm>
            <a:custGeom>
              <a:avLst/>
              <a:gdLst/>
              <a:ahLst/>
              <a:cxnLst/>
              <a:rect l="l" t="t" r="r" b="b"/>
              <a:pathLst>
                <a:path w="9525" h="22859">
                  <a:moveTo>
                    <a:pt x="9525" y="228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9900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928998" y="1250950"/>
            <a:ext cx="577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Input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data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19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28998" y="1915414"/>
            <a:ext cx="821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Preprocessing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2133" y="2479293"/>
            <a:ext cx="47370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Training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7395" y="3220339"/>
            <a:ext cx="1475740" cy="83439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140"/>
              </a:lnSpc>
              <a:spcBef>
                <a:spcPts val="185"/>
              </a:spcBef>
            </a:pPr>
            <a:r>
              <a:rPr sz="1000" spc="-10" dirty="0">
                <a:latin typeface="Arial MT"/>
                <a:cs typeface="Arial MT"/>
              </a:rPr>
              <a:t>Prediction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using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proposed algorithm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00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</a:pPr>
            <a:r>
              <a:rPr sz="1000" spc="-10" dirty="0">
                <a:latin typeface="Arial MT"/>
                <a:cs typeface="Arial MT"/>
              </a:rPr>
              <a:t>Predicted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Delay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100" y="5041519"/>
            <a:ext cx="6598920" cy="386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325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Fig.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6.6: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Workflow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Diagram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Delay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Prediction</a:t>
            </a:r>
            <a:endParaRPr sz="1200">
              <a:latin typeface="Times New Roman"/>
              <a:cs typeface="Times New Roman"/>
            </a:endParaRPr>
          </a:p>
          <a:p>
            <a:pPr marL="12700" marR="10160">
              <a:lnSpc>
                <a:spcPts val="1380"/>
              </a:lnSpc>
              <a:spcBef>
                <a:spcPts val="1190"/>
              </a:spcBef>
            </a:pPr>
            <a:r>
              <a:rPr sz="1200" dirty="0">
                <a:latin typeface="Times New Roman"/>
                <a:cs typeface="Times New Roman"/>
              </a:rPr>
              <a:t>Figure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6.6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sequential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diagram </a:t>
            </a:r>
            <a:r>
              <a:rPr sz="1200" dirty="0">
                <a:latin typeface="Times New Roman"/>
                <a:cs typeface="Times New Roman"/>
              </a:rPr>
              <a:t>outlines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representing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 marR="6350" indent="212725">
              <a:lnSpc>
                <a:spcPts val="1380"/>
              </a:lnSpc>
              <a:buAutoNum type="arabicPeriod"/>
              <a:tabLst>
                <a:tab pos="225425" algn="l"/>
              </a:tabLst>
            </a:pP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Data: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train-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4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4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4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 arrival/departure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10160" indent="207010">
              <a:lnSpc>
                <a:spcPts val="1380"/>
              </a:lnSpc>
              <a:buAutoNum type="arabicPeriod"/>
              <a:tabLst>
                <a:tab pos="219710" algn="l"/>
              </a:tabLst>
            </a:pPr>
            <a:r>
              <a:rPr sz="1200" dirty="0">
                <a:latin typeface="Times New Roman"/>
                <a:cs typeface="Times New Roman"/>
              </a:rPr>
              <a:t>Preprocessing: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transformed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spc="-10" dirty="0">
                <a:latin typeface="Times New Roman"/>
                <a:cs typeface="Times New Roman"/>
              </a:rPr>
              <a:t>normalization,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7620" indent="170180">
              <a:lnSpc>
                <a:spcPts val="1380"/>
              </a:lnSpc>
              <a:buAutoNum type="arabicPeriod"/>
              <a:tabLst>
                <a:tab pos="182880" algn="l"/>
              </a:tabLst>
            </a:pPr>
            <a:r>
              <a:rPr sz="1200" dirty="0">
                <a:latin typeface="Times New Roman"/>
                <a:cs typeface="Times New Roman"/>
              </a:rPr>
              <a:t>Training: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suitable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(like </a:t>
            </a: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tree,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etc.).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8255" indent="189865">
              <a:lnSpc>
                <a:spcPts val="1380"/>
              </a:lnSpc>
              <a:buAutoNum type="arabicPeriod"/>
              <a:tabLst>
                <a:tab pos="202565" algn="l"/>
              </a:tabLst>
            </a:pP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Algorithm: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make </a:t>
            </a:r>
            <a:r>
              <a:rPr sz="1200" dirty="0">
                <a:latin typeface="Times New Roman"/>
                <a:cs typeface="Times New Roman"/>
              </a:rPr>
              <a:t>predictions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patterns.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5080" indent="163830">
              <a:lnSpc>
                <a:spcPts val="1380"/>
              </a:lnSpc>
              <a:buAutoNum type="arabicPeriod"/>
              <a:tabLst>
                <a:tab pos="176530" algn="l"/>
              </a:tabLst>
            </a:pP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 marR="1143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linear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flow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progresses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raw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generating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747776"/>
            <a:ext cx="6430645" cy="7675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263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7.</a:t>
            </a:r>
            <a:r>
              <a:rPr sz="1600" b="1" dirty="0">
                <a:latin typeface="Times New Roman"/>
                <a:cs typeface="Times New Roman"/>
              </a:rPr>
              <a:t>FORM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DESIGN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OUTPUT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INTERFACE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Input</a:t>
            </a:r>
            <a:r>
              <a:rPr sz="1200" b="1" spc="-10" dirty="0">
                <a:latin typeface="Times New Roman"/>
                <a:cs typeface="Times New Roman"/>
              </a:rPr>
              <a:t> Design</a:t>
            </a:r>
            <a:endParaRPr sz="1200">
              <a:latin typeface="Times New Roman"/>
              <a:cs typeface="Times New Roman"/>
            </a:endParaRPr>
          </a:p>
          <a:p>
            <a:pPr marL="12700" marR="6985" algn="just">
              <a:lnSpc>
                <a:spcPct val="143700"/>
              </a:lnSpc>
              <a:spcBef>
                <a:spcPts val="1025"/>
              </a:spcBef>
            </a:pPr>
            <a:r>
              <a:rPr sz="1200" spc="-10" dirty="0">
                <a:latin typeface="Times New Roman"/>
                <a:cs typeface="Times New Roman"/>
              </a:rPr>
              <a:t>Input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critical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step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accurate,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consistent,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ready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predictive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(arrival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departure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times,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etc.),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maintenance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schedules,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factors.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inputs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anomalies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inconsistencies,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with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(like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machine-</a:t>
            </a:r>
            <a:r>
              <a:rPr sz="1200" dirty="0">
                <a:latin typeface="Times New Roman"/>
                <a:cs typeface="Times New Roman"/>
              </a:rPr>
              <a:t>readable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800"/>
              </a:lnSpc>
            </a:pPr>
            <a:r>
              <a:rPr sz="1200" dirty="0">
                <a:latin typeface="Times New Roman"/>
                <a:cs typeface="Times New Roman"/>
              </a:rPr>
              <a:t>Additionally,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real-time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such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unexpected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disruptions,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environmental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changes,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up-</a:t>
            </a:r>
            <a:r>
              <a:rPr sz="1200" spc="-10" dirty="0">
                <a:latin typeface="Times New Roman"/>
                <a:cs typeface="Times New Roman"/>
              </a:rPr>
              <a:t>to-</a:t>
            </a:r>
            <a:r>
              <a:rPr sz="1200" spc="-20" dirty="0">
                <a:latin typeface="Times New Roman"/>
                <a:cs typeface="Times New Roman"/>
              </a:rPr>
              <a:t>date </a:t>
            </a:r>
            <a:r>
              <a:rPr sz="1200" dirty="0">
                <a:latin typeface="Times New Roman"/>
                <a:cs typeface="Times New Roman"/>
              </a:rPr>
              <a:t>predictions.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provide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seamless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up-</a:t>
            </a:r>
            <a:r>
              <a:rPr sz="1200" spc="-10" dirty="0">
                <a:latin typeface="Times New Roman"/>
                <a:cs typeface="Times New Roman"/>
              </a:rPr>
              <a:t>to-</a:t>
            </a:r>
            <a:r>
              <a:rPr sz="1200" dirty="0">
                <a:latin typeface="Times New Roman"/>
                <a:cs typeface="Times New Roman"/>
              </a:rPr>
              <a:t>date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inputs.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50"/>
              </a:spcBef>
            </a:pPr>
            <a:r>
              <a:rPr sz="1200" b="1" dirty="0">
                <a:latin typeface="Times New Roman"/>
                <a:cs typeface="Times New Roman"/>
              </a:rPr>
              <a:t>Output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5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focused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delivering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useful,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actionable </a:t>
            </a:r>
            <a:r>
              <a:rPr sz="1200" dirty="0">
                <a:latin typeface="Times New Roman"/>
                <a:cs typeface="Times New Roman"/>
              </a:rPr>
              <a:t>manner.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factors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likelihood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estimated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(weather,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issues, </a:t>
            </a:r>
            <a:r>
              <a:rPr sz="1200" dirty="0">
                <a:latin typeface="Times New Roman"/>
                <a:cs typeface="Times New Roman"/>
              </a:rPr>
              <a:t>etc.).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presented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intuitive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time-</a:t>
            </a:r>
            <a:r>
              <a:rPr sz="1200" dirty="0">
                <a:latin typeface="Times New Roman"/>
                <a:cs typeface="Times New Roman"/>
              </a:rPr>
              <a:t>series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charts,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quickly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900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operators,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alerts,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enabling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take </a:t>
            </a:r>
            <a:r>
              <a:rPr sz="1200" dirty="0">
                <a:latin typeface="Times New Roman"/>
                <a:cs typeface="Times New Roman"/>
              </a:rPr>
              <a:t>proactive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adjusting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notifying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passengers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Additionally,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detailing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accuracy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predictions,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which </a:t>
            </a:r>
            <a:r>
              <a:rPr sz="1200" dirty="0">
                <a:latin typeface="Times New Roman"/>
                <a:cs typeface="Times New Roman"/>
              </a:rPr>
              <a:t>can help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refining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optimizing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 also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prioritize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experience,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outputs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accessible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mobile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staff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passengers.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243331"/>
            <a:ext cx="6659245" cy="888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objectives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output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are: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126364" algn="l"/>
              </a:tabLst>
            </a:pPr>
            <a:r>
              <a:rPr sz="1200" dirty="0">
                <a:latin typeface="Times New Roman"/>
                <a:cs typeface="Times New Roman"/>
              </a:rPr>
              <a:t>Highlight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events,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opportunities,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problems,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warnings.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buSzPct val="83333"/>
              <a:buFont typeface="Symbol"/>
              <a:buChar char=""/>
              <a:tabLst>
                <a:tab pos="126364" algn="l"/>
              </a:tabLst>
            </a:pPr>
            <a:r>
              <a:rPr sz="1200" dirty="0">
                <a:latin typeface="Times New Roman"/>
                <a:cs typeface="Times New Roman"/>
              </a:rPr>
              <a:t>Initiate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necessary.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26364" indent="-113664">
              <a:lnSpc>
                <a:spcPct val="100000"/>
              </a:lnSpc>
              <a:buSzPct val="83333"/>
              <a:buFont typeface="Symbol"/>
              <a:buChar char=""/>
              <a:tabLst>
                <a:tab pos="126364" algn="l"/>
              </a:tabLst>
            </a:pPr>
            <a:r>
              <a:rPr sz="1200" dirty="0">
                <a:latin typeface="Times New Roman"/>
                <a:cs typeface="Times New Roman"/>
              </a:rPr>
              <a:t>Confirm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STUDY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Feasibility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Study</a:t>
            </a: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90500"/>
              </a:lnSpc>
              <a:spcBef>
                <a:spcPts val="3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feasibility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phase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project's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viability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feasibility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study </a:t>
            </a:r>
            <a:r>
              <a:rPr sz="1200" dirty="0">
                <a:latin typeface="Times New Roman"/>
                <a:cs typeface="Times New Roman"/>
              </a:rPr>
              <a:t>evaluates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practicality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assessing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economic,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aspects.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 </a:t>
            </a:r>
            <a:r>
              <a:rPr sz="1200" dirty="0">
                <a:latin typeface="Times New Roman"/>
                <a:cs typeface="Times New Roman"/>
              </a:rPr>
              <a:t>examines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whether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whether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financially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viable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terms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ongoing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costs,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realistically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implemented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project's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risks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project’s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cost-effectively.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decisions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proceeding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feasibility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primary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considerations: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393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Economic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marL="241300" marR="6350" indent="-229235" algn="just">
              <a:lnSpc>
                <a:spcPct val="144200"/>
              </a:lnSpc>
              <a:spcBef>
                <a:spcPts val="325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expenses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software,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cloud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personnel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scientists, </a:t>
            </a:r>
            <a:r>
              <a:rPr sz="1200" dirty="0">
                <a:latin typeface="Times New Roman"/>
                <a:cs typeface="Times New Roman"/>
              </a:rPr>
              <a:t>developers)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deployment.</a:t>
            </a:r>
            <a:endParaRPr sz="1200">
              <a:latin typeface="Times New Roman"/>
              <a:cs typeface="Times New Roman"/>
            </a:endParaRPr>
          </a:p>
          <a:p>
            <a:pPr marL="241300" marR="8255" indent="-229235" algn="just">
              <a:lnSpc>
                <a:spcPct val="143300"/>
              </a:lnSpc>
              <a:spcBef>
                <a:spcPts val="335"/>
              </a:spcBef>
              <a:buAutoNum type="arabicPeriod"/>
              <a:tabLst>
                <a:tab pos="241300" algn="l"/>
              </a:tabLst>
            </a:pPr>
            <a:r>
              <a:rPr sz="1200" spc="-10" dirty="0">
                <a:latin typeface="Times New Roman"/>
                <a:cs typeface="Times New Roman"/>
              </a:rPr>
              <a:t>Operational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Ongoing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maintenance,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updates,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cloud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service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storage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10" dirty="0">
                <a:latin typeface="Times New Roman"/>
                <a:cs typeface="Times New Roman"/>
              </a:rPr>
              <a:t> predictions.</a:t>
            </a:r>
            <a:endParaRPr sz="1200">
              <a:latin typeface="Times New Roman"/>
              <a:cs typeface="Times New Roman"/>
            </a:endParaRPr>
          </a:p>
          <a:p>
            <a:pPr marL="241300" marR="8890" indent="-229235" algn="just">
              <a:lnSpc>
                <a:spcPct val="143400"/>
              </a:lnSpc>
              <a:spcBef>
                <a:spcPts val="335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Savings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ROI: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reduce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operational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disruptions,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cost </a:t>
            </a:r>
            <a:r>
              <a:rPr sz="1200" dirty="0">
                <a:latin typeface="Times New Roman"/>
                <a:cs typeface="Times New Roman"/>
              </a:rPr>
              <a:t>savings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resource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long-</a:t>
            </a:r>
            <a:r>
              <a:rPr sz="1200" dirty="0">
                <a:latin typeface="Times New Roman"/>
                <a:cs typeface="Times New Roman"/>
              </a:rPr>
              <a:t>term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benefits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should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outweigh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costs, </a:t>
            </a:r>
            <a:r>
              <a:rPr sz="1200" dirty="0">
                <a:latin typeface="Times New Roman"/>
                <a:cs typeface="Times New Roman"/>
              </a:rPr>
              <a:t>resulting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ROI.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960"/>
              </a:spcBef>
            </a:pPr>
            <a:r>
              <a:rPr sz="1200" b="1" dirty="0">
                <a:latin typeface="Times New Roman"/>
                <a:cs typeface="Times New Roman"/>
              </a:rPr>
              <a:t>Technical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Availability: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development.</a:t>
            </a:r>
            <a:endParaRPr sz="1200">
              <a:latin typeface="Times New Roman"/>
              <a:cs typeface="Times New Roman"/>
            </a:endParaRPr>
          </a:p>
          <a:p>
            <a:pPr marL="241300" marR="35560" indent="-229235">
              <a:lnSpc>
                <a:spcPct val="144200"/>
              </a:lnSpc>
              <a:spcBef>
                <a:spcPts val="325"/>
              </a:spcBef>
              <a:buAutoNum type="arabicPeriod"/>
              <a:tabLst>
                <a:tab pos="2413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Expertise: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Skilled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scientists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engineers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2413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Technology: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technologies,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frameworks,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243331"/>
            <a:ext cx="6661784" cy="322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well-</a:t>
            </a:r>
            <a:r>
              <a:rPr sz="1200" dirty="0">
                <a:latin typeface="Times New Roman"/>
                <a:cs typeface="Times New Roman"/>
              </a:rPr>
              <a:t>suited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project's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needs.</a:t>
            </a:r>
            <a:endParaRPr sz="1200">
              <a:latin typeface="Times New Roman"/>
              <a:cs typeface="Times New Roman"/>
            </a:endParaRPr>
          </a:p>
          <a:p>
            <a:pPr marL="241300" marR="133985" indent="-229235" algn="just">
              <a:lnSpc>
                <a:spcPct val="143300"/>
              </a:lnSpc>
              <a:spcBef>
                <a:spcPts val="335"/>
              </a:spcBef>
            </a:pPr>
            <a:r>
              <a:rPr sz="1200" dirty="0">
                <a:latin typeface="Times New Roman"/>
                <a:cs typeface="Times New Roman"/>
              </a:rPr>
              <a:t>4.</a:t>
            </a:r>
            <a:r>
              <a:rPr sz="1200" spc="114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Scalability: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accommodate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growing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demands,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through cloud-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deployment.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975"/>
              </a:spcBef>
            </a:pPr>
            <a:r>
              <a:rPr sz="1200" b="1" dirty="0">
                <a:latin typeface="Times New Roman"/>
                <a:cs typeface="Times New Roman"/>
              </a:rPr>
              <a:t>Social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Feasibility</a:t>
            </a:r>
            <a:endParaRPr sz="1200">
              <a:latin typeface="Times New Roman"/>
              <a:cs typeface="Times New Roman"/>
            </a:endParaRPr>
          </a:p>
          <a:p>
            <a:pPr marL="241300" marR="5080" algn="just">
              <a:lnSpc>
                <a:spcPct val="191500"/>
              </a:lnSpc>
              <a:spcBef>
                <a:spcPts val="32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examines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 well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accepted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involves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 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</a:t>
            </a:r>
            <a:r>
              <a:rPr sz="1200" dirty="0">
                <a:latin typeface="Times New Roman"/>
                <a:cs typeface="Times New Roman"/>
              </a:rPr>
              <a:t>helpful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something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threatens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workflow.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acceptance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depends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familiar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becomes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confidence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encouraging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constructive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key,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ultimate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decision-</a:t>
            </a:r>
            <a:r>
              <a:rPr sz="1200" dirty="0">
                <a:latin typeface="Times New Roman"/>
                <a:cs typeface="Times New Roman"/>
              </a:rPr>
              <a:t>makers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system's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usability.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747776"/>
            <a:ext cx="6370955" cy="717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083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8.</a:t>
            </a:r>
            <a:r>
              <a:rPr sz="1500" b="1" spc="10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SYSTEM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</a:t>
            </a:r>
            <a:endParaRPr sz="1600">
              <a:latin typeface="Times New Roman"/>
              <a:cs typeface="Times New Roman"/>
            </a:endParaRPr>
          </a:p>
          <a:p>
            <a:pPr marL="12700" marR="6985">
              <a:lnSpc>
                <a:spcPct val="143300"/>
              </a:lnSpc>
              <a:spcBef>
                <a:spcPts val="1495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11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deploy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model,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105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system specifications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required:</a:t>
            </a: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960"/>
              </a:spcBef>
              <a:buSzPct val="91666"/>
              <a:buAutoNum type="arabicPeriod"/>
              <a:tabLst>
                <a:tab pos="126364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Hardware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200" dirty="0">
                <a:latin typeface="Times New Roman"/>
                <a:cs typeface="Times New Roman"/>
              </a:rPr>
              <a:t>Processor: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multi-</a:t>
            </a:r>
            <a:r>
              <a:rPr sz="1200" dirty="0">
                <a:latin typeface="Times New Roman"/>
                <a:cs typeface="Times New Roman"/>
              </a:rPr>
              <a:t>core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i5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better)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training.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4200"/>
              </a:lnSpc>
              <a:spcBef>
                <a:spcPts val="320"/>
              </a:spcBef>
            </a:pPr>
            <a:r>
              <a:rPr sz="1200" dirty="0">
                <a:latin typeface="Times New Roman"/>
                <a:cs typeface="Times New Roman"/>
              </a:rPr>
              <a:t>RAM: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minimum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8</a:t>
            </a:r>
            <a:r>
              <a:rPr sz="1200" spc="4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GB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RAM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48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4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4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 </a:t>
            </a:r>
            <a:r>
              <a:rPr sz="1200" dirty="0">
                <a:latin typeface="Times New Roman"/>
                <a:cs typeface="Times New Roman"/>
              </a:rPr>
              <a:t>algorithms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smoothly.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>
                <a:latin typeface="Times New Roman"/>
                <a:cs typeface="Times New Roman"/>
              </a:rPr>
              <a:t>Storage: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50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GB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files.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4200"/>
              </a:lnSpc>
              <a:spcBef>
                <a:spcPts val="325"/>
              </a:spcBef>
            </a:pPr>
            <a:r>
              <a:rPr sz="1200" dirty="0">
                <a:latin typeface="Times New Roman"/>
                <a:cs typeface="Times New Roman"/>
              </a:rPr>
              <a:t>Graphics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(GPU):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dedicated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GPU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(such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NVIDIA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GTX</a:t>
            </a:r>
            <a:r>
              <a:rPr sz="1200" spc="3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series)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recommended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models.</a:t>
            </a: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960"/>
              </a:spcBef>
              <a:buSzPct val="91666"/>
              <a:buAutoNum type="arabicPeriod" startAt="2"/>
              <a:tabLst>
                <a:tab pos="126364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Software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Requirements: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ct val="144200"/>
              </a:lnSpc>
              <a:spcBef>
                <a:spcPts val="325"/>
              </a:spcBef>
            </a:pPr>
            <a:r>
              <a:rPr sz="1200" dirty="0">
                <a:latin typeface="Times New Roman"/>
                <a:cs typeface="Times New Roman"/>
              </a:rPr>
              <a:t>Operating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10/11,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macOS,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Linux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compatibility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frameworks.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  <a:spcBef>
                <a:spcPts val="335"/>
              </a:spcBef>
            </a:pPr>
            <a:r>
              <a:rPr sz="1200" dirty="0">
                <a:latin typeface="Times New Roman"/>
                <a:cs typeface="Times New Roman"/>
              </a:rPr>
              <a:t>Python: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3.7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higher,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are </a:t>
            </a:r>
            <a:r>
              <a:rPr sz="1200" dirty="0">
                <a:latin typeface="Times New Roman"/>
                <a:cs typeface="Times New Roman"/>
              </a:rPr>
              <a:t>Python-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based.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Libraries:</a:t>
            </a:r>
            <a:endParaRPr sz="1200">
              <a:latin typeface="Times New Roman"/>
              <a:cs typeface="Times New Roman"/>
            </a:endParaRPr>
          </a:p>
          <a:p>
            <a:pPr marL="12700" marR="8890">
              <a:lnSpc>
                <a:spcPct val="166700"/>
              </a:lnSpc>
            </a:pPr>
            <a:r>
              <a:rPr sz="1200" spc="-10" dirty="0">
                <a:latin typeface="Times New Roman"/>
                <a:cs typeface="Times New Roman"/>
              </a:rPr>
              <a:t>Scikit-</a:t>
            </a:r>
            <a:r>
              <a:rPr sz="1200" dirty="0">
                <a:latin typeface="Times New Roman"/>
                <a:cs typeface="Times New Roman"/>
              </a:rPr>
              <a:t>learn,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TensorFlow,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Keras,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XGBoost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manipulation.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Django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web-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 marL="12700" marR="7620">
              <a:lnSpc>
                <a:spcPct val="1667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Management: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PostgreSQL,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SQLite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historical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 Visualization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Seaborn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</a:t>
            </a:r>
            <a:endParaRPr sz="1200">
              <a:latin typeface="Times New Roman"/>
              <a:cs typeface="Times New Roman"/>
            </a:endParaRPr>
          </a:p>
          <a:p>
            <a:pPr marL="126364" indent="-117475">
              <a:lnSpc>
                <a:spcPct val="100000"/>
              </a:lnSpc>
              <a:spcBef>
                <a:spcPts val="944"/>
              </a:spcBef>
              <a:buSzPct val="91666"/>
              <a:buAutoNum type="arabicPeriod" startAt="3"/>
              <a:tabLst>
                <a:tab pos="126364" algn="l"/>
              </a:tabLst>
            </a:pPr>
            <a:r>
              <a:rPr sz="1200" b="1" dirty="0">
                <a:latin typeface="Times New Roman"/>
                <a:cs typeface="Times New Roman"/>
              </a:rPr>
              <a:t>Network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Requirements: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ct val="142500"/>
              </a:lnSpc>
              <a:spcBef>
                <a:spcPts val="37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stable</a:t>
            </a:r>
            <a:r>
              <a:rPr sz="1200" spc="3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internet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connection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download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libraries,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APIs,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datasets,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cloud-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853186"/>
            <a:ext cx="6659880" cy="818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6403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9.</a:t>
            </a:r>
            <a:r>
              <a:rPr sz="1500" b="1" spc="1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SOFTWARE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ENVIRONMENT</a:t>
            </a:r>
            <a:endParaRPr sz="16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870"/>
              </a:spcBef>
            </a:pPr>
            <a:r>
              <a:rPr sz="1200" b="1" spc="-10" dirty="0">
                <a:latin typeface="Times New Roman"/>
                <a:cs typeface="Times New Roman"/>
              </a:rPr>
              <a:t>Python:</a:t>
            </a:r>
            <a:endParaRPr sz="1200">
              <a:latin typeface="Times New Roman"/>
              <a:cs typeface="Times New Roman"/>
            </a:endParaRPr>
          </a:p>
          <a:p>
            <a:pPr marL="241300" marR="6350" algn="just">
              <a:lnSpc>
                <a:spcPct val="1437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level,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interpreted,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object-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designed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readable.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English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keywords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frequently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punctuation,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syntactical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constructions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languages.</a:t>
            </a:r>
            <a:endParaRPr sz="1200">
              <a:latin typeface="Times New Roman"/>
              <a:cs typeface="Times New Roman"/>
            </a:endParaRPr>
          </a:p>
          <a:p>
            <a:pPr marL="238760" marR="11430" indent="-226695" algn="just">
              <a:lnSpc>
                <a:spcPts val="2080"/>
              </a:lnSpc>
              <a:spcBef>
                <a:spcPts val="16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Interpreted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runtime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interpreter.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compile 	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PHP.</a:t>
            </a:r>
            <a:endParaRPr sz="1200">
              <a:latin typeface="Times New Roman"/>
              <a:cs typeface="Times New Roman"/>
            </a:endParaRPr>
          </a:p>
          <a:p>
            <a:pPr marL="239395" indent="-226695" algn="just">
              <a:lnSpc>
                <a:spcPct val="100000"/>
              </a:lnSpc>
              <a:spcBef>
                <a:spcPts val="445"/>
              </a:spcBef>
              <a:buSzPct val="83333"/>
              <a:buFont typeface="Symbol"/>
              <a:buChar char=""/>
              <a:tabLst>
                <a:tab pos="239395" algn="l"/>
              </a:tabLst>
            </a:pP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 Interactive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prompt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directly</a:t>
            </a:r>
            <a:endParaRPr sz="1200">
              <a:latin typeface="Times New Roman"/>
              <a:cs typeface="Times New Roman"/>
            </a:endParaRPr>
          </a:p>
          <a:p>
            <a:pPr marL="241300" algn="just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programs.</a:t>
            </a:r>
            <a:endParaRPr sz="1200">
              <a:latin typeface="Times New Roman"/>
              <a:cs typeface="Times New Roman"/>
            </a:endParaRPr>
          </a:p>
          <a:p>
            <a:pPr marL="238760" marR="10795" indent="-226695" algn="just">
              <a:lnSpc>
                <a:spcPct val="1433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Object-</a:t>
            </a:r>
            <a:r>
              <a:rPr sz="1200" b="1" dirty="0">
                <a:latin typeface="Times New Roman"/>
                <a:cs typeface="Times New Roman"/>
              </a:rPr>
              <a:t>Oriented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Object-</a:t>
            </a:r>
            <a:r>
              <a:rPr sz="1200" dirty="0">
                <a:latin typeface="Times New Roman"/>
                <a:cs typeface="Times New Roman"/>
              </a:rPr>
              <a:t>Oriented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that 	</a:t>
            </a:r>
            <a:r>
              <a:rPr sz="1200" dirty="0">
                <a:latin typeface="Times New Roman"/>
                <a:cs typeface="Times New Roman"/>
              </a:rPr>
              <a:t>encapsulates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objects.</a:t>
            </a:r>
            <a:endParaRPr sz="1200">
              <a:latin typeface="Times New Roman"/>
              <a:cs typeface="Times New Roman"/>
            </a:endParaRPr>
          </a:p>
          <a:p>
            <a:pPr marL="238760" marR="5080" indent="-226695" algn="just">
              <a:lnSpc>
                <a:spcPct val="1437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Beginner's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Language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great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beginner-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	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development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WWW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browsers 	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games.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latin typeface="Times New Roman"/>
                <a:cs typeface="Times New Roman"/>
              </a:rPr>
              <a:t>History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Python</a:t>
            </a:r>
            <a:endParaRPr sz="1200">
              <a:latin typeface="Times New Roman"/>
              <a:cs typeface="Times New Roman"/>
            </a:endParaRPr>
          </a:p>
          <a:p>
            <a:pPr marL="241300" marR="40640">
              <a:lnSpc>
                <a:spcPts val="2080"/>
              </a:lnSpc>
              <a:spcBef>
                <a:spcPts val="150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Guido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Rossum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late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eighties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early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nineties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National </a:t>
            </a:r>
            <a:r>
              <a:rPr sz="1200" dirty="0">
                <a:latin typeface="Times New Roman"/>
                <a:cs typeface="Times New Roman"/>
              </a:rPr>
              <a:t>Research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Mathematics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Netherlands.</a:t>
            </a:r>
            <a:endParaRPr sz="1200">
              <a:latin typeface="Times New Roman"/>
              <a:cs typeface="Times New Roman"/>
            </a:endParaRPr>
          </a:p>
          <a:p>
            <a:pPr marL="241300" marR="48260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derived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ABC,</a:t>
            </a:r>
            <a:r>
              <a:rPr sz="1200" spc="-10" dirty="0">
                <a:latin typeface="Times New Roman"/>
                <a:cs typeface="Times New Roman"/>
              </a:rPr>
              <a:t> Modula-</a:t>
            </a:r>
            <a:r>
              <a:rPr sz="1200" dirty="0">
                <a:latin typeface="Times New Roman"/>
                <a:cs typeface="Times New Roman"/>
              </a:rPr>
              <a:t>3,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C++,</a:t>
            </a:r>
            <a:r>
              <a:rPr sz="1200" spc="-10" dirty="0">
                <a:latin typeface="Times New Roman"/>
                <a:cs typeface="Times New Roman"/>
              </a:rPr>
              <a:t> Algol-</a:t>
            </a:r>
            <a:r>
              <a:rPr sz="1200" dirty="0">
                <a:latin typeface="Times New Roman"/>
                <a:cs typeface="Times New Roman"/>
              </a:rPr>
              <a:t>68,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SmallTalk,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Unix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languages.</a:t>
            </a:r>
            <a:endParaRPr sz="1200">
              <a:latin typeface="Times New Roman"/>
              <a:cs typeface="Times New Roman"/>
            </a:endParaRPr>
          </a:p>
          <a:p>
            <a:pPr marL="241300" marR="210820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copyrighted.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GNU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Public </a:t>
            </a:r>
            <a:r>
              <a:rPr sz="1200" dirty="0">
                <a:latin typeface="Times New Roman"/>
                <a:cs typeface="Times New Roman"/>
              </a:rPr>
              <a:t>License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(GPL).</a:t>
            </a:r>
            <a:endParaRPr sz="1200">
              <a:latin typeface="Times New Roman"/>
              <a:cs typeface="Times New Roman"/>
            </a:endParaRPr>
          </a:p>
          <a:p>
            <a:pPr marL="241300" marR="13970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institute,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although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Guido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Rossum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still </a:t>
            </a:r>
            <a:r>
              <a:rPr sz="1200" dirty="0">
                <a:latin typeface="Times New Roman"/>
                <a:cs typeface="Times New Roman"/>
              </a:rPr>
              <a:t>holds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vital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progress.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Features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latin typeface="Times New Roman"/>
                <a:cs typeface="Times New Roman"/>
              </a:rPr>
              <a:t>Python's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include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241300" marR="40005" indent="-229235">
              <a:lnSpc>
                <a:spcPct val="143300"/>
              </a:lnSpc>
              <a:spcBef>
                <a:spcPts val="1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Easy-to-</a:t>
            </a:r>
            <a:r>
              <a:rPr sz="1200" b="1" dirty="0">
                <a:latin typeface="Times New Roman"/>
                <a:cs typeface="Times New Roman"/>
              </a:rPr>
              <a:t>learn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keywords,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simple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structure,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clearly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defined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syntax.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quickly.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Easy-to-</a:t>
            </a:r>
            <a:r>
              <a:rPr sz="1200" b="1" dirty="0">
                <a:latin typeface="Times New Roman"/>
                <a:cs typeface="Times New Roman"/>
              </a:rPr>
              <a:t>read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eyes.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Easy-to-</a:t>
            </a:r>
            <a:r>
              <a:rPr sz="1200" b="1" dirty="0">
                <a:latin typeface="Times New Roman"/>
                <a:cs typeface="Times New Roman"/>
              </a:rPr>
              <a:t>maintain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Python's source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fairly </a:t>
            </a:r>
            <a:r>
              <a:rPr sz="1200" spc="-10" dirty="0">
                <a:latin typeface="Times New Roman"/>
                <a:cs typeface="Times New Roman"/>
              </a:rPr>
              <a:t>easy-to-maintain.</a:t>
            </a:r>
            <a:endParaRPr sz="1200">
              <a:latin typeface="Times New Roman"/>
              <a:cs typeface="Times New Roman"/>
            </a:endParaRPr>
          </a:p>
          <a:p>
            <a:pPr marL="241300" marR="45085" indent="-229235">
              <a:lnSpc>
                <a:spcPct val="142500"/>
              </a:lnSpc>
              <a:spcBef>
                <a:spcPts val="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broad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standard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library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bulk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portable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cross-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compatible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UNIX,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Macintosh.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25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6712" y="164083"/>
            <a:ext cx="6650990" cy="896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9845" indent="-229235">
              <a:lnSpc>
                <a:spcPct val="1433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interactive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interactive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debugging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snippets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code.</a:t>
            </a:r>
            <a:endParaRPr sz="1200">
              <a:latin typeface="Times New Roman"/>
              <a:cs typeface="Times New Roman"/>
            </a:endParaRPr>
          </a:p>
          <a:p>
            <a:pPr marL="241300" marR="36195" indent="-229235">
              <a:lnSpc>
                <a:spcPct val="1435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Portable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hardware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same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all </a:t>
            </a:r>
            <a:r>
              <a:rPr sz="1200" spc="-10" dirty="0">
                <a:latin typeface="Times New Roman"/>
                <a:cs typeface="Times New Roman"/>
              </a:rPr>
              <a:t>platforms.</a:t>
            </a:r>
            <a:endParaRPr sz="1200">
              <a:latin typeface="Times New Roman"/>
              <a:cs typeface="Times New Roman"/>
            </a:endParaRPr>
          </a:p>
          <a:p>
            <a:pPr marL="241300" marR="32384" indent="-229235">
              <a:lnSpc>
                <a:spcPct val="1433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Extendable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interpreter.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modules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enable programmers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customize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Databases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major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commercial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databases.</a:t>
            </a:r>
            <a:endParaRPr sz="1200">
              <a:latin typeface="Times New Roman"/>
              <a:cs typeface="Times New Roman"/>
            </a:endParaRPr>
          </a:p>
          <a:p>
            <a:pPr marL="238760" marR="5080" indent="-226695" algn="just">
              <a:lnSpc>
                <a:spcPct val="14370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GUI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Programming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GUI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ported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 	</a:t>
            </a:r>
            <a:r>
              <a:rPr sz="1200" dirty="0">
                <a:latin typeface="Times New Roman"/>
                <a:cs typeface="Times New Roman"/>
              </a:rPr>
              <a:t>calls,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MFC,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Macintosh,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	</a:t>
            </a:r>
            <a:r>
              <a:rPr sz="1200" spc="-10" dirty="0">
                <a:latin typeface="Times New Roman"/>
                <a:cs typeface="Times New Roman"/>
              </a:rPr>
              <a:t>Unix.</a:t>
            </a:r>
            <a:endParaRPr sz="1200">
              <a:latin typeface="Times New Roman"/>
              <a:cs typeface="Times New Roman"/>
            </a:endParaRPr>
          </a:p>
          <a:p>
            <a:pPr marL="241300" marR="140335" indent="-229235">
              <a:lnSpc>
                <a:spcPct val="1435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b="1" dirty="0">
                <a:latin typeface="Times New Roman"/>
                <a:cs typeface="Times New Roman"/>
              </a:rPr>
              <a:t>Scalable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−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shell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scripting.</a:t>
            </a:r>
            <a:r>
              <a:rPr sz="1200" spc="5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Apart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above-</a:t>
            </a:r>
            <a:r>
              <a:rPr sz="1200" dirty="0">
                <a:latin typeface="Times New Roman"/>
                <a:cs typeface="Times New Roman"/>
              </a:rPr>
              <a:t>mentioned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structured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OOP.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byte-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</a:t>
            </a:r>
            <a:r>
              <a:rPr sz="1200" dirty="0">
                <a:latin typeface="Times New Roman"/>
                <a:cs typeface="Times New Roman"/>
              </a:rPr>
              <a:t>level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dynamic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checking.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10" dirty="0">
                <a:latin typeface="Times New Roman"/>
                <a:cs typeface="Times New Roman"/>
              </a:rPr>
              <a:t> automatic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garbage</a:t>
            </a:r>
            <a:r>
              <a:rPr sz="1200" spc="-10" dirty="0">
                <a:latin typeface="Times New Roman"/>
                <a:cs typeface="Times New Roman"/>
              </a:rPr>
              <a:t> collection.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C++,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ActiveX,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CORBA,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Java.</a:t>
            </a:r>
            <a:endParaRPr sz="1200">
              <a:latin typeface="Times New Roman"/>
              <a:cs typeface="Times New Roman"/>
            </a:endParaRPr>
          </a:p>
          <a:p>
            <a:pPr marL="241300" marR="33655" indent="304800">
              <a:lnSpc>
                <a:spcPct val="1425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platforms including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Linux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0" dirty="0">
                <a:latin typeface="Times New Roman"/>
                <a:cs typeface="Times New Roman"/>
              </a:rPr>
              <a:t> environment.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40"/>
              </a:spcBef>
            </a:pPr>
            <a:r>
              <a:rPr sz="1200" b="1" dirty="0">
                <a:latin typeface="Times New Roman"/>
                <a:cs typeface="Times New Roman"/>
              </a:rPr>
              <a:t>Getting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Python</a:t>
            </a:r>
            <a:endParaRPr sz="1200">
              <a:latin typeface="Times New Roman"/>
              <a:cs typeface="Times New Roman"/>
            </a:endParaRPr>
          </a:p>
          <a:p>
            <a:pPr marL="241300" marR="29209">
              <a:lnSpc>
                <a:spcPct val="1442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up-to-</a:t>
            </a:r>
            <a:r>
              <a:rPr sz="1200" dirty="0">
                <a:latin typeface="Times New Roman"/>
                <a:cs typeface="Times New Roman"/>
              </a:rPr>
              <a:t>date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current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binaries,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documentation,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etc.,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official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website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https://www.python.org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-10" dirty="0">
                <a:latin typeface="Times New Roman"/>
                <a:cs typeface="Times New Roman"/>
              </a:rPr>
              <a:t> Installation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Times New Roman"/>
                <a:cs typeface="Times New Roman"/>
              </a:rPr>
              <a:t>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-10" dirty="0">
                <a:latin typeface="Times New Roman"/>
                <a:cs typeface="Times New Roman"/>
              </a:rPr>
              <a:t> machine.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https://www.python.org/downloads/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241300" marR="29845" indent="-229235">
              <a:lnSpc>
                <a:spcPct val="143300"/>
              </a:lnSpc>
              <a:spcBef>
                <a:spcPts val="10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Follow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link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installer</a:t>
            </a:r>
            <a:r>
              <a:rPr sz="1200" spc="-10" dirty="0">
                <a:latin typeface="Times New Roman"/>
                <a:cs typeface="Times New Roman"/>
              </a:rPr>
              <a:t> python-</a:t>
            </a:r>
            <a:r>
              <a:rPr sz="1200" dirty="0">
                <a:latin typeface="Times New Roman"/>
                <a:cs typeface="Times New Roman"/>
              </a:rPr>
              <a:t>XYZ.msifile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XYZ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spc="-10" dirty="0">
                <a:latin typeface="Times New Roman"/>
                <a:cs typeface="Times New Roman"/>
              </a:rPr>
              <a:t>install.</a:t>
            </a:r>
            <a:endParaRPr sz="1200">
              <a:latin typeface="Times New Roman"/>
              <a:cs typeface="Times New Roman"/>
            </a:endParaRPr>
          </a:p>
          <a:p>
            <a:pPr marL="241300" marR="31115" indent="-229235">
              <a:lnSpc>
                <a:spcPts val="2080"/>
              </a:lnSpc>
              <a:spcBef>
                <a:spcPts val="16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python-XYZ.msi,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Windows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must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Microsoft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Installer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2.0.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Save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installer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MSI.</a:t>
            </a:r>
            <a:endParaRPr sz="1200">
              <a:latin typeface="Times New Roman"/>
              <a:cs typeface="Times New Roman"/>
            </a:endParaRPr>
          </a:p>
          <a:p>
            <a:pPr marL="241300" marR="33020" indent="-229235">
              <a:lnSpc>
                <a:spcPts val="2060"/>
              </a:lnSpc>
              <a:spcBef>
                <a:spcPts val="5"/>
              </a:spcBef>
              <a:buSzPct val="83333"/>
              <a:buFont typeface="Symbol"/>
              <a:buChar char="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downloaded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wizard,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accept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settings,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wait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finished,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done.</a:t>
            </a:r>
            <a:endParaRPr sz="1200">
              <a:latin typeface="Times New Roman"/>
              <a:cs typeface="Times New Roman"/>
            </a:endParaRPr>
          </a:p>
          <a:p>
            <a:pPr marL="241300" marR="62865">
              <a:lnSpc>
                <a:spcPts val="206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language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similarities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C,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definite </a:t>
            </a:r>
            <a:r>
              <a:rPr sz="1200" dirty="0">
                <a:latin typeface="Times New Roman"/>
                <a:cs typeface="Times New Roman"/>
              </a:rPr>
              <a:t>differences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languages.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455"/>
              </a:spcBef>
            </a:pPr>
            <a:r>
              <a:rPr sz="1200" b="1" dirty="0">
                <a:latin typeface="Times New Roman"/>
                <a:cs typeface="Times New Roman"/>
              </a:rPr>
              <a:t>First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Python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45616" y="164083"/>
            <a:ext cx="6420485" cy="870140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dirty="0">
                <a:latin typeface="Times New Roman"/>
                <a:cs typeface="Times New Roman"/>
              </a:rPr>
              <a:t>Let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b="1" dirty="0">
                <a:latin typeface="Times New Roman"/>
                <a:cs typeface="Times New Roman"/>
              </a:rPr>
              <a:t>Interactive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Programming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Invoking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brings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prompt</a:t>
            </a:r>
            <a:r>
              <a:rPr sz="1200" spc="-50" dirty="0">
                <a:latin typeface="Times New Roman"/>
                <a:cs typeface="Times New Roman"/>
              </a:rPr>
              <a:t> −</a:t>
            </a:r>
            <a:endParaRPr sz="1200">
              <a:latin typeface="Times New Roman"/>
              <a:cs typeface="Times New Roman"/>
            </a:endParaRPr>
          </a:p>
          <a:p>
            <a:pPr marL="12700" marR="4113529">
              <a:lnSpc>
                <a:spcPct val="1425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$ </a:t>
            </a:r>
            <a:r>
              <a:rPr sz="1200" spc="-10" dirty="0">
                <a:latin typeface="Times New Roman"/>
                <a:cs typeface="Times New Roman"/>
              </a:rPr>
              <a:t>python </a:t>
            </a:r>
            <a:r>
              <a:rPr sz="1200" spc="-20" dirty="0">
                <a:latin typeface="Times New Roman"/>
                <a:cs typeface="Times New Roman"/>
              </a:rPr>
              <a:t>Python2.4.3(#1,Nov112010,13:34:43)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[GCC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4.1.220080704(RedHat4.1.2-</a:t>
            </a:r>
            <a:r>
              <a:rPr sz="1200" dirty="0">
                <a:latin typeface="Times New Roman"/>
                <a:cs typeface="Times New Roman"/>
              </a:rPr>
              <a:t>48)]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linux2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Type"help","copyright","credits"or"license"for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25" dirty="0">
                <a:latin typeface="Times New Roman"/>
                <a:cs typeface="Times New Roman"/>
              </a:rPr>
              <a:t>&gt;&gt;&gt;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prompt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&gt;&gt;&gt;print"Hello,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Python!"</a:t>
            </a:r>
            <a:endParaRPr sz="1200">
              <a:latin typeface="Times New Roman"/>
              <a:cs typeface="Times New Roman"/>
            </a:endParaRPr>
          </a:p>
          <a:p>
            <a:pPr marL="12700" marR="27305">
              <a:lnSpc>
                <a:spcPct val="143400"/>
              </a:lnSpc>
              <a:spcBef>
                <a:spcPts val="20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parenthesis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print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("Hello,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Python!");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2.4.3,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 </a:t>
            </a:r>
            <a:r>
              <a:rPr sz="1200" dirty="0">
                <a:latin typeface="Times New Roman"/>
                <a:cs typeface="Times New Roman"/>
              </a:rPr>
              <a:t>Hello,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Python!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Script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Programming</a:t>
            </a:r>
            <a:endParaRPr sz="1200">
              <a:latin typeface="Times New Roman"/>
              <a:cs typeface="Times New Roman"/>
            </a:endParaRPr>
          </a:p>
          <a:p>
            <a:pPr marL="12700" marR="28575">
              <a:lnSpc>
                <a:spcPct val="142500"/>
              </a:lnSpc>
              <a:spcBef>
                <a:spcPts val="20"/>
              </a:spcBef>
            </a:pPr>
            <a:r>
              <a:rPr sz="1200" spc="-10" dirty="0">
                <a:latin typeface="Times New Roman"/>
                <a:cs typeface="Times New Roman"/>
              </a:rPr>
              <a:t>Invoking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script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parameter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execution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script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continues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until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script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finished.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finished,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longer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active.</a:t>
            </a:r>
            <a:endParaRPr sz="1200">
              <a:latin typeface="Times New Roman"/>
              <a:cs typeface="Times New Roman"/>
            </a:endParaRPr>
          </a:p>
          <a:p>
            <a:pPr marL="12700" marR="29845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Let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extension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.py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Type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following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code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test.py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print"Hello,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Python!"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20" dirty="0">
                <a:latin typeface="Times New Roman"/>
                <a:cs typeface="Times New Roman"/>
              </a:rPr>
              <a:t>We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assume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variable.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run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follows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$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test.py</a:t>
            </a:r>
            <a:endParaRPr sz="1200">
              <a:latin typeface="Times New Roman"/>
              <a:cs typeface="Times New Roman"/>
            </a:endParaRPr>
          </a:p>
          <a:p>
            <a:pPr marL="12700" marR="4210685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produces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 </a:t>
            </a:r>
            <a:r>
              <a:rPr sz="1200" dirty="0">
                <a:latin typeface="Times New Roman"/>
                <a:cs typeface="Times New Roman"/>
              </a:rPr>
              <a:t>Hello,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Python!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Flask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Framework: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300"/>
              </a:lnSpc>
              <a:spcBef>
                <a:spcPts val="15"/>
              </a:spcBef>
            </a:pPr>
            <a:r>
              <a:rPr sz="1200" dirty="0">
                <a:latin typeface="Times New Roman"/>
                <a:cs typeface="Times New Roman"/>
              </a:rPr>
              <a:t>Flask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framework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written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Armin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Ronacher,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international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enthusiasts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named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Pocco,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Werkzeug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WSGI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toolkit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Jinja2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template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engine.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Pocco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projects.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3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protocol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communication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wide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retrieval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protocol.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summarizes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27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15112" y="254508"/>
          <a:ext cx="5951855" cy="600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Sr.No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205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GET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unencrypted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server.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HEAD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GET,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body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585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POST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21640" marR="156845">
                        <a:lnSpc>
                          <a:spcPct val="1425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HTML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server.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received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cached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server.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21640" marR="322580">
                        <a:lnSpc>
                          <a:spcPct val="1425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Replaces</a:t>
                      </a:r>
                      <a:r>
                        <a:rPr sz="12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sz="12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uploaded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content.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4585"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216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representations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URL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45616" y="6181724"/>
            <a:ext cx="6456680" cy="291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default,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responds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GET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requests.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preference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altered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argument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route()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decorator.</a:t>
            </a:r>
            <a:endParaRPr sz="1200">
              <a:latin typeface="Times New Roman"/>
              <a:cs typeface="Times New Roman"/>
            </a:endParaRPr>
          </a:p>
          <a:p>
            <a:pPr marL="12700" marR="5715">
              <a:lnSpc>
                <a:spcPts val="2080"/>
              </a:lnSpc>
              <a:spcBef>
                <a:spcPts val="160"/>
              </a:spcBef>
            </a:pP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order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method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routing,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use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URL.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dirty="0">
                <a:latin typeface="Times New Roman"/>
                <a:cs typeface="Times New Roman"/>
              </a:rPr>
              <a:t>Save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login.html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&lt;html&gt;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&lt;formaction="</a:t>
            </a:r>
            <a:r>
              <a:rPr sz="1200" spc="-10" dirty="0">
                <a:latin typeface="Times New Roman"/>
                <a:cs typeface="Times New Roman"/>
                <a:hlinkClick r:id="rId2"/>
              </a:rPr>
              <a:t>http://localhost:5000/login</a:t>
            </a:r>
            <a:r>
              <a:rPr sz="1200" spc="-10" dirty="0">
                <a:latin typeface="Times New Roman"/>
                <a:cs typeface="Times New Roman"/>
              </a:rPr>
              <a:t>"method="post"&gt;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&lt;p&gt;Enter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Name:&lt;/p&gt;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&lt;p&gt;&lt;inputtype="text"name="nm"/&gt;&lt;/p&gt;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&lt;p&gt;&lt;inputtype="submit"value="submit"/&gt;&lt;/p&gt;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16" y="164083"/>
            <a:ext cx="6379210" cy="5544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spc="-10" dirty="0">
                <a:latin typeface="Times New Roman"/>
                <a:cs typeface="Times New Roman"/>
              </a:rPr>
              <a:t>&lt;/form&gt;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10" dirty="0">
                <a:latin typeface="Times New Roman"/>
                <a:cs typeface="Times New Roman"/>
              </a:rPr>
              <a:t>&lt;/body&gt;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spc="-10" dirty="0">
                <a:latin typeface="Times New Roman"/>
                <a:cs typeface="Times New Roman"/>
              </a:rPr>
              <a:t>&lt;/html&gt;</a:t>
            </a:r>
            <a:endParaRPr sz="1200">
              <a:latin typeface="Times New Roman"/>
              <a:cs typeface="Times New Roman"/>
            </a:endParaRPr>
          </a:p>
          <a:p>
            <a:pPr marL="12700" marR="3459479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shell. 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flask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importFlask,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redirect,url_for,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 </a:t>
            </a:r>
            <a:r>
              <a:rPr sz="1200" dirty="0">
                <a:latin typeface="Times New Roman"/>
                <a:cs typeface="Times New Roman"/>
              </a:rPr>
              <a:t>app=Flask(</a:t>
            </a:r>
            <a:r>
              <a:rPr sz="120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name</a:t>
            </a:r>
            <a:r>
              <a:rPr sz="1200" u="sng" spc="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) </a:t>
            </a:r>
            <a:r>
              <a:rPr sz="1200" spc="-10" dirty="0">
                <a:latin typeface="Times New Roman"/>
                <a:cs typeface="Times New Roman"/>
              </a:rPr>
              <a:t>@app.route('/success/&lt;name&gt;')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def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success(name):</a:t>
            </a:r>
            <a:endParaRPr sz="1200">
              <a:latin typeface="Times New Roman"/>
              <a:cs typeface="Times New Roman"/>
            </a:endParaRPr>
          </a:p>
          <a:p>
            <a:pPr marL="12700" marR="3629660">
              <a:lnSpc>
                <a:spcPct val="143300"/>
              </a:lnSpc>
              <a:spcBef>
                <a:spcPts val="10"/>
              </a:spcBef>
            </a:pPr>
            <a:r>
              <a:rPr sz="1200" dirty="0">
                <a:latin typeface="Times New Roman"/>
                <a:cs typeface="Times New Roman"/>
              </a:rPr>
              <a:t>return'welcome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%s'%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name @app.route('/login',methods=['POST','GET']) </a:t>
            </a:r>
            <a:r>
              <a:rPr sz="1200" dirty="0">
                <a:latin typeface="Times New Roman"/>
                <a:cs typeface="Times New Roman"/>
              </a:rPr>
              <a:t>def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login():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latin typeface="Times New Roman"/>
                <a:cs typeface="Times New Roman"/>
              </a:rPr>
              <a:t>ifrequest.method=='POST':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spc="-10" dirty="0">
                <a:latin typeface="Times New Roman"/>
                <a:cs typeface="Times New Roman"/>
              </a:rPr>
              <a:t>user=request.form['nm']</a:t>
            </a:r>
            <a:endParaRPr sz="1200">
              <a:latin typeface="Times New Roman"/>
              <a:cs typeface="Times New Roman"/>
            </a:endParaRPr>
          </a:p>
          <a:p>
            <a:pPr marL="12700" marR="3625850">
              <a:lnSpc>
                <a:spcPct val="142500"/>
              </a:lnSpc>
              <a:spcBef>
                <a:spcPts val="25"/>
              </a:spcBef>
            </a:pPr>
            <a:r>
              <a:rPr sz="1200" spc="-10" dirty="0">
                <a:latin typeface="Times New Roman"/>
                <a:cs typeface="Times New Roman"/>
              </a:rPr>
              <a:t>return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redirect(url_for('success',name=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user)) else: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user=request.args.get('nm')</a:t>
            </a:r>
            <a:endParaRPr sz="1200">
              <a:latin typeface="Times New Roman"/>
              <a:cs typeface="Times New Roman"/>
            </a:endParaRPr>
          </a:p>
          <a:p>
            <a:pPr marL="12700" marR="3625850">
              <a:lnSpc>
                <a:spcPct val="143300"/>
              </a:lnSpc>
              <a:spcBef>
                <a:spcPts val="15"/>
              </a:spcBef>
              <a:tabLst>
                <a:tab pos="812165" algn="l"/>
              </a:tabLst>
            </a:pPr>
            <a:r>
              <a:rPr sz="1200" spc="-10" dirty="0">
                <a:latin typeface="Times New Roman"/>
                <a:cs typeface="Times New Roman"/>
              </a:rPr>
              <a:t>return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redirect(url_for('success',name=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user))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spc="-20" dirty="0">
                <a:latin typeface="Times New Roman"/>
                <a:cs typeface="Times New Roman"/>
              </a:rPr>
              <a:t>name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dirty="0">
                <a:latin typeface="Times New Roman"/>
                <a:cs typeface="Times New Roman"/>
              </a:rPr>
              <a:t>=='</a:t>
            </a:r>
            <a:r>
              <a:rPr sz="12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spc="-25" dirty="0">
                <a:latin typeface="Times New Roman"/>
                <a:cs typeface="Times New Roman"/>
              </a:rPr>
              <a:t>':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spc="-10" dirty="0">
                <a:latin typeface="Times New Roman"/>
                <a:cs typeface="Times New Roman"/>
              </a:rPr>
              <a:t>app.run(debug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=True)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25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development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starts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running,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login.html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text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click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Submit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5786628"/>
            <a:ext cx="5665978" cy="32141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1580514"/>
            <a:ext cx="5707380" cy="3238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5616" y="162559"/>
            <a:ext cx="6477000" cy="13411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tag.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2500"/>
              </a:lnSpc>
              <a:spcBef>
                <a:spcPts val="25"/>
              </a:spcBef>
              <a:tabLst>
                <a:tab pos="1640205" algn="l"/>
                <a:tab pos="2263775" algn="l"/>
                <a:tab pos="2522855" algn="l"/>
                <a:tab pos="3896360" algn="l"/>
                <a:tab pos="4376420" algn="l"/>
                <a:tab pos="4702175" algn="l"/>
                <a:tab pos="5214620" algn="l"/>
                <a:tab pos="5560695" algn="l"/>
                <a:tab pos="6217285" algn="l"/>
              </a:tabLst>
            </a:pPr>
            <a:r>
              <a:rPr sz="1200" b="1" spc="-10" dirty="0">
                <a:latin typeface="Times New Roman"/>
                <a:cs typeface="Times New Roman"/>
                <a:hlinkClick r:id="rId3"/>
              </a:rPr>
              <a:t>http://localhost/login</a:t>
            </a:r>
            <a:r>
              <a:rPr sz="1200" b="1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mapped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to</a:t>
            </a:r>
            <a:r>
              <a:rPr sz="1200" dirty="0">
                <a:latin typeface="Times New Roman"/>
                <a:cs typeface="Times New Roman"/>
              </a:rPr>
              <a:t>	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login()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Since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server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has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received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35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‘nm’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request.form['nm']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‘/success’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variable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welcome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message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window.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29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5616" y="4805298"/>
            <a:ext cx="6458585" cy="133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>
              <a:lnSpc>
                <a:spcPct val="1433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‘GET’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login.html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received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‘nm’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now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obtained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−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request.args.get(‘nm’)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43300"/>
              </a:lnSpc>
            </a:pPr>
            <a:r>
              <a:rPr sz="1200" dirty="0">
                <a:latin typeface="Times New Roman"/>
                <a:cs typeface="Times New Roman"/>
              </a:rPr>
              <a:t>Here,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args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dictionary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pairs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parameter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corresponding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corresponding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‘nm’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passed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‘/success’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before.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837996" y="1051305"/>
            <a:ext cx="6259195" cy="7660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743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latin typeface="Times New Roman"/>
                <a:cs typeface="Times New Roman"/>
              </a:rPr>
              <a:t>10.</a:t>
            </a:r>
            <a:r>
              <a:rPr sz="1500" b="1" spc="1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RESULT</a:t>
            </a:r>
            <a:endParaRPr sz="1600">
              <a:latin typeface="Times New Roman"/>
              <a:cs typeface="Times New Roman"/>
            </a:endParaRPr>
          </a:p>
          <a:p>
            <a:pPr marL="12700" marR="9525" algn="just">
              <a:lnSpc>
                <a:spcPct val="143600"/>
              </a:lnSpc>
              <a:spcBef>
                <a:spcPts val="2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primary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objective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machine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predicting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leveraging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advanced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analysis.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was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implemented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combination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collection,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training,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evaluation.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Below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project: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7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Data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Collection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Preparation</a:t>
            </a:r>
            <a:r>
              <a:rPr sz="1200" spc="-10" dirty="0">
                <a:latin typeface="Times New Roman"/>
                <a:cs typeface="Times New Roman"/>
              </a:rPr>
              <a:t>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built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containing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historical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 </a:t>
            </a:r>
            <a:r>
              <a:rPr sz="1200" dirty="0">
                <a:latin typeface="Times New Roman"/>
                <a:cs typeface="Times New Roman"/>
              </a:rPr>
              <a:t>schedules,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influencing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technical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issues,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train </a:t>
            </a:r>
            <a:r>
              <a:rPr sz="1200" dirty="0">
                <a:latin typeface="Times New Roman"/>
                <a:cs typeface="Times New Roman"/>
              </a:rPr>
              <a:t>schedules.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only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500"/>
              </a:lnSpc>
              <a:spcBef>
                <a:spcPts val="10"/>
              </a:spcBef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1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Development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algorithms,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recognize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delays.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techniques,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most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accurate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forecasting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delays. </a:t>
            </a:r>
            <a:r>
              <a:rPr sz="1200" dirty="0">
                <a:latin typeface="Times New Roman"/>
                <a:cs typeface="Times New Roman"/>
              </a:rPr>
              <a:t>Finally,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deployed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application,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providing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insights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supporting decision-</a:t>
            </a:r>
            <a:r>
              <a:rPr sz="1200" dirty="0">
                <a:latin typeface="Times New Roman"/>
                <a:cs typeface="Times New Roman"/>
              </a:rPr>
              <a:t>making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operators.</a:t>
            </a:r>
            <a:endParaRPr sz="12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43700"/>
              </a:lnSpc>
              <a:spcBef>
                <a:spcPts val="10"/>
              </a:spcBef>
            </a:pPr>
            <a:r>
              <a:rPr sz="1200" b="1" dirty="0">
                <a:latin typeface="Times New Roman"/>
                <a:cs typeface="Times New Roman"/>
              </a:rPr>
              <a:t>Accuracy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Performance</a:t>
            </a:r>
            <a:r>
              <a:rPr sz="1200" dirty="0">
                <a:latin typeface="Times New Roman"/>
                <a:cs typeface="Times New Roman"/>
              </a:rPr>
              <a:t>: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 model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demonstrated high accuracy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predicting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delays,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achieving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approximately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95%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98%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set.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accuracy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model's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ability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effectively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features,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day,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conditions,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characteristics.</a:t>
            </a:r>
            <a:endParaRPr sz="12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43700"/>
              </a:lnSpc>
              <a:spcBef>
                <a:spcPts val="5"/>
              </a:spcBef>
            </a:pP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Evaluation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model's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multiple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metrics,</a:t>
            </a:r>
            <a:r>
              <a:rPr sz="1200" spc="-10" dirty="0">
                <a:latin typeface="Times New Roman"/>
                <a:cs typeface="Times New Roman"/>
              </a:rPr>
              <a:t> including precision,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recall,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F1-score.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metrics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confirmed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could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delays, </a:t>
            </a:r>
            <a:r>
              <a:rPr sz="1200" dirty="0">
                <a:latin typeface="Times New Roman"/>
                <a:cs typeface="Times New Roman"/>
              </a:rPr>
              <a:t>minimizing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false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positives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false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negatives.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latin typeface="Times New Roman"/>
                <a:cs typeface="Times New Roman"/>
              </a:rPr>
              <a:t>Saving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Trained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Model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After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model’s</a:t>
            </a:r>
            <a:r>
              <a:rPr sz="1200" spc="-10" dirty="0">
                <a:latin typeface="Times New Roman"/>
                <a:cs typeface="Times New Roman"/>
              </a:rPr>
              <a:t> effectiveness,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saved</a:t>
            </a:r>
            <a:endParaRPr sz="12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43900"/>
              </a:lnSpc>
            </a:pPr>
            <a:r>
              <a:rPr sz="1200" dirty="0">
                <a:latin typeface="Times New Roman"/>
                <a:cs typeface="Times New Roman"/>
              </a:rPr>
              <a:t>for future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allowing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easily deployed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environment.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model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serialized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.pkl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Python’s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pickle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ensuring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loaded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without retraining.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Application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 </a:t>
            </a:r>
            <a:r>
              <a:rPr sz="1200" b="1" spc="-10" dirty="0">
                <a:latin typeface="Times New Roman"/>
                <a:cs typeface="Times New Roman"/>
              </a:rPr>
              <a:t>Real-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Prediction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Flask-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380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users 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interact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model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time.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 provides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relevant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receive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instantly.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tested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ready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10" dirty="0">
                <a:latin typeface="Times New Roman"/>
                <a:cs typeface="Times New Roman"/>
              </a:rPr>
              <a:t> systems.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150" y="923925"/>
            <a:ext cx="6094349" cy="33254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075" y="5114290"/>
            <a:ext cx="6248019" cy="3510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672" y="371348"/>
            <a:ext cx="10604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Step1:Login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page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2004" y="4569078"/>
            <a:ext cx="16510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Step2:Uploaded</a:t>
            </a:r>
            <a:r>
              <a:rPr sz="1100" b="1" spc="-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dataset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652197" y="1431435"/>
            <a:ext cx="6341948" cy="3161029"/>
            <a:chOff x="514984" y="1544319"/>
            <a:chExt cx="6863080" cy="33693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764" y="1544319"/>
              <a:ext cx="6463792" cy="33693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4984" y="4613021"/>
              <a:ext cx="2748280" cy="260985"/>
            </a:xfrm>
            <a:custGeom>
              <a:avLst/>
              <a:gdLst/>
              <a:ahLst/>
              <a:cxnLst/>
              <a:rect l="l" t="t" r="r" b="b"/>
              <a:pathLst>
                <a:path w="2748279" h="260985">
                  <a:moveTo>
                    <a:pt x="2748279" y="0"/>
                  </a:moveTo>
                  <a:lnTo>
                    <a:pt x="0" y="0"/>
                  </a:lnTo>
                  <a:lnTo>
                    <a:pt x="0" y="260985"/>
                  </a:lnTo>
                  <a:lnTo>
                    <a:pt x="2748279" y="260985"/>
                  </a:lnTo>
                  <a:lnTo>
                    <a:pt x="2748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116" y="5631576"/>
            <a:ext cx="5958029" cy="316102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6116" y="1048258"/>
            <a:ext cx="12725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Times New Roman"/>
                <a:cs typeface="Times New Roman"/>
              </a:rPr>
              <a:t>Step3:Page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opened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5" y="5075046"/>
            <a:ext cx="15576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Times New Roman"/>
                <a:cs typeface="Times New Roman"/>
              </a:rPr>
              <a:t>Step4:Output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10" dirty="0">
                <a:latin typeface="Times New Roman"/>
                <a:cs typeface="Times New Roman"/>
              </a:rPr>
              <a:t> displayed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6E327AD-FE96-751D-28C7-41EBC2FCA6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3865498" y="9130825"/>
            <a:ext cx="285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</a:t>
            </a:r>
            <a:r>
              <a:rPr lang="en-US" spc="-25" dirty="0"/>
              <a:t>2</a:t>
            </a:r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3865498" y="9130825"/>
            <a:ext cx="285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</a:t>
            </a:r>
            <a:r>
              <a:rPr lang="en-US" spc="-25" dirty="0"/>
              <a:t>3</a:t>
            </a:r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891336" y="915061"/>
            <a:ext cx="6008370" cy="4728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marR="2469515" indent="-107314">
              <a:lnSpc>
                <a:spcPct val="144400"/>
              </a:lnSpc>
              <a:spcBef>
                <a:spcPts val="100"/>
              </a:spcBef>
            </a:pPr>
            <a:r>
              <a:rPr sz="1500" b="1" spc="-40" dirty="0">
                <a:latin typeface="Times New Roman"/>
                <a:cs typeface="Times New Roman"/>
              </a:rPr>
              <a:t>11.</a:t>
            </a:r>
            <a:r>
              <a:rPr sz="1500" b="1" spc="-14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CONCLSION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AND </a:t>
            </a:r>
            <a:r>
              <a:rPr sz="1600" b="1" dirty="0">
                <a:latin typeface="Times New Roman"/>
                <a:cs typeface="Times New Roman"/>
              </a:rPr>
              <a:t>FUTURE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SCOPE</a:t>
            </a:r>
            <a:endParaRPr sz="1600">
              <a:latin typeface="Times New Roman"/>
              <a:cs typeface="Times New Roman"/>
            </a:endParaRPr>
          </a:p>
          <a:p>
            <a:pPr marL="20320" marR="5080" indent="-7620" algn="just">
              <a:lnSpc>
                <a:spcPct val="143700"/>
              </a:lnSpc>
              <a:spcBef>
                <a:spcPts val="138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 Train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Our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RCNN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yields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best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compared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SVM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model. </a:t>
            </a:r>
            <a:r>
              <a:rPr sz="1200" dirty="0">
                <a:latin typeface="Times New Roman"/>
                <a:cs typeface="Times New Roman"/>
              </a:rPr>
              <a:t>Somehow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SVM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consuming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necessarily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produce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results.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end,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correctly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95%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non-delayed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Trains.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delayed </a:t>
            </a:r>
            <a:r>
              <a:rPr sz="1200" dirty="0">
                <a:latin typeface="Times New Roman"/>
                <a:cs typeface="Times New Roman"/>
              </a:rPr>
              <a:t>Trains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correctly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predicted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41%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time.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result,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additional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related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causes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discovered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sources.</a:t>
            </a:r>
            <a:endParaRPr sz="1200">
              <a:latin typeface="Times New Roman"/>
              <a:cs typeface="Times New Roman"/>
            </a:endParaRPr>
          </a:p>
          <a:p>
            <a:pPr marL="20320" marR="5080" indent="-7620" algn="just">
              <a:lnSpc>
                <a:spcPct val="143700"/>
              </a:lnSpc>
              <a:spcBef>
                <a:spcPts val="113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second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 can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patterns </a:t>
            </a:r>
            <a:r>
              <a:rPr sz="1200" spc="-20" dirty="0">
                <a:latin typeface="Times New Roman"/>
                <a:cs typeface="Times New Roman"/>
              </a:rPr>
              <a:t>from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volume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concurrently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published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tweets,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sentiment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objectivity.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not </a:t>
            </a:r>
            <a:r>
              <a:rPr sz="1200" spc="-10" dirty="0">
                <a:latin typeface="Times New Roman"/>
                <a:cs typeface="Times New Roman"/>
              </a:rPr>
              <a:t>unreasonable;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people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Twitter;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reason</a:t>
            </a:r>
            <a:r>
              <a:rPr sz="1200" spc="-20" dirty="0">
                <a:latin typeface="Times New Roman"/>
                <a:cs typeface="Times New Roman"/>
              </a:rPr>
              <a:t> that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become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frequent,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profoundly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emotional,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worse. </a:t>
            </a:r>
            <a:r>
              <a:rPr sz="1200" dirty="0">
                <a:latin typeface="Times New Roman"/>
                <a:cs typeface="Times New Roman"/>
              </a:rPr>
              <a:t>Without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data,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cannot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robust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role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chance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However,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potential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results. 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may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possible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routinely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tweets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ascertain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understanding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concurrent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Railway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traffic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patterns,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could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26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useful</a:t>
            </a:r>
            <a:r>
              <a:rPr sz="1200" spc="275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variety</a:t>
            </a:r>
            <a:r>
              <a:rPr sz="1200" spc="280" dirty="0">
                <a:latin typeface="Times New Roman"/>
                <a:cs typeface="Times New Roman"/>
              </a:rPr>
              <a:t>  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270" dirty="0">
                <a:latin typeface="Times New Roman"/>
                <a:cs typeface="Times New Roman"/>
              </a:rPr>
              <a:t>   </a:t>
            </a:r>
            <a:r>
              <a:rPr sz="1200" spc="-10" dirty="0">
                <a:latin typeface="Times New Roman"/>
                <a:cs typeface="Times New Roman"/>
              </a:rPr>
              <a:t>circumstances.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1530" y="1089405"/>
            <a:ext cx="1379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REFERENCES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4092" y="1831593"/>
            <a:ext cx="5982335" cy="390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indent="-29019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302895" algn="l"/>
              </a:tabLst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"Train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$32.9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billion,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passengers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foot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bill".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[Online]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</a:t>
            </a:r>
            <a:endParaRPr sz="1200">
              <a:latin typeface="Times New Roman"/>
              <a:cs typeface="Times New Roman"/>
            </a:endParaRPr>
          </a:p>
          <a:p>
            <a:pPr marL="12700" marR="1768475" indent="7620">
              <a:lnSpc>
                <a:spcPts val="2810"/>
              </a:lnSpc>
              <a:spcBef>
                <a:spcPts val="270"/>
              </a:spcBef>
            </a:pP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https://news.berkeley.edu/2010/10/18/Train_delays/3/.</a:t>
            </a:r>
            <a:r>
              <a:rPr sz="1200" spc="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[Accessed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 </a:t>
            </a:r>
            <a:r>
              <a:rPr sz="1200" dirty="0">
                <a:latin typeface="Times New Roman"/>
                <a:cs typeface="Times New Roman"/>
              </a:rPr>
              <a:t>June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2017].</a:t>
            </a:r>
            <a:endParaRPr sz="1200">
              <a:latin typeface="Times New Roman"/>
              <a:cs typeface="Times New Roman"/>
            </a:endParaRPr>
          </a:p>
          <a:p>
            <a:pPr marL="245110" indent="-232410">
              <a:lnSpc>
                <a:spcPts val="1390"/>
              </a:lnSpc>
              <a:buAutoNum type="arabicPlain" startAt="2"/>
              <a:tabLst>
                <a:tab pos="245110" algn="l"/>
              </a:tabLst>
            </a:pPr>
            <a:r>
              <a:rPr sz="1200" dirty="0">
                <a:latin typeface="Times New Roman"/>
                <a:cs typeface="Times New Roman"/>
              </a:rPr>
              <a:t>A.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A.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Simmons,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"Train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Delay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Forecast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due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Weather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Mining",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M.S.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Disseration,</a:t>
            </a:r>
            <a:endParaRPr sz="1200">
              <a:latin typeface="Times New Roman"/>
              <a:cs typeface="Times New Roman"/>
            </a:endParaRPr>
          </a:p>
          <a:p>
            <a:pPr marL="19685" algn="just">
              <a:lnSpc>
                <a:spcPct val="100000"/>
              </a:lnSpc>
              <a:spcBef>
                <a:spcPts val="1325"/>
              </a:spcBef>
            </a:pP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Basque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Country,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Department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Science,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2015.</a:t>
            </a:r>
            <a:endParaRPr sz="1200">
              <a:latin typeface="Times New Roman"/>
              <a:cs typeface="Times New Roman"/>
            </a:endParaRPr>
          </a:p>
          <a:p>
            <a:pPr marL="19685" marR="192405" indent="-7620" algn="just">
              <a:lnSpc>
                <a:spcPct val="191700"/>
              </a:lnSpc>
              <a:spcBef>
                <a:spcPts val="359"/>
              </a:spcBef>
              <a:buAutoNum type="arabicPlain" startAt="3"/>
              <a:tabLst>
                <a:tab pos="19685" algn="l"/>
                <a:tab pos="331470" algn="l"/>
              </a:tabLst>
            </a:pPr>
            <a:r>
              <a:rPr sz="1200" dirty="0">
                <a:latin typeface="Times New Roman"/>
                <a:cs typeface="Times New Roman"/>
              </a:rPr>
              <a:t>	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Choi,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Kim,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Briceno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D.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Mavris,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"Prediction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weather-</a:t>
            </a:r>
            <a:r>
              <a:rPr sz="1200" dirty="0">
                <a:latin typeface="Times New Roman"/>
                <a:cs typeface="Times New Roman"/>
              </a:rPr>
              <a:t>induced</a:t>
            </a:r>
            <a:r>
              <a:rPr sz="1200" spc="1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Railway </a:t>
            </a:r>
            <a:r>
              <a:rPr sz="1200" dirty="0">
                <a:latin typeface="Times New Roman"/>
                <a:cs typeface="Times New Roman"/>
              </a:rPr>
              <a:t>delays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algorithms", </a:t>
            </a:r>
            <a:r>
              <a:rPr sz="1200" i="1" dirty="0">
                <a:latin typeface="Times New Roman"/>
                <a:cs typeface="Times New Roman"/>
              </a:rPr>
              <a:t>Digital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Avionics</a:t>
            </a:r>
            <a:r>
              <a:rPr sz="1200" i="1" spc="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Systems</a:t>
            </a:r>
            <a:r>
              <a:rPr sz="1200" i="1" spc="1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Conference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(DASC), </a:t>
            </a:r>
            <a:r>
              <a:rPr sz="1200" i="1" dirty="0">
                <a:latin typeface="Times New Roman"/>
                <a:cs typeface="Times New Roman"/>
              </a:rPr>
              <a:t>2016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IEEE/AIAA</a:t>
            </a:r>
            <a:r>
              <a:rPr sz="1200" i="1" spc="-3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35th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Sacramento,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2016.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Times New Roman"/>
              <a:buAutoNum type="arabicPlain" startAt="3"/>
            </a:pPr>
            <a:endParaRPr sz="1200">
              <a:latin typeface="Times New Roman"/>
              <a:cs typeface="Times New Roman"/>
            </a:endParaRPr>
          </a:p>
          <a:p>
            <a:pPr marL="12700" marR="1237615" indent="278130">
              <a:lnSpc>
                <a:spcPct val="191700"/>
              </a:lnSpc>
              <a:spcBef>
                <a:spcPts val="5"/>
              </a:spcBef>
              <a:buAutoNum type="arabicPlain" startAt="3"/>
              <a:tabLst>
                <a:tab pos="290830" algn="l"/>
              </a:tabLst>
            </a:pPr>
            <a:r>
              <a:rPr sz="1200" spc="-20" dirty="0">
                <a:latin typeface="Times New Roman"/>
                <a:cs typeface="Times New Roman"/>
              </a:rPr>
              <a:t>Statistical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Graphics.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[Online].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http://stat-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computing.org/dataexpo/2009/the-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data.html.</a:t>
            </a:r>
            <a:r>
              <a:rPr sz="1200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[Accessed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April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2017].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AutoNum type="arabicPlain" startAt="3"/>
            </a:pPr>
            <a:endParaRPr sz="1200">
              <a:latin typeface="Times New Roman"/>
              <a:cs typeface="Times New Roman"/>
            </a:endParaRPr>
          </a:p>
          <a:p>
            <a:pPr marL="326390" indent="-313690">
              <a:lnSpc>
                <a:spcPct val="100000"/>
              </a:lnSpc>
              <a:buAutoNum type="arabicPlain" startAt="3"/>
              <a:tabLst>
                <a:tab pos="326390" algn="l"/>
              </a:tabLst>
            </a:pPr>
            <a:r>
              <a:rPr sz="1200" dirty="0">
                <a:latin typeface="Times New Roman"/>
                <a:cs typeface="Times New Roman"/>
              </a:rPr>
              <a:t>FAA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Data.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[Online].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Available: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https://aspm.faa.gov/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[Accessed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092" y="5875401"/>
            <a:ext cx="4846955" cy="95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April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2017].</a:t>
            </a:r>
            <a:endParaRPr sz="1200">
              <a:latin typeface="Times New Roman"/>
              <a:cs typeface="Times New Roman"/>
            </a:endParaRPr>
          </a:p>
          <a:p>
            <a:pPr marL="19685" marR="5080" indent="-7620">
              <a:lnSpc>
                <a:spcPct val="191700"/>
              </a:lnSpc>
              <a:spcBef>
                <a:spcPts val="335"/>
              </a:spcBef>
              <a:tabLst>
                <a:tab pos="611505" algn="l"/>
                <a:tab pos="1100455" algn="l"/>
                <a:tab pos="1882775" algn="l"/>
                <a:tab pos="2577465" algn="l"/>
                <a:tab pos="3469640" algn="l"/>
                <a:tab pos="4142740" algn="l"/>
              </a:tabLst>
            </a:pPr>
            <a:r>
              <a:rPr sz="1200" spc="-25" dirty="0">
                <a:latin typeface="Times New Roman"/>
                <a:cs typeface="Times New Roman"/>
              </a:rPr>
              <a:t>[6]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B.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Bailey,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0" dirty="0">
                <a:latin typeface="Times New Roman"/>
                <a:cs typeface="Times New Roman"/>
              </a:rPr>
              <a:t>"Data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Cleaning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101".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[Online].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https://towardsdatascience.com/data-cleaning-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101-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948d22a92e4.</a:t>
            </a:r>
            <a:r>
              <a:rPr sz="1200" spc="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[Accessed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5782" y="6268592"/>
            <a:ext cx="6470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Available: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4092" y="6975729"/>
            <a:ext cx="5989320" cy="209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March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2018].</a:t>
            </a:r>
            <a:endParaRPr sz="1200">
              <a:latin typeface="Times New Roman"/>
              <a:cs typeface="Times New Roman"/>
            </a:endParaRPr>
          </a:p>
          <a:p>
            <a:pPr marL="19685" marR="241935" indent="-7620">
              <a:lnSpc>
                <a:spcPct val="191700"/>
              </a:lnSpc>
              <a:spcBef>
                <a:spcPts val="335"/>
              </a:spcBef>
              <a:buAutoNum type="arabicPlain" startAt="7"/>
              <a:tabLst>
                <a:tab pos="19685" algn="l"/>
                <a:tab pos="302260" algn="l"/>
              </a:tabLst>
            </a:pPr>
            <a:r>
              <a:rPr sz="1200" dirty="0">
                <a:latin typeface="Times New Roman"/>
                <a:cs typeface="Times New Roman"/>
              </a:rPr>
              <a:t>	P.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Panov,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Soldatova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Džeroski,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OntoDM-</a:t>
            </a:r>
            <a:r>
              <a:rPr sz="1200" dirty="0">
                <a:latin typeface="Times New Roman"/>
                <a:cs typeface="Times New Roman"/>
              </a:rPr>
              <a:t>KDD: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Ontology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Representing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Knowledge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Discovery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Process",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Discovery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Science</a:t>
            </a:r>
            <a:r>
              <a:rPr sz="1200" i="1" spc="-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2013,</a:t>
            </a:r>
            <a:r>
              <a:rPr sz="1200" i="1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Volume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8140,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126-</a:t>
            </a:r>
            <a:r>
              <a:rPr sz="1200" dirty="0">
                <a:latin typeface="Times New Roman"/>
                <a:cs typeface="Times New Roman"/>
              </a:rPr>
              <a:t>140,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2013.</a:t>
            </a:r>
            <a:endParaRPr sz="1200">
              <a:latin typeface="Times New Roman"/>
              <a:cs typeface="Times New Roman"/>
            </a:endParaRPr>
          </a:p>
          <a:p>
            <a:pPr marL="19685" marR="5080" indent="-7620">
              <a:lnSpc>
                <a:spcPct val="191700"/>
              </a:lnSpc>
              <a:spcBef>
                <a:spcPts val="340"/>
              </a:spcBef>
              <a:buAutoNum type="arabicPlain" startAt="7"/>
              <a:tabLst>
                <a:tab pos="19685" algn="l"/>
                <a:tab pos="680085" algn="l"/>
                <a:tab pos="1536065" algn="l"/>
                <a:tab pos="2084070" algn="l"/>
                <a:tab pos="3390265" algn="l"/>
                <a:tab pos="4382135" algn="l"/>
                <a:tab pos="5354955" algn="l"/>
              </a:tabLst>
            </a:pPr>
            <a:r>
              <a:rPr sz="1200" spc="-10" dirty="0">
                <a:latin typeface="Times New Roman"/>
                <a:cs typeface="Times New Roman"/>
              </a:rPr>
              <a:t>	Bureau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of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Transportation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Statistics.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[Online].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200" spc="-25" dirty="0">
                <a:latin typeface="Times New Roman"/>
                <a:cs typeface="Times New Roman"/>
              </a:rPr>
              <a:t>Available: 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www.transtats.bts.gov/carriers.asp.</a:t>
            </a:r>
            <a:r>
              <a:rPr sz="1200" spc="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[Accessed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April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2017].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Times New Roman"/>
              <a:buAutoNum type="arabicPlain" startAt="7"/>
            </a:pPr>
            <a:endParaRPr sz="1200">
              <a:latin typeface="Times New Roman"/>
              <a:cs typeface="Times New Roman"/>
            </a:endParaRPr>
          </a:p>
          <a:p>
            <a:pPr marL="360045" indent="-347345">
              <a:lnSpc>
                <a:spcPct val="100000"/>
              </a:lnSpc>
              <a:buAutoNum type="arabicPlain" startAt="7"/>
              <a:tabLst>
                <a:tab pos="360045" algn="l"/>
              </a:tabLst>
            </a:pP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Predict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Yes/No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Logistic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Regression.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[Online].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08395" y="5707000"/>
            <a:ext cx="48895" cy="7620"/>
          </a:xfrm>
          <a:custGeom>
            <a:avLst/>
            <a:gdLst/>
            <a:ahLst/>
            <a:cxnLst/>
            <a:rect l="l" t="t" r="r" b="b"/>
            <a:pathLst>
              <a:path w="48895" h="7620">
                <a:moveTo>
                  <a:pt x="48766" y="0"/>
                </a:moveTo>
                <a:lnTo>
                  <a:pt x="0" y="0"/>
                </a:lnTo>
                <a:lnTo>
                  <a:pt x="0" y="7618"/>
                </a:lnTo>
                <a:lnTo>
                  <a:pt x="48766" y="7618"/>
                </a:lnTo>
                <a:lnTo>
                  <a:pt x="487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3865498" y="9130825"/>
            <a:ext cx="285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</a:t>
            </a:r>
            <a:r>
              <a:rPr lang="en-US" spc="-25" dirty="0"/>
              <a:t>4</a:t>
            </a:r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092" y="1055878"/>
            <a:ext cx="5973445" cy="275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https://blog.cleaarbrain.com/posts/how-to-predict-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yesno-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outcomes-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using-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logistic-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regression</a:t>
            </a:r>
            <a:r>
              <a:rPr sz="12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[Accessed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-10" dirty="0">
                <a:latin typeface="Times New Roman"/>
                <a:cs typeface="Times New Roman"/>
              </a:rPr>
              <a:t> Feubrary 2018].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200">
              <a:latin typeface="Times New Roman"/>
              <a:cs typeface="Times New Roman"/>
            </a:endParaRPr>
          </a:p>
          <a:p>
            <a:pPr marL="310515" indent="-297815">
              <a:lnSpc>
                <a:spcPct val="100000"/>
              </a:lnSpc>
              <a:buAutoNum type="arabicPlain" startAt="10"/>
              <a:tabLst>
                <a:tab pos="310515" algn="l"/>
              </a:tabLst>
            </a:pP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Polamuri,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"How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Forest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Learning".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[Online].</a:t>
            </a:r>
            <a:endParaRPr sz="1200">
              <a:latin typeface="Times New Roman"/>
              <a:cs typeface="Times New Roman"/>
            </a:endParaRPr>
          </a:p>
          <a:p>
            <a:pPr marL="12700" marR="1574165" indent="7620">
              <a:lnSpc>
                <a:spcPts val="2810"/>
              </a:lnSpc>
              <a:spcBef>
                <a:spcPts val="270"/>
              </a:spcBef>
            </a:pPr>
            <a:r>
              <a:rPr sz="1200" spc="-10" dirty="0">
                <a:latin typeface="Times New Roman"/>
                <a:cs typeface="Times New Roman"/>
              </a:rPr>
              <a:t>Available: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000FF"/>
                </a:solidFill>
                <a:latin typeface="Times New Roman"/>
                <a:cs typeface="Times New Roman"/>
                <a:hlinkClick r:id="rId2"/>
              </a:rPr>
              <a:t>https://medium.com/@Synced/how-random-forest-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  <a:hlinkClick r:id="rId2"/>
              </a:rPr>
              <a:t>algorithm-</a:t>
            </a:r>
            <a:r>
              <a:rPr sz="12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works-in-machine-learning-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3c0fe15b6674.</a:t>
            </a:r>
            <a:r>
              <a:rPr sz="1200" spc="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[Accessed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January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2018].</a:t>
            </a:r>
            <a:endParaRPr sz="1200">
              <a:latin typeface="Times New Roman"/>
              <a:cs typeface="Times New Roman"/>
            </a:endParaRPr>
          </a:p>
          <a:p>
            <a:pPr marL="19685" marR="210820" indent="-7620">
              <a:lnSpc>
                <a:spcPts val="2780"/>
              </a:lnSpc>
              <a:spcBef>
                <a:spcPts val="285"/>
              </a:spcBef>
              <a:buAutoNum type="arabicPlain" startAt="11"/>
              <a:tabLst>
                <a:tab pos="19685" algn="l"/>
                <a:tab pos="363220" algn="l"/>
              </a:tabLst>
            </a:pPr>
            <a:r>
              <a:rPr sz="1200" dirty="0">
                <a:latin typeface="Times New Roman"/>
                <a:cs typeface="Times New Roman"/>
              </a:rPr>
              <a:t>	S.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Ray,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"Understanding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Support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Vector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algorithm".</a:t>
            </a:r>
            <a:r>
              <a:rPr sz="1200" spc="3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[Online].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Available: 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sz="1200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www.analyticsvidhya.com/blog/2017/09/understaing-</a:t>
            </a: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support-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vector-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2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machine-example-</a:t>
            </a:r>
            <a:r>
              <a:rPr sz="1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code/.</a:t>
            </a:r>
            <a:r>
              <a:rPr sz="1200" spc="-10" dirty="0">
                <a:latin typeface="Times New Roman"/>
                <a:cs typeface="Times New Roman"/>
              </a:rPr>
              <a:t>[Accessed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200" spc="-10" dirty="0">
                <a:latin typeface="Times New Roman"/>
                <a:cs typeface="Times New Roman"/>
              </a:rPr>
              <a:t>ember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2017].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6614" y="1595119"/>
            <a:ext cx="660400" cy="7620"/>
          </a:xfrm>
          <a:custGeom>
            <a:avLst/>
            <a:gdLst/>
            <a:ahLst/>
            <a:cxnLst/>
            <a:rect l="l" t="t" r="r" b="b"/>
            <a:pathLst>
              <a:path w="660400" h="7619">
                <a:moveTo>
                  <a:pt x="659891" y="0"/>
                </a:moveTo>
                <a:lnTo>
                  <a:pt x="0" y="0"/>
                </a:lnTo>
                <a:lnTo>
                  <a:pt x="0" y="7620"/>
                </a:lnTo>
                <a:lnTo>
                  <a:pt x="659891" y="7620"/>
                </a:lnTo>
                <a:lnTo>
                  <a:pt x="6598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16380" y="2332227"/>
            <a:ext cx="3731895" cy="7620"/>
          </a:xfrm>
          <a:custGeom>
            <a:avLst/>
            <a:gdLst/>
            <a:ahLst/>
            <a:cxnLst/>
            <a:rect l="l" t="t" r="r" b="b"/>
            <a:pathLst>
              <a:path w="3731895" h="7619">
                <a:moveTo>
                  <a:pt x="3731387" y="0"/>
                </a:moveTo>
                <a:lnTo>
                  <a:pt x="0" y="0"/>
                </a:lnTo>
                <a:lnTo>
                  <a:pt x="0" y="7620"/>
                </a:lnTo>
                <a:lnTo>
                  <a:pt x="3731387" y="7620"/>
                </a:lnTo>
                <a:lnTo>
                  <a:pt x="37313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3865498" y="9130825"/>
            <a:ext cx="285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25" dirty="0"/>
              <a:t>3</a:t>
            </a:r>
            <a:r>
              <a:rPr lang="en-US" spc="-25" dirty="0"/>
              <a:t>5</a:t>
            </a:r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499600"/>
            <a:ext cx="698500" cy="2095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9173" y="2344922"/>
            <a:ext cx="103256" cy="1032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9052" y="2528965"/>
            <a:ext cx="109727" cy="779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7200" y="1866264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46961" y="342392"/>
            <a:ext cx="11741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6073" y="342392"/>
            <a:ext cx="13703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565241"/>
            <a:ext cx="3516629" cy="10915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700" spc="-50" dirty="0">
                <a:solidFill>
                  <a:srgbClr val="171717"/>
                </a:solidFill>
                <a:latin typeface="Verdana"/>
                <a:cs typeface="Verdana"/>
              </a:rPr>
              <a:t>10%</a:t>
            </a:r>
            <a:r>
              <a:rPr sz="1700" spc="-114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171717"/>
                </a:solidFill>
                <a:latin typeface="Verdana"/>
                <a:cs typeface="Verdana"/>
              </a:rPr>
              <a:t>Overall</a:t>
            </a:r>
            <a:r>
              <a:rPr sz="1700" spc="-114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171717"/>
                </a:solidFill>
                <a:latin typeface="Verdana"/>
                <a:cs typeface="Verdana"/>
              </a:rPr>
              <a:t>Similarity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The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combined</a:t>
            </a:r>
            <a:r>
              <a:rPr sz="700" spc="11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total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of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all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matches,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including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overlapping</a:t>
            </a:r>
            <a:r>
              <a:rPr sz="700" spc="11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sources,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for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each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database.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spc="-65" dirty="0">
                <a:solidFill>
                  <a:srgbClr val="171717"/>
                </a:solidFill>
                <a:latin typeface="Arial Black"/>
                <a:cs typeface="Arial Black"/>
              </a:rPr>
              <a:t>Filtered</a:t>
            </a:r>
            <a:r>
              <a:rPr sz="1000" spc="-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70" dirty="0">
                <a:solidFill>
                  <a:srgbClr val="171717"/>
                </a:solidFill>
                <a:latin typeface="Arial Black"/>
                <a:cs typeface="Arial Black"/>
              </a:rPr>
              <a:t>from</a:t>
            </a:r>
            <a:r>
              <a:rPr sz="1000" spc="-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65" dirty="0">
                <a:solidFill>
                  <a:srgbClr val="171717"/>
                </a:solidFill>
                <a:latin typeface="Arial Black"/>
                <a:cs typeface="Arial Black"/>
              </a:rPr>
              <a:t>the</a:t>
            </a:r>
            <a:r>
              <a:rPr sz="1000" spc="-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71717"/>
                </a:solidFill>
                <a:latin typeface="Arial Black"/>
                <a:cs typeface="Arial Black"/>
              </a:rPr>
              <a:t>Report</a:t>
            </a:r>
            <a:endParaRPr sz="1000">
              <a:latin typeface="Arial Black"/>
              <a:cs typeface="Arial Black"/>
            </a:endParaRPr>
          </a:p>
          <a:p>
            <a:pPr marL="135890">
              <a:lnSpc>
                <a:spcPct val="100000"/>
              </a:lnSpc>
              <a:spcBef>
                <a:spcPts val="915"/>
              </a:spcBef>
            </a:pPr>
            <a:r>
              <a:rPr sz="700" spc="-10" dirty="0">
                <a:solidFill>
                  <a:srgbClr val="171717"/>
                </a:solidFill>
                <a:latin typeface="Arial MT"/>
                <a:cs typeface="Arial MT"/>
              </a:rPr>
              <a:t>Bibliography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2029714"/>
            <a:ext cx="2787650" cy="1503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solidFill>
                  <a:srgbClr val="171717"/>
                </a:solidFill>
                <a:latin typeface="Arial Black"/>
                <a:cs typeface="Arial Black"/>
              </a:rPr>
              <a:t>Match</a:t>
            </a:r>
            <a:r>
              <a:rPr sz="1000" spc="-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71717"/>
                </a:solidFill>
                <a:latin typeface="Arial Black"/>
                <a:cs typeface="Arial Black"/>
              </a:rPr>
              <a:t>Groups</a:t>
            </a:r>
            <a:endParaRPr sz="1000">
              <a:latin typeface="Arial Black"/>
              <a:cs typeface="Arial Black"/>
            </a:endParaRPr>
          </a:p>
          <a:p>
            <a:pPr marL="230504">
              <a:lnSpc>
                <a:spcPct val="100000"/>
              </a:lnSpc>
              <a:spcBef>
                <a:spcPts val="1245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53</a:t>
            </a:r>
            <a:r>
              <a:rPr sz="700" spc="17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Not</a:t>
            </a:r>
            <a:r>
              <a:rPr sz="7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Cited</a:t>
            </a:r>
            <a:r>
              <a:rPr sz="700" spc="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or</a:t>
            </a:r>
            <a:r>
              <a:rPr sz="700" spc="6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Quoted</a:t>
            </a:r>
            <a:r>
              <a:rPr sz="700" spc="5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10%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</a:pP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with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neither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in-text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nor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616161"/>
                </a:solidFill>
                <a:latin typeface="Arial MT"/>
                <a:cs typeface="Arial MT"/>
              </a:rPr>
              <a:t>marks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9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Missing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Quotations</a:t>
            </a:r>
            <a:r>
              <a:rPr sz="7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55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that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are</a:t>
            </a:r>
            <a:r>
              <a:rPr sz="700" spc="8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still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very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similar</a:t>
            </a:r>
            <a:r>
              <a:rPr sz="700" spc="6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to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source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material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70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6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Missing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Citation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60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that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have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marks,</a:t>
            </a:r>
            <a:r>
              <a:rPr sz="700" spc="12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but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no</a:t>
            </a:r>
            <a:r>
              <a:rPr sz="700" spc="11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in-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text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6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Cited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and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Quoted</a:t>
            </a:r>
            <a:r>
              <a:rPr sz="700" spc="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55"/>
              </a:spcBef>
            </a:pP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with</a:t>
            </a:r>
            <a:r>
              <a:rPr sz="700" spc="6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in-text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present,</a:t>
            </a:r>
            <a:r>
              <a:rPr sz="700" spc="8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but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no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616161"/>
                </a:solidFill>
                <a:latin typeface="Arial MT"/>
                <a:cs typeface="Arial MT"/>
              </a:rPr>
              <a:t>marks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9646" y="2029714"/>
            <a:ext cx="814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4" dirty="0">
                <a:solidFill>
                  <a:srgbClr val="171717"/>
                </a:solidFill>
                <a:latin typeface="Arial Black"/>
                <a:cs typeface="Arial Black"/>
              </a:rPr>
              <a:t>Top</a:t>
            </a:r>
            <a:r>
              <a:rPr sz="10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40" dirty="0">
                <a:solidFill>
                  <a:srgbClr val="171717"/>
                </a:solidFill>
                <a:latin typeface="Arial Black"/>
                <a:cs typeface="Arial Black"/>
              </a:rPr>
              <a:t>Sources</a:t>
            </a:r>
            <a:endParaRPr sz="1000">
              <a:latin typeface="Arial Black"/>
              <a:cs typeface="Arial Black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763645" y="2340229"/>
          <a:ext cx="1955165" cy="44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145">
                <a:tc>
                  <a:txBody>
                    <a:bodyPr/>
                    <a:lstStyle/>
                    <a:p>
                      <a:pPr marR="49530" algn="ctr">
                        <a:lnSpc>
                          <a:spcPts val="795"/>
                        </a:lnSpc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2%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ts val="795"/>
                        </a:lnSpc>
                      </a:pP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700" spc="24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sources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2%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939" marB="0"/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Publications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93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R="49530" algn="ctr">
                        <a:lnSpc>
                          <a:spcPts val="745"/>
                        </a:lnSpc>
                        <a:spcBef>
                          <a:spcPts val="235"/>
                        </a:spcBef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9%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268605">
                        <a:lnSpc>
                          <a:spcPts val="795"/>
                        </a:lnSpc>
                        <a:spcBef>
                          <a:spcPts val="190"/>
                        </a:spcBef>
                      </a:pP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Submitted</a:t>
                      </a:r>
                      <a:r>
                        <a:rPr sz="700" spc="7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works</a:t>
                      </a:r>
                      <a:r>
                        <a:rPr sz="700" spc="7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(Student</a:t>
                      </a:r>
                      <a:r>
                        <a:rPr sz="700" spc="7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Papers)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44500" y="3807079"/>
            <a:ext cx="1667510" cy="53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171717"/>
                </a:solidFill>
                <a:latin typeface="Arial Black"/>
                <a:cs typeface="Arial Black"/>
              </a:rPr>
              <a:t>Integrity</a:t>
            </a:r>
            <a:r>
              <a:rPr sz="1000" spc="-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71717"/>
                </a:solidFill>
                <a:latin typeface="Arial Black"/>
                <a:cs typeface="Arial Black"/>
              </a:rPr>
              <a:t>Flags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 </a:t>
            </a:r>
            <a:r>
              <a:rPr sz="700" spc="-65" dirty="0">
                <a:solidFill>
                  <a:srgbClr val="171717"/>
                </a:solidFill>
                <a:latin typeface="Arial Black"/>
                <a:cs typeface="Arial Black"/>
              </a:rPr>
              <a:t>Integrity</a:t>
            </a:r>
            <a:r>
              <a:rPr sz="7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700" spc="-65" dirty="0">
                <a:solidFill>
                  <a:srgbClr val="171717"/>
                </a:solidFill>
                <a:latin typeface="Arial Black"/>
                <a:cs typeface="Arial Black"/>
              </a:rPr>
              <a:t>Flags</a:t>
            </a:r>
            <a:r>
              <a:rPr sz="7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700" spc="-40" dirty="0">
                <a:solidFill>
                  <a:srgbClr val="171717"/>
                </a:solidFill>
                <a:latin typeface="Arial Black"/>
                <a:cs typeface="Arial Black"/>
              </a:rPr>
              <a:t>for</a:t>
            </a:r>
            <a:r>
              <a:rPr sz="700" spc="3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Review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No</a:t>
            </a:r>
            <a:r>
              <a:rPr sz="700" spc="12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suspicious</a:t>
            </a:r>
            <a:r>
              <a:rPr sz="700" spc="14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text</a:t>
            </a:r>
            <a:r>
              <a:rPr sz="700" spc="14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manipulations</a:t>
            </a:r>
            <a:r>
              <a:rPr sz="700" spc="14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found.</a:t>
            </a:r>
            <a:endParaRPr sz="7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380" y="1574546"/>
            <a:ext cx="20320" cy="381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2332494"/>
            <a:ext cx="158750" cy="1379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11131" y="2694446"/>
            <a:ext cx="77963" cy="7796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66725" y="3677284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200" y="2638425"/>
            <a:ext cx="158750" cy="1524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200" y="2955544"/>
            <a:ext cx="158750" cy="1524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7200" y="3273297"/>
            <a:ext cx="158750" cy="152400"/>
            <a:chOff x="457200" y="3273297"/>
            <a:chExt cx="158750" cy="15240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7200" y="3273297"/>
              <a:ext cx="15875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5300" y="3311397"/>
              <a:ext cx="69850" cy="7620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22700" y="4022090"/>
            <a:ext cx="3378200" cy="8128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698500" cy="20955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45438" y="9546949"/>
            <a:ext cx="117411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6073" y="9546949"/>
            <a:ext cx="1370330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499600"/>
            <a:ext cx="698500" cy="2095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4093" y="988308"/>
            <a:ext cx="103256" cy="1032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3971" y="1172605"/>
            <a:ext cx="109727" cy="779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7200" y="2381250"/>
            <a:ext cx="6858000" cy="0"/>
          </a:xfrm>
          <a:custGeom>
            <a:avLst/>
            <a:gdLst/>
            <a:ahLst/>
            <a:cxnLst/>
            <a:rect l="l" t="t" r="r" b="b"/>
            <a:pathLst>
              <a:path w="6858000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57200" y="3115945"/>
            <a:ext cx="311150" cy="190500"/>
            <a:chOff x="457200" y="3115945"/>
            <a:chExt cx="311150" cy="190500"/>
          </a:xfrm>
        </p:grpSpPr>
        <p:sp>
          <p:nvSpPr>
            <p:cNvPr id="7" name="object 7"/>
            <p:cNvSpPr/>
            <p:nvPr/>
          </p:nvSpPr>
          <p:spPr>
            <a:xfrm>
              <a:off x="457200" y="31159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3585" y="3180207"/>
              <a:ext cx="34925" cy="64769"/>
            </a:xfrm>
            <a:custGeom>
              <a:avLst/>
              <a:gdLst/>
              <a:ahLst/>
              <a:cxnLst/>
              <a:rect l="l" t="t" r="r" b="b"/>
              <a:pathLst>
                <a:path w="34925" h="64769">
                  <a:moveTo>
                    <a:pt x="34442" y="0"/>
                  </a:moveTo>
                  <a:lnTo>
                    <a:pt x="20624" y="0"/>
                  </a:lnTo>
                  <a:lnTo>
                    <a:pt x="18846" y="4064"/>
                  </a:lnTo>
                  <a:lnTo>
                    <a:pt x="16383" y="7366"/>
                  </a:lnTo>
                  <a:lnTo>
                    <a:pt x="10096" y="12700"/>
                  </a:lnTo>
                  <a:lnTo>
                    <a:pt x="5689" y="15113"/>
                  </a:lnTo>
                  <a:lnTo>
                    <a:pt x="0" y="17018"/>
                  </a:lnTo>
                  <a:lnTo>
                    <a:pt x="0" y="31369"/>
                  </a:lnTo>
                  <a:lnTo>
                    <a:pt x="17551" y="22225"/>
                  </a:lnTo>
                  <a:lnTo>
                    <a:pt x="17551" y="64389"/>
                  </a:lnTo>
                  <a:lnTo>
                    <a:pt x="34442" y="64389"/>
                  </a:lnTo>
                  <a:lnTo>
                    <a:pt x="34442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838200" y="3115945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889000" h="190500">
                <a:moveTo>
                  <a:pt x="793750" y="0"/>
                </a:moveTo>
                <a:lnTo>
                  <a:pt x="95250" y="0"/>
                </a:lnTo>
                <a:lnTo>
                  <a:pt x="58178" y="7493"/>
                </a:lnTo>
                <a:lnTo>
                  <a:pt x="27901" y="27939"/>
                </a:lnTo>
                <a:lnTo>
                  <a:pt x="7480" y="58165"/>
                </a:lnTo>
                <a:lnTo>
                  <a:pt x="0" y="95250"/>
                </a:lnTo>
                <a:lnTo>
                  <a:pt x="7480" y="132333"/>
                </a:lnTo>
                <a:lnTo>
                  <a:pt x="27901" y="162559"/>
                </a:lnTo>
                <a:lnTo>
                  <a:pt x="58178" y="183006"/>
                </a:lnTo>
                <a:lnTo>
                  <a:pt x="95250" y="190500"/>
                </a:lnTo>
                <a:lnTo>
                  <a:pt x="793750" y="190500"/>
                </a:lnTo>
                <a:lnTo>
                  <a:pt x="830833" y="183006"/>
                </a:lnTo>
                <a:lnTo>
                  <a:pt x="861060" y="162559"/>
                </a:lnTo>
                <a:lnTo>
                  <a:pt x="881507" y="132333"/>
                </a:lnTo>
                <a:lnTo>
                  <a:pt x="889000" y="95250"/>
                </a:lnTo>
                <a:lnTo>
                  <a:pt x="881507" y="58165"/>
                </a:lnTo>
                <a:lnTo>
                  <a:pt x="861060" y="27939"/>
                </a:lnTo>
                <a:lnTo>
                  <a:pt x="830833" y="7493"/>
                </a:lnTo>
                <a:lnTo>
                  <a:pt x="793750" y="0"/>
                </a:lnTo>
                <a:close/>
              </a:path>
            </a:pathLst>
          </a:custGeom>
          <a:solidFill>
            <a:srgbClr val="FDDC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4500" y="3144139"/>
            <a:ext cx="4113529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309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Publication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R.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N.</a:t>
            </a:r>
            <a:r>
              <a:rPr sz="800" spc="-3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V.</a:t>
            </a:r>
            <a:r>
              <a:rPr sz="800" spc="-2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Jagan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Mohan,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B.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H.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V.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S.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10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Rama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Krishnam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Raju,</a:t>
            </a:r>
            <a:r>
              <a:rPr sz="800" spc="-2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V.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Chandra</a:t>
            </a:r>
            <a:r>
              <a:rPr sz="800" spc="-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Sekhar,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T.</a:t>
            </a: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V.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K.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 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P…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59854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57200" y="3725545"/>
            <a:ext cx="311150" cy="190500"/>
            <a:chOff x="457200" y="3725545"/>
            <a:chExt cx="311150" cy="190500"/>
          </a:xfrm>
        </p:grpSpPr>
        <p:sp>
          <p:nvSpPr>
            <p:cNvPr id="13" name="object 13"/>
            <p:cNvSpPr/>
            <p:nvPr/>
          </p:nvSpPr>
          <p:spPr>
            <a:xfrm>
              <a:off x="457200" y="37255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8949" y="3789807"/>
              <a:ext cx="50165" cy="64769"/>
            </a:xfrm>
            <a:custGeom>
              <a:avLst/>
              <a:gdLst/>
              <a:ahLst/>
              <a:cxnLst/>
              <a:rect l="l" t="t" r="r" b="b"/>
              <a:pathLst>
                <a:path w="50165" h="64770">
                  <a:moveTo>
                    <a:pt x="31343" y="0"/>
                  </a:moveTo>
                  <a:lnTo>
                    <a:pt x="19837" y="0"/>
                  </a:lnTo>
                  <a:lnTo>
                    <a:pt x="15430" y="762"/>
                  </a:lnTo>
                  <a:lnTo>
                    <a:pt x="1231" y="20192"/>
                  </a:lnTo>
                  <a:lnTo>
                    <a:pt x="17957" y="21716"/>
                  </a:lnTo>
                  <a:lnTo>
                    <a:pt x="18427" y="18033"/>
                  </a:lnTo>
                  <a:lnTo>
                    <a:pt x="19342" y="15620"/>
                  </a:lnTo>
                  <a:lnTo>
                    <a:pt x="22047" y="12826"/>
                  </a:lnTo>
                  <a:lnTo>
                    <a:pt x="23787" y="12064"/>
                  </a:lnTo>
                  <a:lnTo>
                    <a:pt x="27965" y="12064"/>
                  </a:lnTo>
                  <a:lnTo>
                    <a:pt x="29667" y="12700"/>
                  </a:lnTo>
                  <a:lnTo>
                    <a:pt x="32372" y="15493"/>
                  </a:lnTo>
                  <a:lnTo>
                    <a:pt x="33058" y="17144"/>
                  </a:lnTo>
                  <a:lnTo>
                    <a:pt x="33058" y="20827"/>
                  </a:lnTo>
                  <a:lnTo>
                    <a:pt x="32372" y="22732"/>
                  </a:lnTo>
                  <a:lnTo>
                    <a:pt x="29629" y="26669"/>
                  </a:lnTo>
                  <a:lnTo>
                    <a:pt x="26504" y="29590"/>
                  </a:lnTo>
                  <a:lnTo>
                    <a:pt x="13601" y="39623"/>
                  </a:lnTo>
                  <a:lnTo>
                    <a:pt x="8140" y="45084"/>
                  </a:lnTo>
                  <a:lnTo>
                    <a:pt x="2324" y="54228"/>
                  </a:lnTo>
                  <a:lnTo>
                    <a:pt x="584" y="59181"/>
                  </a:lnTo>
                  <a:lnTo>
                    <a:pt x="0" y="64388"/>
                  </a:lnTo>
                  <a:lnTo>
                    <a:pt x="50114" y="64388"/>
                  </a:lnTo>
                  <a:lnTo>
                    <a:pt x="50114" y="50037"/>
                  </a:lnTo>
                  <a:lnTo>
                    <a:pt x="24028" y="50037"/>
                  </a:lnTo>
                  <a:lnTo>
                    <a:pt x="29159" y="45212"/>
                  </a:lnTo>
                  <a:lnTo>
                    <a:pt x="40436" y="36829"/>
                  </a:lnTo>
                  <a:lnTo>
                    <a:pt x="44335" y="33019"/>
                  </a:lnTo>
                  <a:lnTo>
                    <a:pt x="48628" y="26034"/>
                  </a:lnTo>
                  <a:lnTo>
                    <a:pt x="49695" y="22351"/>
                  </a:lnTo>
                  <a:lnTo>
                    <a:pt x="49695" y="14858"/>
                  </a:lnTo>
                  <a:lnTo>
                    <a:pt x="48767" y="11556"/>
                  </a:lnTo>
                  <a:lnTo>
                    <a:pt x="45021" y="5714"/>
                  </a:lnTo>
                  <a:lnTo>
                    <a:pt x="42443" y="3555"/>
                  </a:lnTo>
                  <a:lnTo>
                    <a:pt x="35915" y="762"/>
                  </a:lnTo>
                  <a:lnTo>
                    <a:pt x="31343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8200" y="3725545"/>
            <a:ext cx="889000" cy="190500"/>
            <a:chOff x="838200" y="3725545"/>
            <a:chExt cx="889000" cy="190500"/>
          </a:xfrm>
        </p:grpSpPr>
        <p:sp>
          <p:nvSpPr>
            <p:cNvPr id="16" name="object 16"/>
            <p:cNvSpPr/>
            <p:nvPr/>
          </p:nvSpPr>
          <p:spPr>
            <a:xfrm>
              <a:off x="838200" y="3725545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631" y="378980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7"/>
                  </a:lnTo>
                  <a:lnTo>
                    <a:pt x="6337" y="59308"/>
                  </a:lnTo>
                  <a:lnTo>
                    <a:pt x="10058" y="63372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2"/>
                  </a:lnTo>
                  <a:lnTo>
                    <a:pt x="43789" y="61087"/>
                  </a:lnTo>
                  <a:lnTo>
                    <a:pt x="46609" y="58419"/>
                  </a:lnTo>
                  <a:lnTo>
                    <a:pt x="49760" y="53085"/>
                  </a:lnTo>
                  <a:lnTo>
                    <a:pt x="23355" y="53085"/>
                  </a:lnTo>
                  <a:lnTo>
                    <a:pt x="20764" y="51815"/>
                  </a:lnTo>
                  <a:lnTo>
                    <a:pt x="18961" y="49148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7"/>
                  </a:lnTo>
                  <a:lnTo>
                    <a:pt x="3216" y="11810"/>
                  </a:lnTo>
                  <a:lnTo>
                    <a:pt x="2913" y="12445"/>
                  </a:lnTo>
                  <a:lnTo>
                    <a:pt x="2417" y="14223"/>
                  </a:lnTo>
                  <a:lnTo>
                    <a:pt x="2133" y="15366"/>
                  </a:lnTo>
                  <a:lnTo>
                    <a:pt x="2185" y="23621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3"/>
                  </a:lnTo>
                  <a:lnTo>
                    <a:pt x="31330" y="40766"/>
                  </a:lnTo>
                  <a:lnTo>
                    <a:pt x="32755" y="42290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3"/>
                  </a:lnTo>
                  <a:lnTo>
                    <a:pt x="29235" y="53085"/>
                  </a:lnTo>
                  <a:lnTo>
                    <a:pt x="49760" y="53085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5"/>
                  </a:lnTo>
                  <a:lnTo>
                    <a:pt x="50901" y="37210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19"/>
                  </a:lnTo>
                  <a:lnTo>
                    <a:pt x="19697" y="19557"/>
                  </a:lnTo>
                  <a:lnTo>
                    <a:pt x="18846" y="18668"/>
                  </a:lnTo>
                  <a:lnTo>
                    <a:pt x="18415" y="17779"/>
                  </a:lnTo>
                  <a:lnTo>
                    <a:pt x="18415" y="15366"/>
                  </a:lnTo>
                  <a:lnTo>
                    <a:pt x="18935" y="14223"/>
                  </a:lnTo>
                  <a:lnTo>
                    <a:pt x="19964" y="13207"/>
                  </a:lnTo>
                  <a:lnTo>
                    <a:pt x="20857" y="12445"/>
                  </a:lnTo>
                  <a:lnTo>
                    <a:pt x="20621" y="12445"/>
                  </a:lnTo>
                  <a:lnTo>
                    <a:pt x="22542" y="11810"/>
                  </a:lnTo>
                  <a:lnTo>
                    <a:pt x="48833" y="11810"/>
                  </a:lnTo>
                  <a:lnTo>
                    <a:pt x="46799" y="7492"/>
                  </a:lnTo>
                  <a:lnTo>
                    <a:pt x="42976" y="4571"/>
                  </a:lnTo>
                  <a:lnTo>
                    <a:pt x="39166" y="1523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0"/>
                  </a:moveTo>
                  <a:lnTo>
                    <a:pt x="27076" y="11810"/>
                  </a:lnTo>
                  <a:lnTo>
                    <a:pt x="29019" y="12445"/>
                  </a:lnTo>
                  <a:lnTo>
                    <a:pt x="30441" y="13715"/>
                  </a:lnTo>
                  <a:lnTo>
                    <a:pt x="32107" y="15366"/>
                  </a:lnTo>
                  <a:lnTo>
                    <a:pt x="31967" y="15366"/>
                  </a:lnTo>
                  <a:lnTo>
                    <a:pt x="32778" y="17144"/>
                  </a:lnTo>
                  <a:lnTo>
                    <a:pt x="33014" y="18668"/>
                  </a:lnTo>
                  <a:lnTo>
                    <a:pt x="33053" y="18922"/>
                  </a:lnTo>
                  <a:lnTo>
                    <a:pt x="33151" y="19557"/>
                  </a:lnTo>
                  <a:lnTo>
                    <a:pt x="33210" y="19938"/>
                  </a:lnTo>
                  <a:lnTo>
                    <a:pt x="49796" y="18922"/>
                  </a:lnTo>
                  <a:lnTo>
                    <a:pt x="49406" y="15366"/>
                  </a:lnTo>
                  <a:lnTo>
                    <a:pt x="49281" y="14223"/>
                  </a:lnTo>
                  <a:lnTo>
                    <a:pt x="49170" y="13207"/>
                  </a:lnTo>
                  <a:lnTo>
                    <a:pt x="49086" y="12445"/>
                  </a:lnTo>
                  <a:lnTo>
                    <a:pt x="48833" y="11810"/>
                  </a:lnTo>
                  <a:close/>
                </a:path>
                <a:path w="440690" h="65404">
                  <a:moveTo>
                    <a:pt x="75666" y="18541"/>
                  </a:moveTo>
                  <a:lnTo>
                    <a:pt x="59778" y="18541"/>
                  </a:lnTo>
                  <a:lnTo>
                    <a:pt x="59778" y="53720"/>
                  </a:lnTo>
                  <a:lnTo>
                    <a:pt x="61010" y="58165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69"/>
                  </a:lnTo>
                  <a:lnTo>
                    <a:pt x="84213" y="62229"/>
                  </a:lnTo>
                  <a:lnTo>
                    <a:pt x="86436" y="60070"/>
                  </a:lnTo>
                  <a:lnTo>
                    <a:pt x="88646" y="57022"/>
                  </a:lnTo>
                  <a:lnTo>
                    <a:pt x="103403" y="57022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0"/>
                  </a:lnTo>
                  <a:lnTo>
                    <a:pt x="76149" y="48640"/>
                  </a:lnTo>
                  <a:lnTo>
                    <a:pt x="75666" y="46608"/>
                  </a:lnTo>
                  <a:lnTo>
                    <a:pt x="75666" y="18541"/>
                  </a:lnTo>
                  <a:close/>
                </a:path>
                <a:path w="440690" h="65404">
                  <a:moveTo>
                    <a:pt x="103403" y="57022"/>
                  </a:moveTo>
                  <a:lnTo>
                    <a:pt x="88646" y="57022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2"/>
                  </a:lnTo>
                  <a:close/>
                </a:path>
                <a:path w="440690" h="65404">
                  <a:moveTo>
                    <a:pt x="103403" y="18541"/>
                  </a:moveTo>
                  <a:lnTo>
                    <a:pt x="87591" y="18541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1"/>
                  </a:lnTo>
                  <a:close/>
                </a:path>
                <a:path w="440690" h="65404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69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5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4">
                  <a:moveTo>
                    <a:pt x="129311" y="1142"/>
                  </a:moveTo>
                  <a:lnTo>
                    <a:pt x="113347" y="1142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59"/>
                  </a:lnTo>
                  <a:lnTo>
                    <a:pt x="129319" y="45846"/>
                  </a:lnTo>
                  <a:lnTo>
                    <a:pt x="129197" y="37718"/>
                  </a:lnTo>
                  <a:lnTo>
                    <a:pt x="129882" y="35051"/>
                  </a:lnTo>
                  <a:lnTo>
                    <a:pt x="132600" y="31495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2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5"/>
                  </a:lnTo>
                  <a:lnTo>
                    <a:pt x="141161" y="33273"/>
                  </a:lnTo>
                  <a:lnTo>
                    <a:pt x="142358" y="35051"/>
                  </a:lnTo>
                  <a:lnTo>
                    <a:pt x="142951" y="37718"/>
                  </a:lnTo>
                  <a:lnTo>
                    <a:pt x="142840" y="45846"/>
                  </a:lnTo>
                  <a:lnTo>
                    <a:pt x="142316" y="48259"/>
                  </a:lnTo>
                  <a:lnTo>
                    <a:pt x="141033" y="49910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1"/>
                  </a:lnTo>
                  <a:lnTo>
                    <a:pt x="158762" y="45846"/>
                  </a:lnTo>
                  <a:lnTo>
                    <a:pt x="158762" y="33273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1"/>
                  </a:moveTo>
                  <a:lnTo>
                    <a:pt x="166725" y="18541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1"/>
                  </a:lnTo>
                  <a:lnTo>
                    <a:pt x="236728" y="31241"/>
                  </a:lnTo>
                  <a:lnTo>
                    <a:pt x="236728" y="29337"/>
                  </a:lnTo>
                  <a:lnTo>
                    <a:pt x="235621" y="25272"/>
                  </a:lnTo>
                  <a:lnTo>
                    <a:pt x="181495" y="25272"/>
                  </a:lnTo>
                  <a:lnTo>
                    <a:pt x="181495" y="18541"/>
                  </a:lnTo>
                  <a:close/>
                </a:path>
                <a:path w="440690" h="65404">
                  <a:moveTo>
                    <a:pt x="213995" y="31241"/>
                  </a:moveTo>
                  <a:lnTo>
                    <a:pt x="189928" y="31241"/>
                  </a:lnTo>
                  <a:lnTo>
                    <a:pt x="190906" y="31495"/>
                  </a:lnTo>
                  <a:lnTo>
                    <a:pt x="192570" y="33019"/>
                  </a:lnTo>
                  <a:lnTo>
                    <a:pt x="193154" y="33908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1"/>
                  </a:lnTo>
                  <a:close/>
                </a:path>
                <a:path w="440690" h="65404">
                  <a:moveTo>
                    <a:pt x="236728" y="31241"/>
                  </a:moveTo>
                  <a:lnTo>
                    <a:pt x="217424" y="31241"/>
                  </a:lnTo>
                  <a:lnTo>
                    <a:pt x="218732" y="32130"/>
                  </a:lnTo>
                  <a:lnTo>
                    <a:pt x="220522" y="34670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1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0"/>
                  </a:lnTo>
                  <a:lnTo>
                    <a:pt x="185762" y="20446"/>
                  </a:lnTo>
                  <a:lnTo>
                    <a:pt x="183616" y="22478"/>
                  </a:lnTo>
                  <a:lnTo>
                    <a:pt x="181495" y="25272"/>
                  </a:lnTo>
                  <a:lnTo>
                    <a:pt x="208292" y="25272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0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0"/>
                  </a:lnTo>
                  <a:lnTo>
                    <a:pt x="216893" y="18160"/>
                  </a:lnTo>
                  <a:lnTo>
                    <a:pt x="215087" y="19176"/>
                  </a:lnTo>
                  <a:lnTo>
                    <a:pt x="213042" y="20192"/>
                  </a:lnTo>
                  <a:lnTo>
                    <a:pt x="210781" y="22225"/>
                  </a:lnTo>
                  <a:lnTo>
                    <a:pt x="208292" y="25272"/>
                  </a:lnTo>
                  <a:lnTo>
                    <a:pt x="235621" y="25272"/>
                  </a:lnTo>
                  <a:lnTo>
                    <a:pt x="235483" y="24764"/>
                  </a:lnTo>
                  <a:lnTo>
                    <a:pt x="230517" y="18922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2"/>
                  </a:moveTo>
                  <a:lnTo>
                    <a:pt x="246443" y="1142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2"/>
                  </a:lnTo>
                  <a:close/>
                </a:path>
                <a:path w="440690" h="65404">
                  <a:moveTo>
                    <a:pt x="262255" y="18541"/>
                  </a:moveTo>
                  <a:lnTo>
                    <a:pt x="246443" y="18541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1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6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1"/>
                  </a:moveTo>
                  <a:lnTo>
                    <a:pt x="269163" y="18541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1"/>
                  </a:lnTo>
                  <a:close/>
                </a:path>
                <a:path w="440690" h="65404">
                  <a:moveTo>
                    <a:pt x="290842" y="1142"/>
                  </a:moveTo>
                  <a:lnTo>
                    <a:pt x="274993" y="10159"/>
                  </a:lnTo>
                  <a:lnTo>
                    <a:pt x="274993" y="18541"/>
                  </a:lnTo>
                  <a:lnTo>
                    <a:pt x="290842" y="18541"/>
                  </a:lnTo>
                  <a:lnTo>
                    <a:pt x="290842" y="1142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6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1"/>
                  </a:moveTo>
                  <a:lnTo>
                    <a:pt x="304215" y="18541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1"/>
                  </a:lnTo>
                  <a:close/>
                </a:path>
                <a:path w="440690" h="65404">
                  <a:moveTo>
                    <a:pt x="325894" y="1142"/>
                  </a:moveTo>
                  <a:lnTo>
                    <a:pt x="310045" y="10159"/>
                  </a:lnTo>
                  <a:lnTo>
                    <a:pt x="310045" y="18541"/>
                  </a:lnTo>
                  <a:lnTo>
                    <a:pt x="325894" y="18541"/>
                  </a:lnTo>
                  <a:lnTo>
                    <a:pt x="325894" y="1142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6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7"/>
                  </a:lnTo>
                  <a:lnTo>
                    <a:pt x="363131" y="55117"/>
                  </a:lnTo>
                  <a:lnTo>
                    <a:pt x="361099" y="54101"/>
                  </a:lnTo>
                  <a:lnTo>
                    <a:pt x="359575" y="52069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8"/>
                  </a:lnTo>
                  <a:lnTo>
                    <a:pt x="357543" y="45846"/>
                  </a:lnTo>
                  <a:lnTo>
                    <a:pt x="389166" y="45846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0"/>
                  </a:lnTo>
                  <a:lnTo>
                    <a:pt x="358352" y="32892"/>
                  </a:lnTo>
                  <a:lnTo>
                    <a:pt x="358432" y="32638"/>
                  </a:lnTo>
                  <a:lnTo>
                    <a:pt x="359321" y="31241"/>
                  </a:lnTo>
                  <a:lnTo>
                    <a:pt x="360845" y="29082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6"/>
                  </a:lnTo>
                  <a:lnTo>
                    <a:pt x="375323" y="18541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7"/>
                  </a:lnTo>
                  <a:lnTo>
                    <a:pt x="386936" y="55117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2"/>
                  </a:lnTo>
                  <a:lnTo>
                    <a:pt x="372783" y="34035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2"/>
                  </a:lnTo>
                  <a:lnTo>
                    <a:pt x="386499" y="29082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1"/>
                  </a:lnTo>
                  <a:lnTo>
                    <a:pt x="396405" y="27558"/>
                  </a:lnTo>
                  <a:lnTo>
                    <a:pt x="394789" y="33273"/>
                  </a:lnTo>
                  <a:lnTo>
                    <a:pt x="394754" y="47751"/>
                  </a:lnTo>
                  <a:lnTo>
                    <a:pt x="396278" y="53593"/>
                  </a:lnTo>
                  <a:lnTo>
                    <a:pt x="402120" y="62991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0"/>
                  </a:lnTo>
                  <a:lnTo>
                    <a:pt x="411264" y="48259"/>
                  </a:lnTo>
                  <a:lnTo>
                    <a:pt x="410629" y="45465"/>
                  </a:lnTo>
                  <a:lnTo>
                    <a:pt x="410629" y="37718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5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7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5"/>
                  </a:lnTo>
                  <a:lnTo>
                    <a:pt x="422313" y="33273"/>
                  </a:lnTo>
                  <a:lnTo>
                    <a:pt x="423583" y="35051"/>
                  </a:lnTo>
                  <a:lnTo>
                    <a:pt x="424345" y="37718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2"/>
                  </a:moveTo>
                  <a:lnTo>
                    <a:pt x="424218" y="1142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2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4500" y="3753739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03-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57200" y="420814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457200" y="4335145"/>
            <a:ext cx="311150" cy="190500"/>
            <a:chOff x="457200" y="4335145"/>
            <a:chExt cx="311150" cy="190500"/>
          </a:xfrm>
        </p:grpSpPr>
        <p:sp>
          <p:nvSpPr>
            <p:cNvPr id="21" name="object 21"/>
            <p:cNvSpPr/>
            <p:nvPr/>
          </p:nvSpPr>
          <p:spPr>
            <a:xfrm>
              <a:off x="457200" y="43351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9686" y="4399407"/>
              <a:ext cx="50165" cy="65405"/>
            </a:xfrm>
            <a:custGeom>
              <a:avLst/>
              <a:gdLst/>
              <a:ahLst/>
              <a:cxnLst/>
              <a:rect l="l" t="t" r="r" b="b"/>
              <a:pathLst>
                <a:path w="50165" h="65404">
                  <a:moveTo>
                    <a:pt x="32169" y="0"/>
                  </a:moveTo>
                  <a:lnTo>
                    <a:pt x="17487" y="0"/>
                  </a:lnTo>
                  <a:lnTo>
                    <a:pt x="12204" y="1396"/>
                  </a:lnTo>
                  <a:lnTo>
                    <a:pt x="4737" y="7112"/>
                  </a:lnTo>
                  <a:lnTo>
                    <a:pt x="2222" y="11175"/>
                  </a:lnTo>
                  <a:lnTo>
                    <a:pt x="901" y="16382"/>
                  </a:lnTo>
                  <a:lnTo>
                    <a:pt x="16687" y="19430"/>
                  </a:lnTo>
                  <a:lnTo>
                    <a:pt x="17132" y="16255"/>
                  </a:lnTo>
                  <a:lnTo>
                    <a:pt x="17970" y="14096"/>
                  </a:lnTo>
                  <a:lnTo>
                    <a:pt x="20421" y="11556"/>
                  </a:lnTo>
                  <a:lnTo>
                    <a:pt x="22021" y="10921"/>
                  </a:lnTo>
                  <a:lnTo>
                    <a:pt x="25907" y="10921"/>
                  </a:lnTo>
                  <a:lnTo>
                    <a:pt x="27406" y="11556"/>
                  </a:lnTo>
                  <a:lnTo>
                    <a:pt x="29590" y="13842"/>
                  </a:lnTo>
                  <a:lnTo>
                    <a:pt x="30137" y="15366"/>
                  </a:lnTo>
                  <a:lnTo>
                    <a:pt x="30137" y="19303"/>
                  </a:lnTo>
                  <a:lnTo>
                    <a:pt x="29413" y="21081"/>
                  </a:lnTo>
                  <a:lnTo>
                    <a:pt x="26492" y="24002"/>
                  </a:lnTo>
                  <a:lnTo>
                    <a:pt x="24663" y="24764"/>
                  </a:lnTo>
                  <a:lnTo>
                    <a:pt x="22478" y="24764"/>
                  </a:lnTo>
                  <a:lnTo>
                    <a:pt x="20307" y="24510"/>
                  </a:lnTo>
                  <a:lnTo>
                    <a:pt x="19443" y="37083"/>
                  </a:lnTo>
                  <a:lnTo>
                    <a:pt x="21742" y="36321"/>
                  </a:lnTo>
                  <a:lnTo>
                    <a:pt x="23545" y="36067"/>
                  </a:lnTo>
                  <a:lnTo>
                    <a:pt x="27317" y="36067"/>
                  </a:lnTo>
                  <a:lnTo>
                    <a:pt x="29260" y="36829"/>
                  </a:lnTo>
                  <a:lnTo>
                    <a:pt x="32131" y="40004"/>
                  </a:lnTo>
                  <a:lnTo>
                    <a:pt x="32842" y="42290"/>
                  </a:lnTo>
                  <a:lnTo>
                    <a:pt x="32842" y="48132"/>
                  </a:lnTo>
                  <a:lnTo>
                    <a:pt x="32105" y="50418"/>
                  </a:lnTo>
                  <a:lnTo>
                    <a:pt x="29121" y="53847"/>
                  </a:lnTo>
                  <a:lnTo>
                    <a:pt x="27254" y="54737"/>
                  </a:lnTo>
                  <a:lnTo>
                    <a:pt x="22885" y="54737"/>
                  </a:lnTo>
                  <a:lnTo>
                    <a:pt x="21132" y="54101"/>
                  </a:lnTo>
                  <a:lnTo>
                    <a:pt x="18364" y="51307"/>
                  </a:lnTo>
                  <a:lnTo>
                    <a:pt x="17348" y="48894"/>
                  </a:lnTo>
                  <a:lnTo>
                    <a:pt x="16687" y="45338"/>
                  </a:lnTo>
                  <a:lnTo>
                    <a:pt x="0" y="47625"/>
                  </a:lnTo>
                  <a:lnTo>
                    <a:pt x="19964" y="65404"/>
                  </a:lnTo>
                  <a:lnTo>
                    <a:pt x="31026" y="65404"/>
                  </a:lnTo>
                  <a:lnTo>
                    <a:pt x="49656" y="48005"/>
                  </a:lnTo>
                  <a:lnTo>
                    <a:pt x="49656" y="41401"/>
                  </a:lnTo>
                  <a:lnTo>
                    <a:pt x="38011" y="29463"/>
                  </a:lnTo>
                  <a:lnTo>
                    <a:pt x="40881" y="27812"/>
                  </a:lnTo>
                  <a:lnTo>
                    <a:pt x="43027" y="25907"/>
                  </a:lnTo>
                  <a:lnTo>
                    <a:pt x="45872" y="21462"/>
                  </a:lnTo>
                  <a:lnTo>
                    <a:pt x="46583" y="19050"/>
                  </a:lnTo>
                  <a:lnTo>
                    <a:pt x="46583" y="11556"/>
                  </a:lnTo>
                  <a:lnTo>
                    <a:pt x="44831" y="7746"/>
                  </a:lnTo>
                  <a:lnTo>
                    <a:pt x="37833" y="1523"/>
                  </a:lnTo>
                  <a:lnTo>
                    <a:pt x="3216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838200" y="4335145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889000" h="190500">
                <a:moveTo>
                  <a:pt x="793750" y="0"/>
                </a:moveTo>
                <a:lnTo>
                  <a:pt x="95250" y="0"/>
                </a:lnTo>
                <a:lnTo>
                  <a:pt x="58178" y="7492"/>
                </a:lnTo>
                <a:lnTo>
                  <a:pt x="27901" y="27939"/>
                </a:lnTo>
                <a:lnTo>
                  <a:pt x="7480" y="58165"/>
                </a:lnTo>
                <a:lnTo>
                  <a:pt x="0" y="95250"/>
                </a:lnTo>
                <a:lnTo>
                  <a:pt x="7480" y="132333"/>
                </a:lnTo>
                <a:lnTo>
                  <a:pt x="27901" y="162559"/>
                </a:lnTo>
                <a:lnTo>
                  <a:pt x="58178" y="183006"/>
                </a:lnTo>
                <a:lnTo>
                  <a:pt x="95250" y="190500"/>
                </a:lnTo>
                <a:lnTo>
                  <a:pt x="793750" y="190500"/>
                </a:lnTo>
                <a:lnTo>
                  <a:pt x="830833" y="183006"/>
                </a:lnTo>
                <a:lnTo>
                  <a:pt x="861060" y="162559"/>
                </a:lnTo>
                <a:lnTo>
                  <a:pt x="881507" y="132333"/>
                </a:lnTo>
                <a:lnTo>
                  <a:pt x="889000" y="95250"/>
                </a:lnTo>
                <a:lnTo>
                  <a:pt x="881507" y="58165"/>
                </a:lnTo>
                <a:lnTo>
                  <a:pt x="861060" y="27939"/>
                </a:lnTo>
                <a:lnTo>
                  <a:pt x="830833" y="7492"/>
                </a:lnTo>
                <a:lnTo>
                  <a:pt x="793750" y="0"/>
                </a:lnTo>
                <a:close/>
              </a:path>
            </a:pathLst>
          </a:custGeom>
          <a:solidFill>
            <a:srgbClr val="C1EB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4500" y="4363339"/>
            <a:ext cx="116332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722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Internet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40" dirty="0">
                <a:solidFill>
                  <a:srgbClr val="171717"/>
                </a:solidFill>
                <a:latin typeface="Arial Black"/>
                <a:cs typeface="Arial Black"/>
                <a:hlinkClick r:id="rId6"/>
              </a:rPr>
              <a:t>www.coursehero.com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200" y="481774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57200" y="4944745"/>
            <a:ext cx="311150" cy="190500"/>
            <a:chOff x="457200" y="4944745"/>
            <a:chExt cx="311150" cy="190500"/>
          </a:xfrm>
        </p:grpSpPr>
        <p:sp>
          <p:nvSpPr>
            <p:cNvPr id="27" name="object 27"/>
            <p:cNvSpPr/>
            <p:nvPr/>
          </p:nvSpPr>
          <p:spPr>
            <a:xfrm>
              <a:off x="457200" y="49447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8467" y="5009007"/>
              <a:ext cx="52705" cy="64769"/>
            </a:xfrm>
            <a:custGeom>
              <a:avLst/>
              <a:gdLst/>
              <a:ahLst/>
              <a:cxnLst/>
              <a:rect l="l" t="t" r="r" b="b"/>
              <a:pathLst>
                <a:path w="52704" h="64770">
                  <a:moveTo>
                    <a:pt x="44970" y="52577"/>
                  </a:moveTo>
                  <a:lnTo>
                    <a:pt x="30416" y="52577"/>
                  </a:lnTo>
                  <a:lnTo>
                    <a:pt x="30416" y="64388"/>
                  </a:lnTo>
                  <a:lnTo>
                    <a:pt x="44970" y="64388"/>
                  </a:lnTo>
                  <a:lnTo>
                    <a:pt x="44970" y="52577"/>
                  </a:lnTo>
                  <a:close/>
                </a:path>
                <a:path w="52704" h="64770">
                  <a:moveTo>
                    <a:pt x="44970" y="0"/>
                  </a:moveTo>
                  <a:lnTo>
                    <a:pt x="30416" y="0"/>
                  </a:lnTo>
                  <a:lnTo>
                    <a:pt x="0" y="38100"/>
                  </a:lnTo>
                  <a:lnTo>
                    <a:pt x="0" y="52577"/>
                  </a:lnTo>
                  <a:lnTo>
                    <a:pt x="52514" y="52577"/>
                  </a:lnTo>
                  <a:lnTo>
                    <a:pt x="52514" y="38862"/>
                  </a:lnTo>
                  <a:lnTo>
                    <a:pt x="14338" y="38862"/>
                  </a:lnTo>
                  <a:lnTo>
                    <a:pt x="30416" y="19050"/>
                  </a:lnTo>
                  <a:lnTo>
                    <a:pt x="44970" y="19050"/>
                  </a:lnTo>
                  <a:lnTo>
                    <a:pt x="44970" y="0"/>
                  </a:lnTo>
                  <a:close/>
                </a:path>
                <a:path w="52704" h="64770">
                  <a:moveTo>
                    <a:pt x="44970" y="19050"/>
                  </a:moveTo>
                  <a:lnTo>
                    <a:pt x="30416" y="19050"/>
                  </a:lnTo>
                  <a:lnTo>
                    <a:pt x="30416" y="38862"/>
                  </a:lnTo>
                  <a:lnTo>
                    <a:pt x="44970" y="38862"/>
                  </a:lnTo>
                  <a:lnTo>
                    <a:pt x="44970" y="1905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38200" y="4944745"/>
            <a:ext cx="889000" cy="190500"/>
            <a:chOff x="838200" y="4944745"/>
            <a:chExt cx="889000" cy="190500"/>
          </a:xfrm>
        </p:grpSpPr>
        <p:sp>
          <p:nvSpPr>
            <p:cNvPr id="30" name="object 30"/>
            <p:cNvSpPr/>
            <p:nvPr/>
          </p:nvSpPr>
          <p:spPr>
            <a:xfrm>
              <a:off x="838200" y="4944745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EBD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5631" y="500900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7"/>
                  </a:lnTo>
                  <a:lnTo>
                    <a:pt x="6337" y="59308"/>
                  </a:lnTo>
                  <a:lnTo>
                    <a:pt x="10058" y="63372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2"/>
                  </a:lnTo>
                  <a:lnTo>
                    <a:pt x="43789" y="61087"/>
                  </a:lnTo>
                  <a:lnTo>
                    <a:pt x="46609" y="58419"/>
                  </a:lnTo>
                  <a:lnTo>
                    <a:pt x="49760" y="53085"/>
                  </a:lnTo>
                  <a:lnTo>
                    <a:pt x="23355" y="53085"/>
                  </a:lnTo>
                  <a:lnTo>
                    <a:pt x="20764" y="51815"/>
                  </a:lnTo>
                  <a:lnTo>
                    <a:pt x="18961" y="49148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7"/>
                  </a:lnTo>
                  <a:lnTo>
                    <a:pt x="3216" y="11810"/>
                  </a:lnTo>
                  <a:lnTo>
                    <a:pt x="2913" y="12445"/>
                  </a:lnTo>
                  <a:lnTo>
                    <a:pt x="2417" y="14223"/>
                  </a:lnTo>
                  <a:lnTo>
                    <a:pt x="2133" y="15366"/>
                  </a:lnTo>
                  <a:lnTo>
                    <a:pt x="2185" y="23621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3"/>
                  </a:lnTo>
                  <a:lnTo>
                    <a:pt x="31330" y="40766"/>
                  </a:lnTo>
                  <a:lnTo>
                    <a:pt x="32755" y="42290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3"/>
                  </a:lnTo>
                  <a:lnTo>
                    <a:pt x="29235" y="53085"/>
                  </a:lnTo>
                  <a:lnTo>
                    <a:pt x="49760" y="53085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5"/>
                  </a:lnTo>
                  <a:lnTo>
                    <a:pt x="50901" y="37210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19"/>
                  </a:lnTo>
                  <a:lnTo>
                    <a:pt x="19697" y="19557"/>
                  </a:lnTo>
                  <a:lnTo>
                    <a:pt x="18846" y="18668"/>
                  </a:lnTo>
                  <a:lnTo>
                    <a:pt x="18415" y="17779"/>
                  </a:lnTo>
                  <a:lnTo>
                    <a:pt x="18415" y="15366"/>
                  </a:lnTo>
                  <a:lnTo>
                    <a:pt x="18935" y="14223"/>
                  </a:lnTo>
                  <a:lnTo>
                    <a:pt x="19964" y="13207"/>
                  </a:lnTo>
                  <a:lnTo>
                    <a:pt x="20857" y="12445"/>
                  </a:lnTo>
                  <a:lnTo>
                    <a:pt x="20621" y="12445"/>
                  </a:lnTo>
                  <a:lnTo>
                    <a:pt x="22542" y="11810"/>
                  </a:lnTo>
                  <a:lnTo>
                    <a:pt x="48833" y="11810"/>
                  </a:lnTo>
                  <a:lnTo>
                    <a:pt x="46799" y="7492"/>
                  </a:lnTo>
                  <a:lnTo>
                    <a:pt x="42976" y="4571"/>
                  </a:lnTo>
                  <a:lnTo>
                    <a:pt x="39166" y="1523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0"/>
                  </a:moveTo>
                  <a:lnTo>
                    <a:pt x="27076" y="11810"/>
                  </a:lnTo>
                  <a:lnTo>
                    <a:pt x="29019" y="12445"/>
                  </a:lnTo>
                  <a:lnTo>
                    <a:pt x="30441" y="13715"/>
                  </a:lnTo>
                  <a:lnTo>
                    <a:pt x="32107" y="15366"/>
                  </a:lnTo>
                  <a:lnTo>
                    <a:pt x="31967" y="15366"/>
                  </a:lnTo>
                  <a:lnTo>
                    <a:pt x="32778" y="17144"/>
                  </a:lnTo>
                  <a:lnTo>
                    <a:pt x="33014" y="18668"/>
                  </a:lnTo>
                  <a:lnTo>
                    <a:pt x="33053" y="18922"/>
                  </a:lnTo>
                  <a:lnTo>
                    <a:pt x="33151" y="19557"/>
                  </a:lnTo>
                  <a:lnTo>
                    <a:pt x="33210" y="19938"/>
                  </a:lnTo>
                  <a:lnTo>
                    <a:pt x="49796" y="18922"/>
                  </a:lnTo>
                  <a:lnTo>
                    <a:pt x="49406" y="15366"/>
                  </a:lnTo>
                  <a:lnTo>
                    <a:pt x="49281" y="14223"/>
                  </a:lnTo>
                  <a:lnTo>
                    <a:pt x="49170" y="13207"/>
                  </a:lnTo>
                  <a:lnTo>
                    <a:pt x="49086" y="12445"/>
                  </a:lnTo>
                  <a:lnTo>
                    <a:pt x="48833" y="11810"/>
                  </a:lnTo>
                  <a:close/>
                </a:path>
                <a:path w="440690" h="65404">
                  <a:moveTo>
                    <a:pt x="75666" y="18541"/>
                  </a:moveTo>
                  <a:lnTo>
                    <a:pt x="59778" y="18541"/>
                  </a:lnTo>
                  <a:lnTo>
                    <a:pt x="59778" y="53720"/>
                  </a:lnTo>
                  <a:lnTo>
                    <a:pt x="61010" y="58165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69"/>
                  </a:lnTo>
                  <a:lnTo>
                    <a:pt x="84213" y="62229"/>
                  </a:lnTo>
                  <a:lnTo>
                    <a:pt x="86436" y="60070"/>
                  </a:lnTo>
                  <a:lnTo>
                    <a:pt x="88646" y="57022"/>
                  </a:lnTo>
                  <a:lnTo>
                    <a:pt x="103403" y="57022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0"/>
                  </a:lnTo>
                  <a:lnTo>
                    <a:pt x="76149" y="48640"/>
                  </a:lnTo>
                  <a:lnTo>
                    <a:pt x="75666" y="46608"/>
                  </a:lnTo>
                  <a:lnTo>
                    <a:pt x="75666" y="18541"/>
                  </a:lnTo>
                  <a:close/>
                </a:path>
                <a:path w="440690" h="65404">
                  <a:moveTo>
                    <a:pt x="103403" y="57022"/>
                  </a:moveTo>
                  <a:lnTo>
                    <a:pt x="88646" y="57022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2"/>
                  </a:lnTo>
                  <a:close/>
                </a:path>
                <a:path w="440690" h="65404">
                  <a:moveTo>
                    <a:pt x="103403" y="18541"/>
                  </a:moveTo>
                  <a:lnTo>
                    <a:pt x="87591" y="18541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1"/>
                  </a:lnTo>
                  <a:close/>
                </a:path>
                <a:path w="440690" h="65404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69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5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4">
                  <a:moveTo>
                    <a:pt x="129311" y="1142"/>
                  </a:moveTo>
                  <a:lnTo>
                    <a:pt x="113347" y="1142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59"/>
                  </a:lnTo>
                  <a:lnTo>
                    <a:pt x="129319" y="45846"/>
                  </a:lnTo>
                  <a:lnTo>
                    <a:pt x="129197" y="37718"/>
                  </a:lnTo>
                  <a:lnTo>
                    <a:pt x="129882" y="35051"/>
                  </a:lnTo>
                  <a:lnTo>
                    <a:pt x="132600" y="31495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2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5"/>
                  </a:lnTo>
                  <a:lnTo>
                    <a:pt x="141161" y="33273"/>
                  </a:lnTo>
                  <a:lnTo>
                    <a:pt x="142358" y="35051"/>
                  </a:lnTo>
                  <a:lnTo>
                    <a:pt x="142951" y="37718"/>
                  </a:lnTo>
                  <a:lnTo>
                    <a:pt x="142840" y="45846"/>
                  </a:lnTo>
                  <a:lnTo>
                    <a:pt x="142316" y="48259"/>
                  </a:lnTo>
                  <a:lnTo>
                    <a:pt x="141033" y="49910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1"/>
                  </a:lnTo>
                  <a:lnTo>
                    <a:pt x="158762" y="45846"/>
                  </a:lnTo>
                  <a:lnTo>
                    <a:pt x="158762" y="33273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1"/>
                  </a:moveTo>
                  <a:lnTo>
                    <a:pt x="166725" y="18541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1"/>
                  </a:lnTo>
                  <a:lnTo>
                    <a:pt x="236728" y="31241"/>
                  </a:lnTo>
                  <a:lnTo>
                    <a:pt x="236728" y="29337"/>
                  </a:lnTo>
                  <a:lnTo>
                    <a:pt x="235621" y="25272"/>
                  </a:lnTo>
                  <a:lnTo>
                    <a:pt x="181495" y="25272"/>
                  </a:lnTo>
                  <a:lnTo>
                    <a:pt x="181495" y="18541"/>
                  </a:lnTo>
                  <a:close/>
                </a:path>
                <a:path w="440690" h="65404">
                  <a:moveTo>
                    <a:pt x="213995" y="31241"/>
                  </a:moveTo>
                  <a:lnTo>
                    <a:pt x="189928" y="31241"/>
                  </a:lnTo>
                  <a:lnTo>
                    <a:pt x="190906" y="31495"/>
                  </a:lnTo>
                  <a:lnTo>
                    <a:pt x="192570" y="33019"/>
                  </a:lnTo>
                  <a:lnTo>
                    <a:pt x="193154" y="33908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1"/>
                  </a:lnTo>
                  <a:close/>
                </a:path>
                <a:path w="440690" h="65404">
                  <a:moveTo>
                    <a:pt x="236728" y="31241"/>
                  </a:moveTo>
                  <a:lnTo>
                    <a:pt x="217424" y="31241"/>
                  </a:lnTo>
                  <a:lnTo>
                    <a:pt x="218732" y="32130"/>
                  </a:lnTo>
                  <a:lnTo>
                    <a:pt x="220522" y="34670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1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0"/>
                  </a:lnTo>
                  <a:lnTo>
                    <a:pt x="185762" y="20446"/>
                  </a:lnTo>
                  <a:lnTo>
                    <a:pt x="183616" y="22478"/>
                  </a:lnTo>
                  <a:lnTo>
                    <a:pt x="181495" y="25272"/>
                  </a:lnTo>
                  <a:lnTo>
                    <a:pt x="208292" y="25272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0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0"/>
                  </a:lnTo>
                  <a:lnTo>
                    <a:pt x="216893" y="18160"/>
                  </a:lnTo>
                  <a:lnTo>
                    <a:pt x="215087" y="19176"/>
                  </a:lnTo>
                  <a:lnTo>
                    <a:pt x="213042" y="20192"/>
                  </a:lnTo>
                  <a:lnTo>
                    <a:pt x="210781" y="22225"/>
                  </a:lnTo>
                  <a:lnTo>
                    <a:pt x="208292" y="25272"/>
                  </a:lnTo>
                  <a:lnTo>
                    <a:pt x="235621" y="25272"/>
                  </a:lnTo>
                  <a:lnTo>
                    <a:pt x="235483" y="24764"/>
                  </a:lnTo>
                  <a:lnTo>
                    <a:pt x="230517" y="18922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2"/>
                  </a:moveTo>
                  <a:lnTo>
                    <a:pt x="246443" y="1142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2"/>
                  </a:lnTo>
                  <a:close/>
                </a:path>
                <a:path w="440690" h="65404">
                  <a:moveTo>
                    <a:pt x="262255" y="18541"/>
                  </a:moveTo>
                  <a:lnTo>
                    <a:pt x="246443" y="18541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1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6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1"/>
                  </a:moveTo>
                  <a:lnTo>
                    <a:pt x="269163" y="18541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1"/>
                  </a:lnTo>
                  <a:close/>
                </a:path>
                <a:path w="440690" h="65404">
                  <a:moveTo>
                    <a:pt x="290842" y="1142"/>
                  </a:moveTo>
                  <a:lnTo>
                    <a:pt x="274993" y="10159"/>
                  </a:lnTo>
                  <a:lnTo>
                    <a:pt x="274993" y="18541"/>
                  </a:lnTo>
                  <a:lnTo>
                    <a:pt x="290842" y="18541"/>
                  </a:lnTo>
                  <a:lnTo>
                    <a:pt x="290842" y="1142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6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1"/>
                  </a:moveTo>
                  <a:lnTo>
                    <a:pt x="304215" y="18541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1"/>
                  </a:lnTo>
                  <a:close/>
                </a:path>
                <a:path w="440690" h="65404">
                  <a:moveTo>
                    <a:pt x="325894" y="1142"/>
                  </a:moveTo>
                  <a:lnTo>
                    <a:pt x="310045" y="10159"/>
                  </a:lnTo>
                  <a:lnTo>
                    <a:pt x="310045" y="18541"/>
                  </a:lnTo>
                  <a:lnTo>
                    <a:pt x="325894" y="18541"/>
                  </a:lnTo>
                  <a:lnTo>
                    <a:pt x="325894" y="1142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6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7"/>
                  </a:lnTo>
                  <a:lnTo>
                    <a:pt x="363131" y="55117"/>
                  </a:lnTo>
                  <a:lnTo>
                    <a:pt x="361099" y="54101"/>
                  </a:lnTo>
                  <a:lnTo>
                    <a:pt x="359575" y="52069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8"/>
                  </a:lnTo>
                  <a:lnTo>
                    <a:pt x="357543" y="45846"/>
                  </a:lnTo>
                  <a:lnTo>
                    <a:pt x="389166" y="45846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0"/>
                  </a:lnTo>
                  <a:lnTo>
                    <a:pt x="358352" y="32892"/>
                  </a:lnTo>
                  <a:lnTo>
                    <a:pt x="358432" y="32638"/>
                  </a:lnTo>
                  <a:lnTo>
                    <a:pt x="359321" y="31241"/>
                  </a:lnTo>
                  <a:lnTo>
                    <a:pt x="360845" y="29082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6"/>
                  </a:lnTo>
                  <a:lnTo>
                    <a:pt x="375323" y="18541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7"/>
                  </a:lnTo>
                  <a:lnTo>
                    <a:pt x="386936" y="55117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2"/>
                  </a:lnTo>
                  <a:lnTo>
                    <a:pt x="372783" y="34035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2"/>
                  </a:lnTo>
                  <a:lnTo>
                    <a:pt x="386499" y="29082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1"/>
                  </a:lnTo>
                  <a:lnTo>
                    <a:pt x="396405" y="27558"/>
                  </a:lnTo>
                  <a:lnTo>
                    <a:pt x="394789" y="33273"/>
                  </a:lnTo>
                  <a:lnTo>
                    <a:pt x="394754" y="47751"/>
                  </a:lnTo>
                  <a:lnTo>
                    <a:pt x="396278" y="53593"/>
                  </a:lnTo>
                  <a:lnTo>
                    <a:pt x="402120" y="62991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0"/>
                  </a:lnTo>
                  <a:lnTo>
                    <a:pt x="411264" y="48259"/>
                  </a:lnTo>
                  <a:lnTo>
                    <a:pt x="410629" y="45465"/>
                  </a:lnTo>
                  <a:lnTo>
                    <a:pt x="410629" y="37718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5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7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5"/>
                  </a:lnTo>
                  <a:lnTo>
                    <a:pt x="422313" y="33273"/>
                  </a:lnTo>
                  <a:lnTo>
                    <a:pt x="423583" y="35051"/>
                  </a:lnTo>
                  <a:lnTo>
                    <a:pt x="424345" y="37718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2"/>
                  </a:moveTo>
                  <a:lnTo>
                    <a:pt x="424218" y="1142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2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44500" y="4972939"/>
            <a:ext cx="1923414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4475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5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East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Anglia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2022-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09-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26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7200" y="542734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457200" y="5554345"/>
            <a:ext cx="311150" cy="190500"/>
            <a:chOff x="457200" y="5554345"/>
            <a:chExt cx="311150" cy="190500"/>
          </a:xfrm>
        </p:grpSpPr>
        <p:sp>
          <p:nvSpPr>
            <p:cNvPr id="35" name="object 35"/>
            <p:cNvSpPr/>
            <p:nvPr/>
          </p:nvSpPr>
          <p:spPr>
            <a:xfrm>
              <a:off x="457200" y="55543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9483" y="5619750"/>
              <a:ext cx="50165" cy="64769"/>
            </a:xfrm>
            <a:custGeom>
              <a:avLst/>
              <a:gdLst/>
              <a:ahLst/>
              <a:cxnLst/>
              <a:rect l="l" t="t" r="r" b="b"/>
              <a:pathLst>
                <a:path w="50165" h="64770">
                  <a:moveTo>
                    <a:pt x="47117" y="0"/>
                  </a:moveTo>
                  <a:lnTo>
                    <a:pt x="7467" y="0"/>
                  </a:lnTo>
                  <a:lnTo>
                    <a:pt x="2171" y="34036"/>
                  </a:lnTo>
                  <a:lnTo>
                    <a:pt x="16408" y="36195"/>
                  </a:lnTo>
                  <a:lnTo>
                    <a:pt x="17741" y="34544"/>
                  </a:lnTo>
                  <a:lnTo>
                    <a:pt x="18973" y="33527"/>
                  </a:lnTo>
                  <a:lnTo>
                    <a:pt x="21602" y="32003"/>
                  </a:lnTo>
                  <a:lnTo>
                    <a:pt x="23152" y="31623"/>
                  </a:lnTo>
                  <a:lnTo>
                    <a:pt x="27317" y="31623"/>
                  </a:lnTo>
                  <a:lnTo>
                    <a:pt x="29349" y="32512"/>
                  </a:lnTo>
                  <a:lnTo>
                    <a:pt x="32410" y="35940"/>
                  </a:lnTo>
                  <a:lnTo>
                    <a:pt x="33172" y="38735"/>
                  </a:lnTo>
                  <a:lnTo>
                    <a:pt x="33172" y="46227"/>
                  </a:lnTo>
                  <a:lnTo>
                    <a:pt x="32410" y="49022"/>
                  </a:lnTo>
                  <a:lnTo>
                    <a:pt x="29387" y="52704"/>
                  </a:lnTo>
                  <a:lnTo>
                    <a:pt x="27457" y="53594"/>
                  </a:lnTo>
                  <a:lnTo>
                    <a:pt x="23063" y="53594"/>
                  </a:lnTo>
                  <a:lnTo>
                    <a:pt x="21272" y="52832"/>
                  </a:lnTo>
                  <a:lnTo>
                    <a:pt x="18262" y="49911"/>
                  </a:lnTo>
                  <a:lnTo>
                    <a:pt x="17310" y="47751"/>
                  </a:lnTo>
                  <a:lnTo>
                    <a:pt x="16891" y="44958"/>
                  </a:lnTo>
                  <a:lnTo>
                    <a:pt x="0" y="46862"/>
                  </a:lnTo>
                  <a:lnTo>
                    <a:pt x="21335" y="64262"/>
                  </a:lnTo>
                  <a:lnTo>
                    <a:pt x="30822" y="64262"/>
                  </a:lnTo>
                  <a:lnTo>
                    <a:pt x="49987" y="44958"/>
                  </a:lnTo>
                  <a:lnTo>
                    <a:pt x="49987" y="35178"/>
                  </a:lnTo>
                  <a:lnTo>
                    <a:pt x="48107" y="30352"/>
                  </a:lnTo>
                  <a:lnTo>
                    <a:pt x="40627" y="22605"/>
                  </a:lnTo>
                  <a:lnTo>
                    <a:pt x="35737" y="20700"/>
                  </a:lnTo>
                  <a:lnTo>
                    <a:pt x="27952" y="20700"/>
                  </a:lnTo>
                  <a:lnTo>
                    <a:pt x="26162" y="20954"/>
                  </a:lnTo>
                  <a:lnTo>
                    <a:pt x="22517" y="21844"/>
                  </a:lnTo>
                  <a:lnTo>
                    <a:pt x="18821" y="23495"/>
                  </a:lnTo>
                  <a:lnTo>
                    <a:pt x="20256" y="13970"/>
                  </a:lnTo>
                  <a:lnTo>
                    <a:pt x="47117" y="13970"/>
                  </a:lnTo>
                  <a:lnTo>
                    <a:pt x="47117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38200" y="5554345"/>
            <a:ext cx="889000" cy="190500"/>
            <a:chOff x="838200" y="5554345"/>
            <a:chExt cx="889000" cy="190500"/>
          </a:xfrm>
        </p:grpSpPr>
        <p:sp>
          <p:nvSpPr>
            <p:cNvPr id="38" name="object 38"/>
            <p:cNvSpPr/>
            <p:nvPr/>
          </p:nvSpPr>
          <p:spPr>
            <a:xfrm>
              <a:off x="838200" y="5554345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5631" y="561860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7"/>
                  </a:lnTo>
                  <a:lnTo>
                    <a:pt x="6337" y="59308"/>
                  </a:lnTo>
                  <a:lnTo>
                    <a:pt x="10058" y="63372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2"/>
                  </a:lnTo>
                  <a:lnTo>
                    <a:pt x="43789" y="61087"/>
                  </a:lnTo>
                  <a:lnTo>
                    <a:pt x="46609" y="58419"/>
                  </a:lnTo>
                  <a:lnTo>
                    <a:pt x="49760" y="53085"/>
                  </a:lnTo>
                  <a:lnTo>
                    <a:pt x="23355" y="53085"/>
                  </a:lnTo>
                  <a:lnTo>
                    <a:pt x="20764" y="51815"/>
                  </a:lnTo>
                  <a:lnTo>
                    <a:pt x="18961" y="49148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7"/>
                  </a:lnTo>
                  <a:lnTo>
                    <a:pt x="3216" y="11810"/>
                  </a:lnTo>
                  <a:lnTo>
                    <a:pt x="2913" y="12445"/>
                  </a:lnTo>
                  <a:lnTo>
                    <a:pt x="2417" y="14223"/>
                  </a:lnTo>
                  <a:lnTo>
                    <a:pt x="2133" y="15366"/>
                  </a:lnTo>
                  <a:lnTo>
                    <a:pt x="2185" y="23621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3"/>
                  </a:lnTo>
                  <a:lnTo>
                    <a:pt x="31330" y="40766"/>
                  </a:lnTo>
                  <a:lnTo>
                    <a:pt x="32755" y="42290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3"/>
                  </a:lnTo>
                  <a:lnTo>
                    <a:pt x="29235" y="53085"/>
                  </a:lnTo>
                  <a:lnTo>
                    <a:pt x="49760" y="53085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5"/>
                  </a:lnTo>
                  <a:lnTo>
                    <a:pt x="50901" y="37210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19"/>
                  </a:lnTo>
                  <a:lnTo>
                    <a:pt x="19697" y="19557"/>
                  </a:lnTo>
                  <a:lnTo>
                    <a:pt x="18846" y="18668"/>
                  </a:lnTo>
                  <a:lnTo>
                    <a:pt x="18415" y="17779"/>
                  </a:lnTo>
                  <a:lnTo>
                    <a:pt x="18415" y="15366"/>
                  </a:lnTo>
                  <a:lnTo>
                    <a:pt x="18935" y="14223"/>
                  </a:lnTo>
                  <a:lnTo>
                    <a:pt x="19964" y="13207"/>
                  </a:lnTo>
                  <a:lnTo>
                    <a:pt x="20857" y="12445"/>
                  </a:lnTo>
                  <a:lnTo>
                    <a:pt x="20621" y="12445"/>
                  </a:lnTo>
                  <a:lnTo>
                    <a:pt x="22542" y="11810"/>
                  </a:lnTo>
                  <a:lnTo>
                    <a:pt x="48833" y="11810"/>
                  </a:lnTo>
                  <a:lnTo>
                    <a:pt x="46799" y="7492"/>
                  </a:lnTo>
                  <a:lnTo>
                    <a:pt x="42976" y="4571"/>
                  </a:lnTo>
                  <a:lnTo>
                    <a:pt x="39166" y="1523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0"/>
                  </a:moveTo>
                  <a:lnTo>
                    <a:pt x="27076" y="11810"/>
                  </a:lnTo>
                  <a:lnTo>
                    <a:pt x="29019" y="12445"/>
                  </a:lnTo>
                  <a:lnTo>
                    <a:pt x="30441" y="13715"/>
                  </a:lnTo>
                  <a:lnTo>
                    <a:pt x="32107" y="15366"/>
                  </a:lnTo>
                  <a:lnTo>
                    <a:pt x="31967" y="15366"/>
                  </a:lnTo>
                  <a:lnTo>
                    <a:pt x="32778" y="17144"/>
                  </a:lnTo>
                  <a:lnTo>
                    <a:pt x="33014" y="18668"/>
                  </a:lnTo>
                  <a:lnTo>
                    <a:pt x="33053" y="18922"/>
                  </a:lnTo>
                  <a:lnTo>
                    <a:pt x="33151" y="19557"/>
                  </a:lnTo>
                  <a:lnTo>
                    <a:pt x="33210" y="19938"/>
                  </a:lnTo>
                  <a:lnTo>
                    <a:pt x="49796" y="18922"/>
                  </a:lnTo>
                  <a:lnTo>
                    <a:pt x="49406" y="15366"/>
                  </a:lnTo>
                  <a:lnTo>
                    <a:pt x="49281" y="14223"/>
                  </a:lnTo>
                  <a:lnTo>
                    <a:pt x="49170" y="13207"/>
                  </a:lnTo>
                  <a:lnTo>
                    <a:pt x="49086" y="12445"/>
                  </a:lnTo>
                  <a:lnTo>
                    <a:pt x="48833" y="11810"/>
                  </a:lnTo>
                  <a:close/>
                </a:path>
                <a:path w="440690" h="65404">
                  <a:moveTo>
                    <a:pt x="75666" y="18541"/>
                  </a:moveTo>
                  <a:lnTo>
                    <a:pt x="59778" y="18541"/>
                  </a:lnTo>
                  <a:lnTo>
                    <a:pt x="59778" y="53720"/>
                  </a:lnTo>
                  <a:lnTo>
                    <a:pt x="61010" y="58165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69"/>
                  </a:lnTo>
                  <a:lnTo>
                    <a:pt x="84213" y="62229"/>
                  </a:lnTo>
                  <a:lnTo>
                    <a:pt x="86436" y="60070"/>
                  </a:lnTo>
                  <a:lnTo>
                    <a:pt x="88646" y="57022"/>
                  </a:lnTo>
                  <a:lnTo>
                    <a:pt x="103403" y="57022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0"/>
                  </a:lnTo>
                  <a:lnTo>
                    <a:pt x="76149" y="48640"/>
                  </a:lnTo>
                  <a:lnTo>
                    <a:pt x="75666" y="46608"/>
                  </a:lnTo>
                  <a:lnTo>
                    <a:pt x="75666" y="18541"/>
                  </a:lnTo>
                  <a:close/>
                </a:path>
                <a:path w="440690" h="65404">
                  <a:moveTo>
                    <a:pt x="103403" y="57022"/>
                  </a:moveTo>
                  <a:lnTo>
                    <a:pt x="88646" y="57022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2"/>
                  </a:lnTo>
                  <a:close/>
                </a:path>
                <a:path w="440690" h="65404">
                  <a:moveTo>
                    <a:pt x="103403" y="18541"/>
                  </a:moveTo>
                  <a:lnTo>
                    <a:pt x="87591" y="18541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1"/>
                  </a:lnTo>
                  <a:close/>
                </a:path>
                <a:path w="440690" h="65404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69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5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4">
                  <a:moveTo>
                    <a:pt x="129311" y="1142"/>
                  </a:moveTo>
                  <a:lnTo>
                    <a:pt x="113347" y="1142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59"/>
                  </a:lnTo>
                  <a:lnTo>
                    <a:pt x="129319" y="45846"/>
                  </a:lnTo>
                  <a:lnTo>
                    <a:pt x="129197" y="37718"/>
                  </a:lnTo>
                  <a:lnTo>
                    <a:pt x="129882" y="35051"/>
                  </a:lnTo>
                  <a:lnTo>
                    <a:pt x="132600" y="31495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2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5"/>
                  </a:lnTo>
                  <a:lnTo>
                    <a:pt x="141161" y="33273"/>
                  </a:lnTo>
                  <a:lnTo>
                    <a:pt x="142358" y="35051"/>
                  </a:lnTo>
                  <a:lnTo>
                    <a:pt x="142951" y="37718"/>
                  </a:lnTo>
                  <a:lnTo>
                    <a:pt x="142840" y="45846"/>
                  </a:lnTo>
                  <a:lnTo>
                    <a:pt x="142316" y="48259"/>
                  </a:lnTo>
                  <a:lnTo>
                    <a:pt x="141033" y="49910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1"/>
                  </a:lnTo>
                  <a:lnTo>
                    <a:pt x="158762" y="45846"/>
                  </a:lnTo>
                  <a:lnTo>
                    <a:pt x="158762" y="33273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1"/>
                  </a:moveTo>
                  <a:lnTo>
                    <a:pt x="166725" y="18541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1"/>
                  </a:lnTo>
                  <a:lnTo>
                    <a:pt x="236728" y="31241"/>
                  </a:lnTo>
                  <a:lnTo>
                    <a:pt x="236728" y="29337"/>
                  </a:lnTo>
                  <a:lnTo>
                    <a:pt x="235621" y="25272"/>
                  </a:lnTo>
                  <a:lnTo>
                    <a:pt x="181495" y="25272"/>
                  </a:lnTo>
                  <a:lnTo>
                    <a:pt x="181495" y="18541"/>
                  </a:lnTo>
                  <a:close/>
                </a:path>
                <a:path w="440690" h="65404">
                  <a:moveTo>
                    <a:pt x="213995" y="31241"/>
                  </a:moveTo>
                  <a:lnTo>
                    <a:pt x="189928" y="31241"/>
                  </a:lnTo>
                  <a:lnTo>
                    <a:pt x="190906" y="31495"/>
                  </a:lnTo>
                  <a:lnTo>
                    <a:pt x="192570" y="33019"/>
                  </a:lnTo>
                  <a:lnTo>
                    <a:pt x="193154" y="33908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1"/>
                  </a:lnTo>
                  <a:close/>
                </a:path>
                <a:path w="440690" h="65404">
                  <a:moveTo>
                    <a:pt x="236728" y="31241"/>
                  </a:moveTo>
                  <a:lnTo>
                    <a:pt x="217424" y="31241"/>
                  </a:lnTo>
                  <a:lnTo>
                    <a:pt x="218732" y="32130"/>
                  </a:lnTo>
                  <a:lnTo>
                    <a:pt x="220522" y="34670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1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0"/>
                  </a:lnTo>
                  <a:lnTo>
                    <a:pt x="185762" y="20446"/>
                  </a:lnTo>
                  <a:lnTo>
                    <a:pt x="183616" y="22478"/>
                  </a:lnTo>
                  <a:lnTo>
                    <a:pt x="181495" y="25272"/>
                  </a:lnTo>
                  <a:lnTo>
                    <a:pt x="208292" y="25272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0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0"/>
                  </a:lnTo>
                  <a:lnTo>
                    <a:pt x="216893" y="18160"/>
                  </a:lnTo>
                  <a:lnTo>
                    <a:pt x="215087" y="19176"/>
                  </a:lnTo>
                  <a:lnTo>
                    <a:pt x="213042" y="20192"/>
                  </a:lnTo>
                  <a:lnTo>
                    <a:pt x="210781" y="22225"/>
                  </a:lnTo>
                  <a:lnTo>
                    <a:pt x="208292" y="25272"/>
                  </a:lnTo>
                  <a:lnTo>
                    <a:pt x="235621" y="25272"/>
                  </a:lnTo>
                  <a:lnTo>
                    <a:pt x="235483" y="24764"/>
                  </a:lnTo>
                  <a:lnTo>
                    <a:pt x="230517" y="18922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2"/>
                  </a:moveTo>
                  <a:lnTo>
                    <a:pt x="246443" y="1142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2"/>
                  </a:lnTo>
                  <a:close/>
                </a:path>
                <a:path w="440690" h="65404">
                  <a:moveTo>
                    <a:pt x="262255" y="18541"/>
                  </a:moveTo>
                  <a:lnTo>
                    <a:pt x="246443" y="18541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1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6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1"/>
                  </a:moveTo>
                  <a:lnTo>
                    <a:pt x="269163" y="18541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1"/>
                  </a:lnTo>
                  <a:close/>
                </a:path>
                <a:path w="440690" h="65404">
                  <a:moveTo>
                    <a:pt x="290842" y="1142"/>
                  </a:moveTo>
                  <a:lnTo>
                    <a:pt x="274993" y="10159"/>
                  </a:lnTo>
                  <a:lnTo>
                    <a:pt x="274993" y="18541"/>
                  </a:lnTo>
                  <a:lnTo>
                    <a:pt x="290842" y="18541"/>
                  </a:lnTo>
                  <a:lnTo>
                    <a:pt x="290842" y="1142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6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1"/>
                  </a:moveTo>
                  <a:lnTo>
                    <a:pt x="304215" y="18541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1"/>
                  </a:lnTo>
                  <a:close/>
                </a:path>
                <a:path w="440690" h="65404">
                  <a:moveTo>
                    <a:pt x="325894" y="1142"/>
                  </a:moveTo>
                  <a:lnTo>
                    <a:pt x="310045" y="10159"/>
                  </a:lnTo>
                  <a:lnTo>
                    <a:pt x="310045" y="18541"/>
                  </a:lnTo>
                  <a:lnTo>
                    <a:pt x="325894" y="18541"/>
                  </a:lnTo>
                  <a:lnTo>
                    <a:pt x="325894" y="1142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6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7"/>
                  </a:lnTo>
                  <a:lnTo>
                    <a:pt x="363131" y="55117"/>
                  </a:lnTo>
                  <a:lnTo>
                    <a:pt x="361099" y="54101"/>
                  </a:lnTo>
                  <a:lnTo>
                    <a:pt x="359575" y="52069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8"/>
                  </a:lnTo>
                  <a:lnTo>
                    <a:pt x="357543" y="45846"/>
                  </a:lnTo>
                  <a:lnTo>
                    <a:pt x="389166" y="45846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0"/>
                  </a:lnTo>
                  <a:lnTo>
                    <a:pt x="358352" y="32892"/>
                  </a:lnTo>
                  <a:lnTo>
                    <a:pt x="358432" y="32638"/>
                  </a:lnTo>
                  <a:lnTo>
                    <a:pt x="359321" y="31241"/>
                  </a:lnTo>
                  <a:lnTo>
                    <a:pt x="360845" y="29082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6"/>
                  </a:lnTo>
                  <a:lnTo>
                    <a:pt x="375323" y="18541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7"/>
                  </a:lnTo>
                  <a:lnTo>
                    <a:pt x="386936" y="55117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2"/>
                  </a:lnTo>
                  <a:lnTo>
                    <a:pt x="372783" y="34035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2"/>
                  </a:lnTo>
                  <a:lnTo>
                    <a:pt x="386499" y="29082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1"/>
                  </a:lnTo>
                  <a:lnTo>
                    <a:pt x="396405" y="27558"/>
                  </a:lnTo>
                  <a:lnTo>
                    <a:pt x="394789" y="33273"/>
                  </a:lnTo>
                  <a:lnTo>
                    <a:pt x="394754" y="47751"/>
                  </a:lnTo>
                  <a:lnTo>
                    <a:pt x="396278" y="53593"/>
                  </a:lnTo>
                  <a:lnTo>
                    <a:pt x="402120" y="62991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0"/>
                  </a:lnTo>
                  <a:lnTo>
                    <a:pt x="411264" y="48259"/>
                  </a:lnTo>
                  <a:lnTo>
                    <a:pt x="410629" y="45465"/>
                  </a:lnTo>
                  <a:lnTo>
                    <a:pt x="410629" y="37718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5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7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5"/>
                  </a:lnTo>
                  <a:lnTo>
                    <a:pt x="422313" y="33273"/>
                  </a:lnTo>
                  <a:lnTo>
                    <a:pt x="423583" y="35051"/>
                  </a:lnTo>
                  <a:lnTo>
                    <a:pt x="424345" y="37718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2"/>
                  </a:moveTo>
                  <a:lnTo>
                    <a:pt x="424218" y="1142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2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44500" y="5582792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2023-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10-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57200" y="603694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457200" y="6163945"/>
            <a:ext cx="311150" cy="190500"/>
            <a:chOff x="457200" y="6163945"/>
            <a:chExt cx="311150" cy="190500"/>
          </a:xfrm>
        </p:grpSpPr>
        <p:sp>
          <p:nvSpPr>
            <p:cNvPr id="43" name="object 43"/>
            <p:cNvSpPr/>
            <p:nvPr/>
          </p:nvSpPr>
          <p:spPr>
            <a:xfrm>
              <a:off x="457200" y="6163945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90270" y="6228207"/>
              <a:ext cx="49530" cy="65405"/>
            </a:xfrm>
            <a:custGeom>
              <a:avLst/>
              <a:gdLst/>
              <a:ahLst/>
              <a:cxnLst/>
              <a:rect l="l" t="t" r="r" b="b"/>
              <a:pathLst>
                <a:path w="49529" h="65404">
                  <a:moveTo>
                    <a:pt x="30606" y="0"/>
                  </a:moveTo>
                  <a:lnTo>
                    <a:pt x="17741" y="0"/>
                  </a:lnTo>
                  <a:lnTo>
                    <a:pt x="11404" y="2666"/>
                  </a:lnTo>
                  <a:lnTo>
                    <a:pt x="497" y="24764"/>
                  </a:lnTo>
                  <a:lnTo>
                    <a:pt x="426" y="25145"/>
                  </a:lnTo>
                  <a:lnTo>
                    <a:pt x="47" y="32257"/>
                  </a:lnTo>
                  <a:lnTo>
                    <a:pt x="0" y="40893"/>
                  </a:lnTo>
                  <a:lnTo>
                    <a:pt x="1079" y="47116"/>
                  </a:lnTo>
                  <a:lnTo>
                    <a:pt x="20434" y="65404"/>
                  </a:lnTo>
                  <a:lnTo>
                    <a:pt x="31445" y="65404"/>
                  </a:lnTo>
                  <a:lnTo>
                    <a:pt x="35610" y="64642"/>
                  </a:lnTo>
                  <a:lnTo>
                    <a:pt x="42252" y="61087"/>
                  </a:lnTo>
                  <a:lnTo>
                    <a:pt x="44843" y="58419"/>
                  </a:lnTo>
                  <a:lnTo>
                    <a:pt x="46994" y="54482"/>
                  </a:lnTo>
                  <a:lnTo>
                    <a:pt x="23609" y="54482"/>
                  </a:lnTo>
                  <a:lnTo>
                    <a:pt x="21602" y="53593"/>
                  </a:lnTo>
                  <a:lnTo>
                    <a:pt x="19964" y="51562"/>
                  </a:lnTo>
                  <a:lnTo>
                    <a:pt x="18326" y="49656"/>
                  </a:lnTo>
                  <a:lnTo>
                    <a:pt x="17736" y="47751"/>
                  </a:lnTo>
                  <a:lnTo>
                    <a:pt x="17657" y="47497"/>
                  </a:lnTo>
                  <a:lnTo>
                    <a:pt x="17539" y="47116"/>
                  </a:lnTo>
                  <a:lnTo>
                    <a:pt x="17500" y="40131"/>
                  </a:lnTo>
                  <a:lnTo>
                    <a:pt x="18248" y="37718"/>
                  </a:lnTo>
                  <a:lnTo>
                    <a:pt x="18512" y="37337"/>
                  </a:lnTo>
                  <a:lnTo>
                    <a:pt x="19862" y="35813"/>
                  </a:lnTo>
                  <a:lnTo>
                    <a:pt x="21332" y="34035"/>
                  </a:lnTo>
                  <a:lnTo>
                    <a:pt x="21160" y="34035"/>
                  </a:lnTo>
                  <a:lnTo>
                    <a:pt x="23103" y="33146"/>
                  </a:lnTo>
                  <a:lnTo>
                    <a:pt x="48000" y="33146"/>
                  </a:lnTo>
                  <a:lnTo>
                    <a:pt x="47675" y="32257"/>
                  </a:lnTo>
                  <a:lnTo>
                    <a:pt x="44205" y="28447"/>
                  </a:lnTo>
                  <a:lnTo>
                    <a:pt x="16929" y="28447"/>
                  </a:lnTo>
                  <a:lnTo>
                    <a:pt x="17093" y="26288"/>
                  </a:lnTo>
                  <a:lnTo>
                    <a:pt x="17208" y="24764"/>
                  </a:lnTo>
                  <a:lnTo>
                    <a:pt x="17256" y="24129"/>
                  </a:lnTo>
                  <a:lnTo>
                    <a:pt x="17363" y="22732"/>
                  </a:lnTo>
                  <a:lnTo>
                    <a:pt x="17449" y="21589"/>
                  </a:lnTo>
                  <a:lnTo>
                    <a:pt x="18202" y="17525"/>
                  </a:lnTo>
                  <a:lnTo>
                    <a:pt x="18249" y="17271"/>
                  </a:lnTo>
                  <a:lnTo>
                    <a:pt x="19354" y="15112"/>
                  </a:lnTo>
                  <a:lnTo>
                    <a:pt x="20853" y="12318"/>
                  </a:lnTo>
                  <a:lnTo>
                    <a:pt x="22961" y="10794"/>
                  </a:lnTo>
                  <a:lnTo>
                    <a:pt x="46728" y="10794"/>
                  </a:lnTo>
                  <a:lnTo>
                    <a:pt x="45910" y="9143"/>
                  </a:lnTo>
                  <a:lnTo>
                    <a:pt x="44068" y="6857"/>
                  </a:lnTo>
                  <a:lnTo>
                    <a:pt x="42240" y="4698"/>
                  </a:lnTo>
                  <a:lnTo>
                    <a:pt x="39941" y="2920"/>
                  </a:lnTo>
                  <a:lnTo>
                    <a:pt x="34391" y="634"/>
                  </a:lnTo>
                  <a:lnTo>
                    <a:pt x="30606" y="0"/>
                  </a:lnTo>
                  <a:close/>
                </a:path>
                <a:path w="49529" h="65404">
                  <a:moveTo>
                    <a:pt x="48000" y="33146"/>
                  </a:moveTo>
                  <a:lnTo>
                    <a:pt x="28214" y="33146"/>
                  </a:lnTo>
                  <a:lnTo>
                    <a:pt x="29870" y="34035"/>
                  </a:lnTo>
                  <a:lnTo>
                    <a:pt x="31407" y="35813"/>
                  </a:lnTo>
                  <a:lnTo>
                    <a:pt x="32931" y="37718"/>
                  </a:lnTo>
                  <a:lnTo>
                    <a:pt x="33620" y="40131"/>
                  </a:lnTo>
                  <a:lnTo>
                    <a:pt x="33622" y="47751"/>
                  </a:lnTo>
                  <a:lnTo>
                    <a:pt x="32956" y="50164"/>
                  </a:lnTo>
                  <a:lnTo>
                    <a:pt x="31378" y="51942"/>
                  </a:lnTo>
                  <a:lnTo>
                    <a:pt x="30010" y="53593"/>
                  </a:lnTo>
                  <a:lnTo>
                    <a:pt x="28181" y="54482"/>
                  </a:lnTo>
                  <a:lnTo>
                    <a:pt x="46994" y="54482"/>
                  </a:lnTo>
                  <a:lnTo>
                    <a:pt x="48590" y="51562"/>
                  </a:lnTo>
                  <a:lnTo>
                    <a:pt x="49529" y="47751"/>
                  </a:lnTo>
                  <a:lnTo>
                    <a:pt x="49529" y="37337"/>
                  </a:lnTo>
                  <a:lnTo>
                    <a:pt x="48000" y="33146"/>
                  </a:lnTo>
                  <a:close/>
                </a:path>
                <a:path w="49529" h="65404">
                  <a:moveTo>
                    <a:pt x="35737" y="22225"/>
                  </a:moveTo>
                  <a:lnTo>
                    <a:pt x="27622" y="22225"/>
                  </a:lnTo>
                  <a:lnTo>
                    <a:pt x="25184" y="22732"/>
                  </a:lnTo>
                  <a:lnTo>
                    <a:pt x="20980" y="24764"/>
                  </a:lnTo>
                  <a:lnTo>
                    <a:pt x="18923" y="26288"/>
                  </a:lnTo>
                  <a:lnTo>
                    <a:pt x="16929" y="28447"/>
                  </a:lnTo>
                  <a:lnTo>
                    <a:pt x="44205" y="28447"/>
                  </a:lnTo>
                  <a:lnTo>
                    <a:pt x="40271" y="24129"/>
                  </a:lnTo>
                  <a:lnTo>
                    <a:pt x="35737" y="22225"/>
                  </a:lnTo>
                  <a:close/>
                </a:path>
                <a:path w="49529" h="65404">
                  <a:moveTo>
                    <a:pt x="46728" y="10794"/>
                  </a:moveTo>
                  <a:lnTo>
                    <a:pt x="27165" y="10794"/>
                  </a:lnTo>
                  <a:lnTo>
                    <a:pt x="28435" y="11302"/>
                  </a:lnTo>
                  <a:lnTo>
                    <a:pt x="30479" y="13334"/>
                  </a:lnTo>
                  <a:lnTo>
                    <a:pt x="31216" y="15112"/>
                  </a:lnTo>
                  <a:lnTo>
                    <a:pt x="31602" y="17271"/>
                  </a:lnTo>
                  <a:lnTo>
                    <a:pt x="31648" y="17525"/>
                  </a:lnTo>
                  <a:lnTo>
                    <a:pt x="48259" y="15366"/>
                  </a:lnTo>
                  <a:lnTo>
                    <a:pt x="47473" y="12572"/>
                  </a:lnTo>
                  <a:lnTo>
                    <a:pt x="47402" y="12318"/>
                  </a:lnTo>
                  <a:lnTo>
                    <a:pt x="47294" y="11937"/>
                  </a:lnTo>
                  <a:lnTo>
                    <a:pt x="46728" y="10794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838200" y="6163945"/>
            <a:ext cx="889000" cy="190500"/>
            <a:chOff x="838200" y="6163945"/>
            <a:chExt cx="889000" cy="190500"/>
          </a:xfrm>
        </p:grpSpPr>
        <p:sp>
          <p:nvSpPr>
            <p:cNvPr id="46" name="object 46"/>
            <p:cNvSpPr/>
            <p:nvPr/>
          </p:nvSpPr>
          <p:spPr>
            <a:xfrm>
              <a:off x="838200" y="6163945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15631" y="622820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7"/>
                  </a:lnTo>
                  <a:lnTo>
                    <a:pt x="6337" y="59308"/>
                  </a:lnTo>
                  <a:lnTo>
                    <a:pt x="10058" y="63372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2"/>
                  </a:lnTo>
                  <a:lnTo>
                    <a:pt x="43789" y="61087"/>
                  </a:lnTo>
                  <a:lnTo>
                    <a:pt x="46609" y="58419"/>
                  </a:lnTo>
                  <a:lnTo>
                    <a:pt x="49760" y="53085"/>
                  </a:lnTo>
                  <a:lnTo>
                    <a:pt x="23355" y="53085"/>
                  </a:lnTo>
                  <a:lnTo>
                    <a:pt x="20764" y="51815"/>
                  </a:lnTo>
                  <a:lnTo>
                    <a:pt x="18961" y="49148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7"/>
                  </a:lnTo>
                  <a:lnTo>
                    <a:pt x="3216" y="11810"/>
                  </a:lnTo>
                  <a:lnTo>
                    <a:pt x="2913" y="12445"/>
                  </a:lnTo>
                  <a:lnTo>
                    <a:pt x="2417" y="14223"/>
                  </a:lnTo>
                  <a:lnTo>
                    <a:pt x="2133" y="15366"/>
                  </a:lnTo>
                  <a:lnTo>
                    <a:pt x="2185" y="23621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3"/>
                  </a:lnTo>
                  <a:lnTo>
                    <a:pt x="31330" y="40766"/>
                  </a:lnTo>
                  <a:lnTo>
                    <a:pt x="32755" y="42290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3"/>
                  </a:lnTo>
                  <a:lnTo>
                    <a:pt x="29235" y="53085"/>
                  </a:lnTo>
                  <a:lnTo>
                    <a:pt x="49760" y="53085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5"/>
                  </a:lnTo>
                  <a:lnTo>
                    <a:pt x="50901" y="37210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19"/>
                  </a:lnTo>
                  <a:lnTo>
                    <a:pt x="19697" y="19557"/>
                  </a:lnTo>
                  <a:lnTo>
                    <a:pt x="18846" y="18668"/>
                  </a:lnTo>
                  <a:lnTo>
                    <a:pt x="18415" y="17779"/>
                  </a:lnTo>
                  <a:lnTo>
                    <a:pt x="18415" y="15366"/>
                  </a:lnTo>
                  <a:lnTo>
                    <a:pt x="18935" y="14223"/>
                  </a:lnTo>
                  <a:lnTo>
                    <a:pt x="19964" y="13207"/>
                  </a:lnTo>
                  <a:lnTo>
                    <a:pt x="20857" y="12445"/>
                  </a:lnTo>
                  <a:lnTo>
                    <a:pt x="20621" y="12445"/>
                  </a:lnTo>
                  <a:lnTo>
                    <a:pt x="22542" y="11810"/>
                  </a:lnTo>
                  <a:lnTo>
                    <a:pt x="48833" y="11810"/>
                  </a:lnTo>
                  <a:lnTo>
                    <a:pt x="46799" y="7492"/>
                  </a:lnTo>
                  <a:lnTo>
                    <a:pt x="42976" y="4571"/>
                  </a:lnTo>
                  <a:lnTo>
                    <a:pt x="39166" y="1523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0"/>
                  </a:moveTo>
                  <a:lnTo>
                    <a:pt x="27076" y="11810"/>
                  </a:lnTo>
                  <a:lnTo>
                    <a:pt x="29019" y="12445"/>
                  </a:lnTo>
                  <a:lnTo>
                    <a:pt x="30441" y="13715"/>
                  </a:lnTo>
                  <a:lnTo>
                    <a:pt x="32107" y="15366"/>
                  </a:lnTo>
                  <a:lnTo>
                    <a:pt x="31967" y="15366"/>
                  </a:lnTo>
                  <a:lnTo>
                    <a:pt x="32778" y="17144"/>
                  </a:lnTo>
                  <a:lnTo>
                    <a:pt x="33014" y="18668"/>
                  </a:lnTo>
                  <a:lnTo>
                    <a:pt x="33053" y="18922"/>
                  </a:lnTo>
                  <a:lnTo>
                    <a:pt x="33151" y="19557"/>
                  </a:lnTo>
                  <a:lnTo>
                    <a:pt x="33210" y="19938"/>
                  </a:lnTo>
                  <a:lnTo>
                    <a:pt x="49796" y="18922"/>
                  </a:lnTo>
                  <a:lnTo>
                    <a:pt x="49406" y="15366"/>
                  </a:lnTo>
                  <a:lnTo>
                    <a:pt x="49281" y="14223"/>
                  </a:lnTo>
                  <a:lnTo>
                    <a:pt x="49170" y="13207"/>
                  </a:lnTo>
                  <a:lnTo>
                    <a:pt x="49086" y="12445"/>
                  </a:lnTo>
                  <a:lnTo>
                    <a:pt x="48833" y="11810"/>
                  </a:lnTo>
                  <a:close/>
                </a:path>
                <a:path w="440690" h="65404">
                  <a:moveTo>
                    <a:pt x="75666" y="18541"/>
                  </a:moveTo>
                  <a:lnTo>
                    <a:pt x="59778" y="18541"/>
                  </a:lnTo>
                  <a:lnTo>
                    <a:pt x="59778" y="53720"/>
                  </a:lnTo>
                  <a:lnTo>
                    <a:pt x="61010" y="58165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69"/>
                  </a:lnTo>
                  <a:lnTo>
                    <a:pt x="84213" y="62229"/>
                  </a:lnTo>
                  <a:lnTo>
                    <a:pt x="86436" y="60070"/>
                  </a:lnTo>
                  <a:lnTo>
                    <a:pt x="88646" y="57022"/>
                  </a:lnTo>
                  <a:lnTo>
                    <a:pt x="103403" y="57022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0"/>
                  </a:lnTo>
                  <a:lnTo>
                    <a:pt x="76149" y="48640"/>
                  </a:lnTo>
                  <a:lnTo>
                    <a:pt x="75666" y="46608"/>
                  </a:lnTo>
                  <a:lnTo>
                    <a:pt x="75666" y="18541"/>
                  </a:lnTo>
                  <a:close/>
                </a:path>
                <a:path w="440690" h="65404">
                  <a:moveTo>
                    <a:pt x="103403" y="57022"/>
                  </a:moveTo>
                  <a:lnTo>
                    <a:pt x="88646" y="57022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2"/>
                  </a:lnTo>
                  <a:close/>
                </a:path>
                <a:path w="440690" h="65404">
                  <a:moveTo>
                    <a:pt x="103403" y="18541"/>
                  </a:moveTo>
                  <a:lnTo>
                    <a:pt x="87591" y="18541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1"/>
                  </a:lnTo>
                  <a:close/>
                </a:path>
                <a:path w="440690" h="65404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69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5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4">
                  <a:moveTo>
                    <a:pt x="129311" y="1142"/>
                  </a:moveTo>
                  <a:lnTo>
                    <a:pt x="113347" y="1142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59"/>
                  </a:lnTo>
                  <a:lnTo>
                    <a:pt x="129319" y="45846"/>
                  </a:lnTo>
                  <a:lnTo>
                    <a:pt x="129197" y="37718"/>
                  </a:lnTo>
                  <a:lnTo>
                    <a:pt x="129882" y="35051"/>
                  </a:lnTo>
                  <a:lnTo>
                    <a:pt x="132600" y="31495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2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5"/>
                  </a:lnTo>
                  <a:lnTo>
                    <a:pt x="141161" y="33273"/>
                  </a:lnTo>
                  <a:lnTo>
                    <a:pt x="142358" y="35051"/>
                  </a:lnTo>
                  <a:lnTo>
                    <a:pt x="142951" y="37718"/>
                  </a:lnTo>
                  <a:lnTo>
                    <a:pt x="142840" y="45846"/>
                  </a:lnTo>
                  <a:lnTo>
                    <a:pt x="142316" y="48259"/>
                  </a:lnTo>
                  <a:lnTo>
                    <a:pt x="141033" y="49910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1"/>
                  </a:lnTo>
                  <a:lnTo>
                    <a:pt x="158762" y="45846"/>
                  </a:lnTo>
                  <a:lnTo>
                    <a:pt x="158762" y="33273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1"/>
                  </a:moveTo>
                  <a:lnTo>
                    <a:pt x="166725" y="18541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1"/>
                  </a:lnTo>
                  <a:lnTo>
                    <a:pt x="236728" y="31241"/>
                  </a:lnTo>
                  <a:lnTo>
                    <a:pt x="236728" y="29337"/>
                  </a:lnTo>
                  <a:lnTo>
                    <a:pt x="235621" y="25272"/>
                  </a:lnTo>
                  <a:lnTo>
                    <a:pt x="181495" y="25272"/>
                  </a:lnTo>
                  <a:lnTo>
                    <a:pt x="181495" y="18541"/>
                  </a:lnTo>
                  <a:close/>
                </a:path>
                <a:path w="440690" h="65404">
                  <a:moveTo>
                    <a:pt x="213995" y="31241"/>
                  </a:moveTo>
                  <a:lnTo>
                    <a:pt x="189928" y="31241"/>
                  </a:lnTo>
                  <a:lnTo>
                    <a:pt x="190906" y="31495"/>
                  </a:lnTo>
                  <a:lnTo>
                    <a:pt x="192570" y="33019"/>
                  </a:lnTo>
                  <a:lnTo>
                    <a:pt x="193154" y="33908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1"/>
                  </a:lnTo>
                  <a:close/>
                </a:path>
                <a:path w="440690" h="65404">
                  <a:moveTo>
                    <a:pt x="236728" y="31241"/>
                  </a:moveTo>
                  <a:lnTo>
                    <a:pt x="217424" y="31241"/>
                  </a:lnTo>
                  <a:lnTo>
                    <a:pt x="218732" y="32130"/>
                  </a:lnTo>
                  <a:lnTo>
                    <a:pt x="220522" y="34670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1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0"/>
                  </a:lnTo>
                  <a:lnTo>
                    <a:pt x="185762" y="20446"/>
                  </a:lnTo>
                  <a:lnTo>
                    <a:pt x="183616" y="22478"/>
                  </a:lnTo>
                  <a:lnTo>
                    <a:pt x="181495" y="25272"/>
                  </a:lnTo>
                  <a:lnTo>
                    <a:pt x="208292" y="25272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0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0"/>
                  </a:lnTo>
                  <a:lnTo>
                    <a:pt x="216893" y="18160"/>
                  </a:lnTo>
                  <a:lnTo>
                    <a:pt x="215087" y="19176"/>
                  </a:lnTo>
                  <a:lnTo>
                    <a:pt x="213042" y="20192"/>
                  </a:lnTo>
                  <a:lnTo>
                    <a:pt x="210781" y="22225"/>
                  </a:lnTo>
                  <a:lnTo>
                    <a:pt x="208292" y="25272"/>
                  </a:lnTo>
                  <a:lnTo>
                    <a:pt x="235621" y="25272"/>
                  </a:lnTo>
                  <a:lnTo>
                    <a:pt x="235483" y="24764"/>
                  </a:lnTo>
                  <a:lnTo>
                    <a:pt x="230517" y="18922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2"/>
                  </a:moveTo>
                  <a:lnTo>
                    <a:pt x="246443" y="1142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2"/>
                  </a:lnTo>
                  <a:close/>
                </a:path>
                <a:path w="440690" h="65404">
                  <a:moveTo>
                    <a:pt x="262255" y="18541"/>
                  </a:moveTo>
                  <a:lnTo>
                    <a:pt x="246443" y="18541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1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6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1"/>
                  </a:moveTo>
                  <a:lnTo>
                    <a:pt x="269163" y="18541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1"/>
                  </a:lnTo>
                  <a:close/>
                </a:path>
                <a:path w="440690" h="65404">
                  <a:moveTo>
                    <a:pt x="290842" y="1142"/>
                  </a:moveTo>
                  <a:lnTo>
                    <a:pt x="274993" y="10159"/>
                  </a:lnTo>
                  <a:lnTo>
                    <a:pt x="274993" y="18541"/>
                  </a:lnTo>
                  <a:lnTo>
                    <a:pt x="290842" y="18541"/>
                  </a:lnTo>
                  <a:lnTo>
                    <a:pt x="290842" y="1142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6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1"/>
                  </a:moveTo>
                  <a:lnTo>
                    <a:pt x="304215" y="18541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1"/>
                  </a:lnTo>
                  <a:close/>
                </a:path>
                <a:path w="440690" h="65404">
                  <a:moveTo>
                    <a:pt x="325894" y="1142"/>
                  </a:moveTo>
                  <a:lnTo>
                    <a:pt x="310045" y="10159"/>
                  </a:lnTo>
                  <a:lnTo>
                    <a:pt x="310045" y="18541"/>
                  </a:lnTo>
                  <a:lnTo>
                    <a:pt x="325894" y="18541"/>
                  </a:lnTo>
                  <a:lnTo>
                    <a:pt x="325894" y="1142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6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7"/>
                  </a:lnTo>
                  <a:lnTo>
                    <a:pt x="363131" y="55117"/>
                  </a:lnTo>
                  <a:lnTo>
                    <a:pt x="361099" y="54101"/>
                  </a:lnTo>
                  <a:lnTo>
                    <a:pt x="359575" y="52069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8"/>
                  </a:lnTo>
                  <a:lnTo>
                    <a:pt x="357543" y="45846"/>
                  </a:lnTo>
                  <a:lnTo>
                    <a:pt x="389166" y="45846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0"/>
                  </a:lnTo>
                  <a:lnTo>
                    <a:pt x="358352" y="32892"/>
                  </a:lnTo>
                  <a:lnTo>
                    <a:pt x="358432" y="32638"/>
                  </a:lnTo>
                  <a:lnTo>
                    <a:pt x="359321" y="31241"/>
                  </a:lnTo>
                  <a:lnTo>
                    <a:pt x="360845" y="29082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6"/>
                  </a:lnTo>
                  <a:lnTo>
                    <a:pt x="375323" y="18541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7"/>
                  </a:lnTo>
                  <a:lnTo>
                    <a:pt x="386936" y="55117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2"/>
                  </a:lnTo>
                  <a:lnTo>
                    <a:pt x="372783" y="34035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2"/>
                  </a:lnTo>
                  <a:lnTo>
                    <a:pt x="386499" y="29082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1"/>
                  </a:lnTo>
                  <a:lnTo>
                    <a:pt x="396405" y="27558"/>
                  </a:lnTo>
                  <a:lnTo>
                    <a:pt x="394789" y="33273"/>
                  </a:lnTo>
                  <a:lnTo>
                    <a:pt x="394754" y="47751"/>
                  </a:lnTo>
                  <a:lnTo>
                    <a:pt x="396278" y="53593"/>
                  </a:lnTo>
                  <a:lnTo>
                    <a:pt x="402120" y="62991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0"/>
                  </a:lnTo>
                  <a:lnTo>
                    <a:pt x="411264" y="48259"/>
                  </a:lnTo>
                  <a:lnTo>
                    <a:pt x="410629" y="45465"/>
                  </a:lnTo>
                  <a:lnTo>
                    <a:pt x="410629" y="37718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5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7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5"/>
                  </a:lnTo>
                  <a:lnTo>
                    <a:pt x="422313" y="33273"/>
                  </a:lnTo>
                  <a:lnTo>
                    <a:pt x="423583" y="35051"/>
                  </a:lnTo>
                  <a:lnTo>
                    <a:pt x="424345" y="37718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2"/>
                  </a:moveTo>
                  <a:lnTo>
                    <a:pt x="424218" y="1142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2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44500" y="6192392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2023-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10-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05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57200" y="6646544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457200" y="6773544"/>
            <a:ext cx="311150" cy="190500"/>
            <a:chOff x="457200" y="6773544"/>
            <a:chExt cx="311150" cy="190500"/>
          </a:xfrm>
        </p:grpSpPr>
        <p:sp>
          <p:nvSpPr>
            <p:cNvPr id="51" name="object 51"/>
            <p:cNvSpPr/>
            <p:nvPr/>
          </p:nvSpPr>
          <p:spPr>
            <a:xfrm>
              <a:off x="457200" y="6773544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899"/>
                  </a:lnTo>
                  <a:lnTo>
                    <a:pt x="0" y="101599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499"/>
                  </a:lnTo>
                  <a:lnTo>
                    <a:pt x="222250" y="190499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599"/>
                  </a:lnTo>
                  <a:lnTo>
                    <a:pt x="311150" y="88899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0473" y="6838949"/>
              <a:ext cx="48895" cy="63500"/>
            </a:xfrm>
            <a:custGeom>
              <a:avLst/>
              <a:gdLst/>
              <a:ahLst/>
              <a:cxnLst/>
              <a:rect l="l" t="t" r="r" b="b"/>
              <a:pathLst>
                <a:path w="48895" h="63500">
                  <a:moveTo>
                    <a:pt x="48755" y="0"/>
                  </a:moveTo>
                  <a:lnTo>
                    <a:pt x="0" y="0"/>
                  </a:lnTo>
                  <a:lnTo>
                    <a:pt x="0" y="14858"/>
                  </a:lnTo>
                  <a:lnTo>
                    <a:pt x="29679" y="14858"/>
                  </a:lnTo>
                  <a:lnTo>
                    <a:pt x="25415" y="20691"/>
                  </a:lnTo>
                  <a:lnTo>
                    <a:pt x="10121" y="63245"/>
                  </a:lnTo>
                  <a:lnTo>
                    <a:pt x="26771" y="63245"/>
                  </a:lnTo>
                  <a:lnTo>
                    <a:pt x="27317" y="55880"/>
                  </a:lnTo>
                  <a:lnTo>
                    <a:pt x="28384" y="49402"/>
                  </a:lnTo>
                  <a:lnTo>
                    <a:pt x="48755" y="11811"/>
                  </a:lnTo>
                  <a:lnTo>
                    <a:pt x="4875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838200" y="6773544"/>
            <a:ext cx="889000" cy="190500"/>
            <a:chOff x="838200" y="6773544"/>
            <a:chExt cx="889000" cy="190500"/>
          </a:xfrm>
        </p:grpSpPr>
        <p:sp>
          <p:nvSpPr>
            <p:cNvPr id="54" name="object 54"/>
            <p:cNvSpPr/>
            <p:nvPr/>
          </p:nvSpPr>
          <p:spPr>
            <a:xfrm>
              <a:off x="838200" y="6773544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49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499"/>
                  </a:lnTo>
                  <a:lnTo>
                    <a:pt x="793750" y="190499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49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1E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15631" y="6837806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113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626" y="42164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530" y="15113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3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31851" y="15113"/>
                  </a:moveTo>
                  <a:lnTo>
                    <a:pt x="18530" y="15113"/>
                  </a:lnTo>
                  <a:lnTo>
                    <a:pt x="18415" y="15367"/>
                  </a:lnTo>
                  <a:lnTo>
                    <a:pt x="31967" y="15367"/>
                  </a:lnTo>
                  <a:lnTo>
                    <a:pt x="31851" y="15113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582" y="50927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389"/>
                  </a:lnTo>
                  <a:lnTo>
                    <a:pt x="128155" y="64389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870" y="48133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2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43" y="48133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6"/>
                  </a:moveTo>
                  <a:lnTo>
                    <a:pt x="138925" y="17526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6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6"/>
                  </a:moveTo>
                  <a:lnTo>
                    <a:pt x="192709" y="17526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1"/>
                  </a:lnTo>
                  <a:lnTo>
                    <a:pt x="201663" y="18161"/>
                  </a:lnTo>
                  <a:lnTo>
                    <a:pt x="199059" y="17526"/>
                  </a:lnTo>
                  <a:close/>
                </a:path>
                <a:path w="440690" h="65404">
                  <a:moveTo>
                    <a:pt x="227063" y="17526"/>
                  </a:moveTo>
                  <a:lnTo>
                    <a:pt x="219646" y="17526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6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1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9018" y="52451"/>
                  </a:moveTo>
                  <a:lnTo>
                    <a:pt x="297404" y="52451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9018" y="52451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7404" y="52451"/>
                  </a:lnTo>
                  <a:lnTo>
                    <a:pt x="299018" y="52451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1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70" y="52451"/>
                  </a:moveTo>
                  <a:lnTo>
                    <a:pt x="332456" y="52451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70" y="52451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2456" y="52451"/>
                  </a:lnTo>
                  <a:lnTo>
                    <a:pt x="334070" y="52451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6"/>
                  </a:moveTo>
                  <a:lnTo>
                    <a:pt x="357416" y="17526"/>
                  </a:lnTo>
                  <a:lnTo>
                    <a:pt x="351739" y="19685"/>
                  </a:lnTo>
                  <a:lnTo>
                    <a:pt x="344073" y="27940"/>
                  </a:lnTo>
                  <a:lnTo>
                    <a:pt x="343439" y="28702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6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6"/>
                  </a:moveTo>
                  <a:lnTo>
                    <a:pt x="407073" y="17526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1"/>
                  </a:lnTo>
                  <a:lnTo>
                    <a:pt x="394853" y="48133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2"/>
                  </a:lnTo>
                  <a:lnTo>
                    <a:pt x="412225" y="33401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6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1"/>
                  </a:lnTo>
                  <a:lnTo>
                    <a:pt x="423583" y="35052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44500" y="6801993"/>
            <a:ext cx="160909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Purdue</a:t>
            </a:r>
            <a:r>
              <a:rPr sz="800" spc="5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3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5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2023-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12-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57200" y="7256144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457200" y="7383144"/>
            <a:ext cx="311150" cy="190500"/>
            <a:chOff x="457200" y="7383144"/>
            <a:chExt cx="311150" cy="190500"/>
          </a:xfrm>
        </p:grpSpPr>
        <p:sp>
          <p:nvSpPr>
            <p:cNvPr id="59" name="object 59"/>
            <p:cNvSpPr/>
            <p:nvPr/>
          </p:nvSpPr>
          <p:spPr>
            <a:xfrm>
              <a:off x="457200" y="7383144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899"/>
                  </a:lnTo>
                  <a:lnTo>
                    <a:pt x="0" y="101599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499"/>
                  </a:lnTo>
                  <a:lnTo>
                    <a:pt x="222250" y="190499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599"/>
                  </a:lnTo>
                  <a:lnTo>
                    <a:pt x="311150" y="88899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90181" y="7447406"/>
              <a:ext cx="49530" cy="65405"/>
            </a:xfrm>
            <a:custGeom>
              <a:avLst/>
              <a:gdLst/>
              <a:ahLst/>
              <a:cxnLst/>
              <a:rect l="l" t="t" r="r" b="b"/>
              <a:pathLst>
                <a:path w="49529" h="65404">
                  <a:moveTo>
                    <a:pt x="31610" y="0"/>
                  </a:moveTo>
                  <a:lnTo>
                    <a:pt x="17513" y="0"/>
                  </a:lnTo>
                  <a:lnTo>
                    <a:pt x="12636" y="1270"/>
                  </a:lnTo>
                  <a:lnTo>
                    <a:pt x="8940" y="3937"/>
                  </a:lnTo>
                  <a:lnTo>
                    <a:pt x="4216" y="7239"/>
                  </a:lnTo>
                  <a:lnTo>
                    <a:pt x="1841" y="11557"/>
                  </a:lnTo>
                  <a:lnTo>
                    <a:pt x="1841" y="20193"/>
                  </a:lnTo>
                  <a:lnTo>
                    <a:pt x="2554" y="22606"/>
                  </a:lnTo>
                  <a:lnTo>
                    <a:pt x="2667" y="22987"/>
                  </a:lnTo>
                  <a:lnTo>
                    <a:pt x="4305" y="25400"/>
                  </a:lnTo>
                  <a:lnTo>
                    <a:pt x="5511" y="27305"/>
                  </a:lnTo>
                  <a:lnTo>
                    <a:pt x="7429" y="28956"/>
                  </a:lnTo>
                  <a:lnTo>
                    <a:pt x="10045" y="30353"/>
                  </a:lnTo>
                  <a:lnTo>
                    <a:pt x="6629" y="31750"/>
                  </a:lnTo>
                  <a:lnTo>
                    <a:pt x="4102" y="33782"/>
                  </a:lnTo>
                  <a:lnTo>
                    <a:pt x="2385" y="36449"/>
                  </a:lnTo>
                  <a:lnTo>
                    <a:pt x="825" y="38989"/>
                  </a:lnTo>
                  <a:lnTo>
                    <a:pt x="0" y="42037"/>
                  </a:lnTo>
                  <a:lnTo>
                    <a:pt x="0" y="49530"/>
                  </a:lnTo>
                  <a:lnTo>
                    <a:pt x="18516" y="65405"/>
                  </a:lnTo>
                  <a:lnTo>
                    <a:pt x="28282" y="65405"/>
                  </a:lnTo>
                  <a:lnTo>
                    <a:pt x="31470" y="65151"/>
                  </a:lnTo>
                  <a:lnTo>
                    <a:pt x="34467" y="64389"/>
                  </a:lnTo>
                  <a:lnTo>
                    <a:pt x="37452" y="63754"/>
                  </a:lnTo>
                  <a:lnTo>
                    <a:pt x="39954" y="62611"/>
                  </a:lnTo>
                  <a:lnTo>
                    <a:pt x="43980" y="59563"/>
                  </a:lnTo>
                  <a:lnTo>
                    <a:pt x="45669" y="57531"/>
                  </a:lnTo>
                  <a:lnTo>
                    <a:pt x="47053" y="54737"/>
                  </a:lnTo>
                  <a:lnTo>
                    <a:pt x="22529" y="54737"/>
                  </a:lnTo>
                  <a:lnTo>
                    <a:pt x="20675" y="53848"/>
                  </a:lnTo>
                  <a:lnTo>
                    <a:pt x="17449" y="50292"/>
                  </a:lnTo>
                  <a:lnTo>
                    <a:pt x="16649" y="48006"/>
                  </a:lnTo>
                  <a:lnTo>
                    <a:pt x="16731" y="42037"/>
                  </a:lnTo>
                  <a:lnTo>
                    <a:pt x="17383" y="40005"/>
                  </a:lnTo>
                  <a:lnTo>
                    <a:pt x="17660" y="39624"/>
                  </a:lnTo>
                  <a:lnTo>
                    <a:pt x="18961" y="38227"/>
                  </a:lnTo>
                  <a:lnTo>
                    <a:pt x="20510" y="36449"/>
                  </a:lnTo>
                  <a:lnTo>
                    <a:pt x="22326" y="35560"/>
                  </a:lnTo>
                  <a:lnTo>
                    <a:pt x="45923" y="35560"/>
                  </a:lnTo>
                  <a:lnTo>
                    <a:pt x="45123" y="34163"/>
                  </a:lnTo>
                  <a:lnTo>
                    <a:pt x="42697" y="32004"/>
                  </a:lnTo>
                  <a:lnTo>
                    <a:pt x="39446" y="30353"/>
                  </a:lnTo>
                  <a:lnTo>
                    <a:pt x="41910" y="28702"/>
                  </a:lnTo>
                  <a:lnTo>
                    <a:pt x="43713" y="26924"/>
                  </a:lnTo>
                  <a:lnTo>
                    <a:pt x="44627" y="25400"/>
                  </a:lnTo>
                  <a:lnTo>
                    <a:pt x="22817" y="25400"/>
                  </a:lnTo>
                  <a:lnTo>
                    <a:pt x="21090" y="24638"/>
                  </a:lnTo>
                  <a:lnTo>
                    <a:pt x="20933" y="24638"/>
                  </a:lnTo>
                  <a:lnTo>
                    <a:pt x="19494" y="23241"/>
                  </a:lnTo>
                  <a:lnTo>
                    <a:pt x="18316" y="21971"/>
                  </a:lnTo>
                  <a:lnTo>
                    <a:pt x="17551" y="20193"/>
                  </a:lnTo>
                  <a:lnTo>
                    <a:pt x="17551" y="15875"/>
                  </a:lnTo>
                  <a:lnTo>
                    <a:pt x="18186" y="14097"/>
                  </a:lnTo>
                  <a:lnTo>
                    <a:pt x="19340" y="12827"/>
                  </a:lnTo>
                  <a:lnTo>
                    <a:pt x="20599" y="11557"/>
                  </a:lnTo>
                  <a:lnTo>
                    <a:pt x="20396" y="11557"/>
                  </a:lnTo>
                  <a:lnTo>
                    <a:pt x="22377" y="10795"/>
                  </a:lnTo>
                  <a:lnTo>
                    <a:pt x="46495" y="10795"/>
                  </a:lnTo>
                  <a:lnTo>
                    <a:pt x="45237" y="8128"/>
                  </a:lnTo>
                  <a:lnTo>
                    <a:pt x="41389" y="4826"/>
                  </a:lnTo>
                  <a:lnTo>
                    <a:pt x="37553" y="1651"/>
                  </a:lnTo>
                  <a:lnTo>
                    <a:pt x="31610" y="0"/>
                  </a:lnTo>
                  <a:close/>
                </a:path>
                <a:path w="49529" h="65404">
                  <a:moveTo>
                    <a:pt x="45923" y="35560"/>
                  </a:moveTo>
                  <a:lnTo>
                    <a:pt x="26504" y="35560"/>
                  </a:lnTo>
                  <a:lnTo>
                    <a:pt x="28359" y="36449"/>
                  </a:lnTo>
                  <a:lnTo>
                    <a:pt x="31559" y="40005"/>
                  </a:lnTo>
                  <a:lnTo>
                    <a:pt x="32259" y="42037"/>
                  </a:lnTo>
                  <a:lnTo>
                    <a:pt x="32303" y="48006"/>
                  </a:lnTo>
                  <a:lnTo>
                    <a:pt x="31778" y="49530"/>
                  </a:lnTo>
                  <a:lnTo>
                    <a:pt x="31446" y="50292"/>
                  </a:lnTo>
                  <a:lnTo>
                    <a:pt x="28384" y="53721"/>
                  </a:lnTo>
                  <a:lnTo>
                    <a:pt x="26593" y="54737"/>
                  </a:lnTo>
                  <a:lnTo>
                    <a:pt x="47053" y="54737"/>
                  </a:lnTo>
                  <a:lnTo>
                    <a:pt x="48437" y="51943"/>
                  </a:lnTo>
                  <a:lnTo>
                    <a:pt x="49004" y="49530"/>
                  </a:lnTo>
                  <a:lnTo>
                    <a:pt x="48984" y="42037"/>
                  </a:lnTo>
                  <a:lnTo>
                    <a:pt x="48427" y="40005"/>
                  </a:lnTo>
                  <a:lnTo>
                    <a:pt x="48323" y="39624"/>
                  </a:lnTo>
                  <a:lnTo>
                    <a:pt x="46723" y="36957"/>
                  </a:lnTo>
                  <a:lnTo>
                    <a:pt x="45923" y="35560"/>
                  </a:lnTo>
                  <a:close/>
                </a:path>
                <a:path w="49529" h="65404">
                  <a:moveTo>
                    <a:pt x="46495" y="10795"/>
                  </a:moveTo>
                  <a:lnTo>
                    <a:pt x="26390" y="10795"/>
                  </a:lnTo>
                  <a:lnTo>
                    <a:pt x="28356" y="11557"/>
                  </a:lnTo>
                  <a:lnTo>
                    <a:pt x="28146" y="11557"/>
                  </a:lnTo>
                  <a:lnTo>
                    <a:pt x="29324" y="12827"/>
                  </a:lnTo>
                  <a:lnTo>
                    <a:pt x="30607" y="14097"/>
                  </a:lnTo>
                  <a:lnTo>
                    <a:pt x="31242" y="15875"/>
                  </a:lnTo>
                  <a:lnTo>
                    <a:pt x="31242" y="20193"/>
                  </a:lnTo>
                  <a:lnTo>
                    <a:pt x="30632" y="21971"/>
                  </a:lnTo>
                  <a:lnTo>
                    <a:pt x="29400" y="23241"/>
                  </a:lnTo>
                  <a:lnTo>
                    <a:pt x="28168" y="24638"/>
                  </a:lnTo>
                  <a:lnTo>
                    <a:pt x="26278" y="25400"/>
                  </a:lnTo>
                  <a:lnTo>
                    <a:pt x="44627" y="25400"/>
                  </a:lnTo>
                  <a:lnTo>
                    <a:pt x="46393" y="22606"/>
                  </a:lnTo>
                  <a:lnTo>
                    <a:pt x="47082" y="20193"/>
                  </a:lnTo>
                  <a:lnTo>
                    <a:pt x="47155" y="12192"/>
                  </a:lnTo>
                  <a:lnTo>
                    <a:pt x="46495" y="10795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838200" y="7383144"/>
            <a:ext cx="889000" cy="190500"/>
            <a:chOff x="838200" y="7383144"/>
            <a:chExt cx="889000" cy="190500"/>
          </a:xfrm>
        </p:grpSpPr>
        <p:sp>
          <p:nvSpPr>
            <p:cNvPr id="62" name="object 62"/>
            <p:cNvSpPr/>
            <p:nvPr/>
          </p:nvSpPr>
          <p:spPr>
            <a:xfrm>
              <a:off x="838200" y="7383144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49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499"/>
                  </a:lnTo>
                  <a:lnTo>
                    <a:pt x="793750" y="190499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49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EBD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15631" y="7447406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113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626" y="42164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530" y="15113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3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31851" y="15113"/>
                  </a:moveTo>
                  <a:lnTo>
                    <a:pt x="18530" y="15113"/>
                  </a:lnTo>
                  <a:lnTo>
                    <a:pt x="18415" y="15367"/>
                  </a:lnTo>
                  <a:lnTo>
                    <a:pt x="31967" y="15367"/>
                  </a:lnTo>
                  <a:lnTo>
                    <a:pt x="31851" y="15113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582" y="50927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389"/>
                  </a:lnTo>
                  <a:lnTo>
                    <a:pt x="128155" y="64389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870" y="48133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2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43" y="48133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6"/>
                  </a:moveTo>
                  <a:lnTo>
                    <a:pt x="138925" y="17526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6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6"/>
                  </a:moveTo>
                  <a:lnTo>
                    <a:pt x="192709" y="17526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1"/>
                  </a:lnTo>
                  <a:lnTo>
                    <a:pt x="201663" y="18161"/>
                  </a:lnTo>
                  <a:lnTo>
                    <a:pt x="199059" y="17526"/>
                  </a:lnTo>
                  <a:close/>
                </a:path>
                <a:path w="440690" h="65404">
                  <a:moveTo>
                    <a:pt x="227063" y="17526"/>
                  </a:moveTo>
                  <a:lnTo>
                    <a:pt x="219646" y="17526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6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1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9018" y="52451"/>
                  </a:moveTo>
                  <a:lnTo>
                    <a:pt x="297404" y="52451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9018" y="52451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7404" y="52451"/>
                  </a:lnTo>
                  <a:lnTo>
                    <a:pt x="299018" y="52451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1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70" y="52451"/>
                  </a:moveTo>
                  <a:lnTo>
                    <a:pt x="332456" y="52451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70" y="52451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2456" y="52451"/>
                  </a:lnTo>
                  <a:lnTo>
                    <a:pt x="334070" y="52451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6"/>
                  </a:moveTo>
                  <a:lnTo>
                    <a:pt x="357416" y="17526"/>
                  </a:lnTo>
                  <a:lnTo>
                    <a:pt x="351739" y="19685"/>
                  </a:lnTo>
                  <a:lnTo>
                    <a:pt x="344073" y="27940"/>
                  </a:lnTo>
                  <a:lnTo>
                    <a:pt x="343439" y="28702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6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6"/>
                  </a:moveTo>
                  <a:lnTo>
                    <a:pt x="407073" y="17526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1"/>
                  </a:lnTo>
                  <a:lnTo>
                    <a:pt x="394853" y="48133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2"/>
                  </a:lnTo>
                  <a:lnTo>
                    <a:pt x="412225" y="33401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6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1"/>
                  </a:lnTo>
                  <a:lnTo>
                    <a:pt x="423583" y="35052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44500" y="7411973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03-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13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57200" y="7865744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457200" y="7992744"/>
            <a:ext cx="311150" cy="190500"/>
            <a:chOff x="457200" y="7992744"/>
            <a:chExt cx="311150" cy="190500"/>
          </a:xfrm>
        </p:grpSpPr>
        <p:sp>
          <p:nvSpPr>
            <p:cNvPr id="67" name="object 67"/>
            <p:cNvSpPr/>
            <p:nvPr/>
          </p:nvSpPr>
          <p:spPr>
            <a:xfrm>
              <a:off x="457200" y="7992744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899"/>
                  </a:lnTo>
                  <a:lnTo>
                    <a:pt x="0" y="101599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499"/>
                  </a:lnTo>
                  <a:lnTo>
                    <a:pt x="222250" y="190499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599"/>
                  </a:lnTo>
                  <a:lnTo>
                    <a:pt x="311150" y="88899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89648" y="8057006"/>
              <a:ext cx="49530" cy="65405"/>
            </a:xfrm>
            <a:custGeom>
              <a:avLst/>
              <a:gdLst/>
              <a:ahLst/>
              <a:cxnLst/>
              <a:rect l="l" t="t" r="r" b="b"/>
              <a:pathLst>
                <a:path w="49529" h="65404">
                  <a:moveTo>
                    <a:pt x="17881" y="48006"/>
                  </a:moveTo>
                  <a:lnTo>
                    <a:pt x="1270" y="50165"/>
                  </a:lnTo>
                  <a:lnTo>
                    <a:pt x="2077" y="52959"/>
                  </a:lnTo>
                  <a:lnTo>
                    <a:pt x="2150" y="53213"/>
                  </a:lnTo>
                  <a:lnTo>
                    <a:pt x="2260" y="53594"/>
                  </a:lnTo>
                  <a:lnTo>
                    <a:pt x="3670" y="56388"/>
                  </a:lnTo>
                  <a:lnTo>
                    <a:pt x="5499" y="58547"/>
                  </a:lnTo>
                  <a:lnTo>
                    <a:pt x="7327" y="60833"/>
                  </a:lnTo>
                  <a:lnTo>
                    <a:pt x="9626" y="62611"/>
                  </a:lnTo>
                  <a:lnTo>
                    <a:pt x="15151" y="64897"/>
                  </a:lnTo>
                  <a:lnTo>
                    <a:pt x="18922" y="65405"/>
                  </a:lnTo>
                  <a:lnTo>
                    <a:pt x="31788" y="65405"/>
                  </a:lnTo>
                  <a:lnTo>
                    <a:pt x="38125" y="62865"/>
                  </a:lnTo>
                  <a:lnTo>
                    <a:pt x="42684" y="57531"/>
                  </a:lnTo>
                  <a:lnTo>
                    <a:pt x="44517" y="54737"/>
                  </a:lnTo>
                  <a:lnTo>
                    <a:pt x="22402" y="54737"/>
                  </a:lnTo>
                  <a:lnTo>
                    <a:pt x="21132" y="54229"/>
                  </a:lnTo>
                  <a:lnTo>
                    <a:pt x="19050" y="52197"/>
                  </a:lnTo>
                  <a:lnTo>
                    <a:pt x="18313" y="50419"/>
                  </a:lnTo>
                  <a:lnTo>
                    <a:pt x="17927" y="48260"/>
                  </a:lnTo>
                  <a:lnTo>
                    <a:pt x="17881" y="48006"/>
                  </a:lnTo>
                  <a:close/>
                </a:path>
                <a:path w="49529" h="65404">
                  <a:moveTo>
                    <a:pt x="49279" y="37084"/>
                  </a:moveTo>
                  <a:lnTo>
                    <a:pt x="32639" y="37084"/>
                  </a:lnTo>
                  <a:lnTo>
                    <a:pt x="32463" y="39243"/>
                  </a:lnTo>
                  <a:lnTo>
                    <a:pt x="32371" y="40386"/>
                  </a:lnTo>
                  <a:lnTo>
                    <a:pt x="32298" y="41275"/>
                  </a:lnTo>
                  <a:lnTo>
                    <a:pt x="32175" y="42799"/>
                  </a:lnTo>
                  <a:lnTo>
                    <a:pt x="32092" y="43815"/>
                  </a:lnTo>
                  <a:lnTo>
                    <a:pt x="31326" y="48006"/>
                  </a:lnTo>
                  <a:lnTo>
                    <a:pt x="31280" y="48260"/>
                  </a:lnTo>
                  <a:lnTo>
                    <a:pt x="30175" y="50419"/>
                  </a:lnTo>
                  <a:lnTo>
                    <a:pt x="28676" y="53213"/>
                  </a:lnTo>
                  <a:lnTo>
                    <a:pt x="26581" y="54737"/>
                  </a:lnTo>
                  <a:lnTo>
                    <a:pt x="44517" y="54737"/>
                  </a:lnTo>
                  <a:lnTo>
                    <a:pt x="45683" y="52959"/>
                  </a:lnTo>
                  <a:lnTo>
                    <a:pt x="47821" y="47244"/>
                  </a:lnTo>
                  <a:lnTo>
                    <a:pt x="48937" y="41275"/>
                  </a:lnTo>
                  <a:lnTo>
                    <a:pt x="49032" y="40767"/>
                  </a:lnTo>
                  <a:lnTo>
                    <a:pt x="49103" y="40386"/>
                  </a:lnTo>
                  <a:lnTo>
                    <a:pt x="49164" y="39243"/>
                  </a:lnTo>
                  <a:lnTo>
                    <a:pt x="49279" y="37084"/>
                  </a:lnTo>
                  <a:close/>
                </a:path>
                <a:path w="49529" h="65404">
                  <a:moveTo>
                    <a:pt x="29095" y="0"/>
                  </a:moveTo>
                  <a:lnTo>
                    <a:pt x="18084" y="0"/>
                  </a:lnTo>
                  <a:lnTo>
                    <a:pt x="13931" y="889"/>
                  </a:lnTo>
                  <a:lnTo>
                    <a:pt x="7315" y="4445"/>
                  </a:lnTo>
                  <a:lnTo>
                    <a:pt x="4724" y="7112"/>
                  </a:lnTo>
                  <a:lnTo>
                    <a:pt x="939" y="13970"/>
                  </a:lnTo>
                  <a:lnTo>
                    <a:pt x="0" y="17780"/>
                  </a:lnTo>
                  <a:lnTo>
                    <a:pt x="0" y="28194"/>
                  </a:lnTo>
                  <a:lnTo>
                    <a:pt x="1854" y="33274"/>
                  </a:lnTo>
                  <a:lnTo>
                    <a:pt x="5562" y="37338"/>
                  </a:lnTo>
                  <a:lnTo>
                    <a:pt x="9258" y="41275"/>
                  </a:lnTo>
                  <a:lnTo>
                    <a:pt x="13804" y="43307"/>
                  </a:lnTo>
                  <a:lnTo>
                    <a:pt x="21958" y="43307"/>
                  </a:lnTo>
                  <a:lnTo>
                    <a:pt x="24383" y="42799"/>
                  </a:lnTo>
                  <a:lnTo>
                    <a:pt x="28600" y="40767"/>
                  </a:lnTo>
                  <a:lnTo>
                    <a:pt x="30645" y="39243"/>
                  </a:lnTo>
                  <a:lnTo>
                    <a:pt x="32639" y="37084"/>
                  </a:lnTo>
                  <a:lnTo>
                    <a:pt x="49279" y="37084"/>
                  </a:lnTo>
                  <a:lnTo>
                    <a:pt x="49482" y="33274"/>
                  </a:lnTo>
                  <a:lnTo>
                    <a:pt x="49523" y="32512"/>
                  </a:lnTo>
                  <a:lnTo>
                    <a:pt x="21551" y="32512"/>
                  </a:lnTo>
                  <a:lnTo>
                    <a:pt x="19659" y="31496"/>
                  </a:lnTo>
                  <a:lnTo>
                    <a:pt x="18148" y="29591"/>
                  </a:lnTo>
                  <a:lnTo>
                    <a:pt x="16733" y="27940"/>
                  </a:lnTo>
                  <a:lnTo>
                    <a:pt x="16624" y="27813"/>
                  </a:lnTo>
                  <a:lnTo>
                    <a:pt x="15943" y="25273"/>
                  </a:lnTo>
                  <a:lnTo>
                    <a:pt x="15943" y="17780"/>
                  </a:lnTo>
                  <a:lnTo>
                    <a:pt x="16598" y="15367"/>
                  </a:lnTo>
                  <a:lnTo>
                    <a:pt x="17955" y="13716"/>
                  </a:lnTo>
                  <a:lnTo>
                    <a:pt x="19532" y="11938"/>
                  </a:lnTo>
                  <a:lnTo>
                    <a:pt x="21361" y="11049"/>
                  </a:lnTo>
                  <a:lnTo>
                    <a:pt x="45071" y="11049"/>
                  </a:lnTo>
                  <a:lnTo>
                    <a:pt x="44094" y="8890"/>
                  </a:lnTo>
                  <a:lnTo>
                    <a:pt x="41198" y="5461"/>
                  </a:lnTo>
                  <a:lnTo>
                    <a:pt x="33921" y="1143"/>
                  </a:lnTo>
                  <a:lnTo>
                    <a:pt x="29095" y="0"/>
                  </a:lnTo>
                  <a:close/>
                </a:path>
                <a:path w="49529" h="65404">
                  <a:moveTo>
                    <a:pt x="45071" y="11049"/>
                  </a:moveTo>
                  <a:lnTo>
                    <a:pt x="25933" y="11049"/>
                  </a:lnTo>
                  <a:lnTo>
                    <a:pt x="27927" y="11938"/>
                  </a:lnTo>
                  <a:lnTo>
                    <a:pt x="29565" y="13970"/>
                  </a:lnTo>
                  <a:lnTo>
                    <a:pt x="31203" y="15875"/>
                  </a:lnTo>
                  <a:lnTo>
                    <a:pt x="32029" y="18542"/>
                  </a:lnTo>
                  <a:lnTo>
                    <a:pt x="32029" y="25273"/>
                  </a:lnTo>
                  <a:lnTo>
                    <a:pt x="31279" y="27813"/>
                  </a:lnTo>
                  <a:lnTo>
                    <a:pt x="31242" y="27940"/>
                  </a:lnTo>
                  <a:lnTo>
                    <a:pt x="28130" y="31496"/>
                  </a:lnTo>
                  <a:lnTo>
                    <a:pt x="26174" y="32512"/>
                  </a:lnTo>
                  <a:lnTo>
                    <a:pt x="49529" y="32512"/>
                  </a:lnTo>
                  <a:lnTo>
                    <a:pt x="49529" y="24638"/>
                  </a:lnTo>
                  <a:lnTo>
                    <a:pt x="48472" y="18542"/>
                  </a:lnTo>
                  <a:lnTo>
                    <a:pt x="48274" y="18034"/>
                  </a:lnTo>
                  <a:lnTo>
                    <a:pt x="46396" y="13970"/>
                  </a:lnTo>
                  <a:lnTo>
                    <a:pt x="45071" y="11049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838200" y="7992744"/>
            <a:ext cx="889000" cy="190500"/>
            <a:chOff x="838200" y="7992744"/>
            <a:chExt cx="889000" cy="190500"/>
          </a:xfrm>
        </p:grpSpPr>
        <p:sp>
          <p:nvSpPr>
            <p:cNvPr id="70" name="object 70"/>
            <p:cNvSpPr/>
            <p:nvPr/>
          </p:nvSpPr>
          <p:spPr>
            <a:xfrm>
              <a:off x="838200" y="7992744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49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499"/>
                  </a:lnTo>
                  <a:lnTo>
                    <a:pt x="793750" y="190499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49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15631" y="8057006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113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626" y="42164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530" y="15113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3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31851" y="15113"/>
                  </a:moveTo>
                  <a:lnTo>
                    <a:pt x="18530" y="15113"/>
                  </a:lnTo>
                  <a:lnTo>
                    <a:pt x="18415" y="15367"/>
                  </a:lnTo>
                  <a:lnTo>
                    <a:pt x="31967" y="15367"/>
                  </a:lnTo>
                  <a:lnTo>
                    <a:pt x="31851" y="15113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582" y="50927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389"/>
                  </a:lnTo>
                  <a:lnTo>
                    <a:pt x="128155" y="64389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870" y="48133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2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43" y="48133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6"/>
                  </a:moveTo>
                  <a:lnTo>
                    <a:pt x="138925" y="17526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6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6"/>
                  </a:moveTo>
                  <a:lnTo>
                    <a:pt x="192709" y="17526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1"/>
                  </a:lnTo>
                  <a:lnTo>
                    <a:pt x="201663" y="18161"/>
                  </a:lnTo>
                  <a:lnTo>
                    <a:pt x="199059" y="17526"/>
                  </a:lnTo>
                  <a:close/>
                </a:path>
                <a:path w="440690" h="65404">
                  <a:moveTo>
                    <a:pt x="227063" y="17526"/>
                  </a:moveTo>
                  <a:lnTo>
                    <a:pt x="219646" y="17526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6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1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9018" y="52451"/>
                  </a:moveTo>
                  <a:lnTo>
                    <a:pt x="297404" y="52451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9018" y="52451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7404" y="52451"/>
                  </a:lnTo>
                  <a:lnTo>
                    <a:pt x="299018" y="52451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1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70" y="52451"/>
                  </a:moveTo>
                  <a:lnTo>
                    <a:pt x="332456" y="52451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70" y="52451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2456" y="52451"/>
                  </a:lnTo>
                  <a:lnTo>
                    <a:pt x="334070" y="52451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6"/>
                  </a:moveTo>
                  <a:lnTo>
                    <a:pt x="357416" y="17526"/>
                  </a:lnTo>
                  <a:lnTo>
                    <a:pt x="351739" y="19685"/>
                  </a:lnTo>
                  <a:lnTo>
                    <a:pt x="344073" y="27940"/>
                  </a:lnTo>
                  <a:lnTo>
                    <a:pt x="343439" y="28702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6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6"/>
                  </a:moveTo>
                  <a:lnTo>
                    <a:pt x="407073" y="17526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1"/>
                  </a:lnTo>
                  <a:lnTo>
                    <a:pt x="394853" y="48133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2"/>
                  </a:lnTo>
                  <a:lnTo>
                    <a:pt x="412225" y="33401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6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1"/>
                  </a:lnTo>
                  <a:lnTo>
                    <a:pt x="423583" y="35052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44500" y="8021573"/>
            <a:ext cx="124269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kitsw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6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04-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06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457200" y="8475344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457200" y="8602344"/>
            <a:ext cx="311150" cy="190500"/>
            <a:chOff x="457200" y="8602344"/>
            <a:chExt cx="311150" cy="190500"/>
          </a:xfrm>
        </p:grpSpPr>
        <p:sp>
          <p:nvSpPr>
            <p:cNvPr id="75" name="object 75"/>
            <p:cNvSpPr/>
            <p:nvPr/>
          </p:nvSpPr>
          <p:spPr>
            <a:xfrm>
              <a:off x="457200" y="8602344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899"/>
                  </a:lnTo>
                  <a:lnTo>
                    <a:pt x="0" y="101599"/>
                  </a:lnTo>
                  <a:lnTo>
                    <a:pt x="6984" y="136143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499"/>
                  </a:lnTo>
                  <a:lnTo>
                    <a:pt x="222250" y="190499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3"/>
                  </a:lnTo>
                  <a:lnTo>
                    <a:pt x="311150" y="101599"/>
                  </a:lnTo>
                  <a:lnTo>
                    <a:pt x="311150" y="88899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153" y="8666606"/>
              <a:ext cx="99059" cy="65405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838200" y="8602344"/>
            <a:ext cx="889000" cy="190500"/>
            <a:chOff x="838200" y="8602344"/>
            <a:chExt cx="889000" cy="190500"/>
          </a:xfrm>
        </p:grpSpPr>
        <p:sp>
          <p:nvSpPr>
            <p:cNvPr id="78" name="object 78"/>
            <p:cNvSpPr/>
            <p:nvPr/>
          </p:nvSpPr>
          <p:spPr>
            <a:xfrm>
              <a:off x="838200" y="8602344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49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499"/>
                  </a:lnTo>
                  <a:lnTo>
                    <a:pt x="793750" y="190499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49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15631" y="8666606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49" y="12319"/>
                  </a:lnTo>
                  <a:lnTo>
                    <a:pt x="2169" y="15113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6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530" y="15113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1005" y="12319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3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72" y="12319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582" y="50927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071" y="33147"/>
                  </a:lnTo>
                  <a:lnTo>
                    <a:pt x="142328" y="34925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26" y="33147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6"/>
                  </a:moveTo>
                  <a:lnTo>
                    <a:pt x="138925" y="17526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6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6"/>
                  </a:moveTo>
                  <a:lnTo>
                    <a:pt x="192709" y="17526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1"/>
                  </a:lnTo>
                  <a:lnTo>
                    <a:pt x="201663" y="18161"/>
                  </a:lnTo>
                  <a:lnTo>
                    <a:pt x="199059" y="17526"/>
                  </a:lnTo>
                  <a:close/>
                </a:path>
                <a:path w="440690" h="65404">
                  <a:moveTo>
                    <a:pt x="227063" y="17526"/>
                  </a:moveTo>
                  <a:lnTo>
                    <a:pt x="219646" y="17526"/>
                  </a:lnTo>
                  <a:lnTo>
                    <a:pt x="217119" y="18034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6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2096" y="52578"/>
                  </a:lnTo>
                  <a:lnTo>
                    <a:pt x="291945" y="52578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862" y="52578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7148" y="52578"/>
                  </a:lnTo>
                  <a:lnTo>
                    <a:pt x="326997" y="52578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914" y="52578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6"/>
                  </a:moveTo>
                  <a:lnTo>
                    <a:pt x="357416" y="17526"/>
                  </a:lnTo>
                  <a:lnTo>
                    <a:pt x="351739" y="19685"/>
                  </a:lnTo>
                  <a:lnTo>
                    <a:pt x="343484" y="28575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4"/>
                  </a:lnTo>
                  <a:lnTo>
                    <a:pt x="383070" y="60452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8432" y="50800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3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6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6"/>
                  </a:moveTo>
                  <a:lnTo>
                    <a:pt x="407073" y="17526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825" y="33147"/>
                  </a:lnTo>
                  <a:lnTo>
                    <a:pt x="394754" y="47752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2"/>
                  </a:lnTo>
                  <a:lnTo>
                    <a:pt x="411137" y="34925"/>
                  </a:lnTo>
                  <a:lnTo>
                    <a:pt x="412225" y="33401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6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213" y="33147"/>
                  </a:lnTo>
                  <a:lnTo>
                    <a:pt x="423492" y="34925"/>
                  </a:lnTo>
                  <a:lnTo>
                    <a:pt x="423583" y="35052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44500" y="8631173"/>
            <a:ext cx="287782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City</a:t>
            </a:r>
            <a:r>
              <a:rPr sz="800" spc="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2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Dublin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Education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and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Training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Board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12-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17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57200" y="9084309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444500" y="673100"/>
            <a:ext cx="2787650" cy="150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solidFill>
                  <a:srgbClr val="171717"/>
                </a:solidFill>
                <a:latin typeface="Arial Black"/>
                <a:cs typeface="Arial Black"/>
              </a:rPr>
              <a:t>Match</a:t>
            </a:r>
            <a:r>
              <a:rPr sz="1000" spc="-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71717"/>
                </a:solidFill>
                <a:latin typeface="Arial Black"/>
                <a:cs typeface="Arial Black"/>
              </a:rPr>
              <a:t>Groups</a:t>
            </a:r>
            <a:endParaRPr sz="1000">
              <a:latin typeface="Arial Black"/>
              <a:cs typeface="Arial Black"/>
            </a:endParaRPr>
          </a:p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53</a:t>
            </a:r>
            <a:r>
              <a:rPr sz="700" spc="1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Not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Cited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or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Quoted</a:t>
            </a:r>
            <a:r>
              <a:rPr sz="7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10%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55"/>
              </a:spcBef>
            </a:pP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with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neither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in-text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nor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616161"/>
                </a:solidFill>
                <a:latin typeface="Arial MT"/>
                <a:cs typeface="Arial MT"/>
              </a:rPr>
              <a:t>marks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9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Missing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Quotations</a:t>
            </a:r>
            <a:r>
              <a:rPr sz="7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70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that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are</a:t>
            </a:r>
            <a:r>
              <a:rPr sz="700" spc="8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still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very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similar</a:t>
            </a:r>
            <a:r>
              <a:rPr sz="700" spc="6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to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source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material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6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Missing</a:t>
            </a:r>
            <a:r>
              <a:rPr sz="7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Citation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55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that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have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marks,</a:t>
            </a:r>
            <a:r>
              <a:rPr sz="700" spc="12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but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no</a:t>
            </a:r>
            <a:r>
              <a:rPr sz="700" spc="11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in-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text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700" dirty="0">
                <a:solidFill>
                  <a:srgbClr val="171717"/>
                </a:solidFill>
                <a:latin typeface="Arial Black"/>
                <a:cs typeface="Arial Black"/>
              </a:rPr>
              <a:t>0</a:t>
            </a:r>
            <a:r>
              <a:rPr sz="700" spc="165" dirty="0">
                <a:solidFill>
                  <a:srgbClr val="171717"/>
                </a:solidFill>
                <a:latin typeface="Arial Black"/>
                <a:cs typeface="Arial Black"/>
              </a:rPr>
              <a:t> 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Cited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and</a:t>
            </a:r>
            <a:r>
              <a:rPr sz="700" spc="2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71717"/>
                </a:solidFill>
                <a:latin typeface="Arial MT"/>
                <a:cs typeface="Arial MT"/>
              </a:rPr>
              <a:t>Quoted</a:t>
            </a:r>
            <a:r>
              <a:rPr sz="700" spc="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71717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70"/>
              </a:spcBef>
            </a:pP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with</a:t>
            </a:r>
            <a:r>
              <a:rPr sz="700" spc="6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in-text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citation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present,</a:t>
            </a:r>
            <a:r>
              <a:rPr sz="700" spc="8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but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no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616161"/>
                </a:solidFill>
                <a:latin typeface="Arial MT"/>
                <a:cs typeface="Arial MT"/>
              </a:rPr>
              <a:t>quotation</a:t>
            </a:r>
            <a:r>
              <a:rPr sz="700" spc="7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616161"/>
                </a:solidFill>
                <a:latin typeface="Arial MT"/>
                <a:cs typeface="Arial MT"/>
              </a:rPr>
              <a:t>marks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346961" y="342392"/>
            <a:ext cx="11741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3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926073" y="342392"/>
            <a:ext cx="13703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758310" y="673100"/>
            <a:ext cx="81406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4" dirty="0">
                <a:solidFill>
                  <a:srgbClr val="171717"/>
                </a:solidFill>
                <a:latin typeface="Arial Black"/>
                <a:cs typeface="Arial Black"/>
              </a:rPr>
              <a:t>Top</a:t>
            </a:r>
            <a:r>
              <a:rPr sz="10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40" dirty="0">
                <a:solidFill>
                  <a:srgbClr val="171717"/>
                </a:solidFill>
                <a:latin typeface="Arial Black"/>
                <a:cs typeface="Arial Black"/>
              </a:rPr>
              <a:t>Sources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4500" y="2608833"/>
            <a:ext cx="4768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4" dirty="0">
                <a:solidFill>
                  <a:srgbClr val="171717"/>
                </a:solidFill>
                <a:latin typeface="Arial Black"/>
                <a:cs typeface="Arial Black"/>
              </a:rPr>
              <a:t>Top</a:t>
            </a:r>
            <a:r>
              <a:rPr sz="10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171717"/>
                </a:solidFill>
                <a:latin typeface="Arial Black"/>
                <a:cs typeface="Arial Black"/>
              </a:rPr>
              <a:t>Sources</a:t>
            </a:r>
            <a:endParaRPr sz="1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The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sources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with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the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highest</a:t>
            </a:r>
            <a:r>
              <a:rPr sz="700" spc="114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number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of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matches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within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the</a:t>
            </a:r>
            <a:r>
              <a:rPr sz="700" spc="8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submission.</a:t>
            </a:r>
            <a:r>
              <a:rPr sz="700" spc="10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Overlapping</a:t>
            </a:r>
            <a:r>
              <a:rPr sz="700" spc="95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sources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will</a:t>
            </a:r>
            <a:r>
              <a:rPr sz="700" spc="9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not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616161"/>
                </a:solidFill>
                <a:latin typeface="Arial MT"/>
                <a:cs typeface="Arial MT"/>
              </a:rPr>
              <a:t>be</a:t>
            </a:r>
            <a:r>
              <a:rPr sz="700" spc="100" dirty="0">
                <a:solidFill>
                  <a:srgbClr val="616161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616161"/>
                </a:solidFill>
                <a:latin typeface="Arial MT"/>
                <a:cs typeface="Arial MT"/>
              </a:rPr>
              <a:t>displayed.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889372" y="3357498"/>
            <a:ext cx="1905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2%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889372" y="3967098"/>
            <a:ext cx="1905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889372" y="4576698"/>
            <a:ext cx="24574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889372" y="5186298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889372" y="5796152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889372" y="6405752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889372" y="7015353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889372" y="7625333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889372" y="8234933"/>
            <a:ext cx="2457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889372" y="8844483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97" name="object 9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660400" cy="198120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457200" y="964564"/>
            <a:ext cx="158750" cy="152400"/>
            <a:chOff x="457200" y="964564"/>
            <a:chExt cx="158750" cy="152400"/>
          </a:xfrm>
        </p:grpSpPr>
        <p:pic>
          <p:nvPicPr>
            <p:cNvPr id="99" name="object 9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" y="964564"/>
              <a:ext cx="158750" cy="1524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300" y="1002664"/>
              <a:ext cx="69850" cy="76200"/>
            </a:xfrm>
            <a:prstGeom prst="rect">
              <a:avLst/>
            </a:prstGeom>
          </p:spPr>
        </p:pic>
      </p:grpSp>
      <p:pic>
        <p:nvPicPr>
          <p:cNvPr id="101" name="object 10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200" y="1282319"/>
            <a:ext cx="158750" cy="152400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7200" y="1600072"/>
            <a:ext cx="158750" cy="152400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457200" y="1917192"/>
            <a:ext cx="158750" cy="152400"/>
            <a:chOff x="457200" y="1917192"/>
            <a:chExt cx="158750" cy="152400"/>
          </a:xfrm>
        </p:grpSpPr>
        <p:pic>
          <p:nvPicPr>
            <p:cNvPr id="104" name="object 10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7200" y="1917192"/>
              <a:ext cx="158750" cy="1524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5300" y="1955292"/>
              <a:ext cx="69850" cy="76200"/>
            </a:xfrm>
            <a:prstGeom prst="rect">
              <a:avLst/>
            </a:prstGeom>
          </p:spPr>
        </p:pic>
      </p:grpSp>
      <p:graphicFrame>
        <p:nvGraphicFramePr>
          <p:cNvPr id="106" name="object 106"/>
          <p:cNvGraphicFramePr>
            <a:graphicFrameLocks noGrp="1"/>
          </p:cNvGraphicFramePr>
          <p:nvPr/>
        </p:nvGraphicFramePr>
        <p:xfrm>
          <a:off x="3774709" y="987035"/>
          <a:ext cx="1937385" cy="44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marL="21590">
                        <a:lnSpc>
                          <a:spcPts val="770"/>
                        </a:lnSpc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2%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770"/>
                        </a:lnSpc>
                      </a:pP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700" spc="24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sources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2%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Publications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21590">
                        <a:lnSpc>
                          <a:spcPts val="745"/>
                        </a:lnSpc>
                        <a:spcBef>
                          <a:spcPts val="240"/>
                        </a:spcBef>
                      </a:pPr>
                      <a:r>
                        <a:rPr sz="700" spc="-2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9%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795"/>
                        </a:lnSpc>
                        <a:spcBef>
                          <a:spcPts val="195"/>
                        </a:spcBef>
                      </a:pP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Submitted</a:t>
                      </a:r>
                      <a:r>
                        <a:rPr sz="700" spc="7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works</a:t>
                      </a:r>
                      <a:r>
                        <a:rPr sz="700" spc="95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(Student</a:t>
                      </a:r>
                      <a:r>
                        <a:rPr sz="700" spc="8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71717"/>
                          </a:solidFill>
                          <a:latin typeface="Arial MT"/>
                          <a:cs typeface="Arial MT"/>
                        </a:rPr>
                        <a:t>Papers)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7" name="object 10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11131" y="1337832"/>
            <a:ext cx="77963" cy="77963"/>
          </a:xfrm>
          <a:prstGeom prst="rect">
            <a:avLst/>
          </a:prstGeom>
        </p:spPr>
      </p:pic>
      <p:sp>
        <p:nvSpPr>
          <p:cNvPr id="108" name="object 108"/>
          <p:cNvSpPr txBox="1"/>
          <p:nvPr/>
        </p:nvSpPr>
        <p:spPr>
          <a:xfrm>
            <a:off x="1345438" y="9546949"/>
            <a:ext cx="117411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3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926073" y="9546949"/>
            <a:ext cx="1370330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499600"/>
            <a:ext cx="698500" cy="2095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7200" y="952500"/>
            <a:ext cx="311150" cy="190500"/>
            <a:chOff x="457200" y="952500"/>
            <a:chExt cx="311150" cy="190500"/>
          </a:xfrm>
        </p:grpSpPr>
        <p:sp>
          <p:nvSpPr>
            <p:cNvPr id="4" name="object 4"/>
            <p:cNvSpPr/>
            <p:nvPr/>
          </p:nvSpPr>
          <p:spPr>
            <a:xfrm>
              <a:off x="457200" y="9525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153" y="1016127"/>
              <a:ext cx="87782" cy="6438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38200" y="952500"/>
            <a:ext cx="889000" cy="190500"/>
            <a:chOff x="838200" y="952500"/>
            <a:chExt cx="889000" cy="190500"/>
          </a:xfrm>
        </p:grpSpPr>
        <p:sp>
          <p:nvSpPr>
            <p:cNvPr id="7" name="object 7"/>
            <p:cNvSpPr/>
            <p:nvPr/>
          </p:nvSpPr>
          <p:spPr>
            <a:xfrm>
              <a:off x="838200" y="9525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40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40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1E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5631" y="10161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5">
                  <a:moveTo>
                    <a:pt x="16738" y="42291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8"/>
                  </a:lnTo>
                  <a:lnTo>
                    <a:pt x="6337" y="59308"/>
                  </a:lnTo>
                  <a:lnTo>
                    <a:pt x="10058" y="63373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5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367"/>
                  </a:lnTo>
                  <a:lnTo>
                    <a:pt x="2185" y="23622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7"/>
                  </a:lnTo>
                  <a:lnTo>
                    <a:pt x="18846" y="18669"/>
                  </a:lnTo>
                  <a:lnTo>
                    <a:pt x="18415" y="17779"/>
                  </a:lnTo>
                  <a:lnTo>
                    <a:pt x="18415" y="15367"/>
                  </a:lnTo>
                  <a:lnTo>
                    <a:pt x="18935" y="14224"/>
                  </a:lnTo>
                  <a:lnTo>
                    <a:pt x="19964" y="13207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5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2107" y="15367"/>
                  </a:lnTo>
                  <a:lnTo>
                    <a:pt x="31967" y="15367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7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7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5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70"/>
                  </a:lnTo>
                  <a:lnTo>
                    <a:pt x="84213" y="62229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8"/>
                  </a:lnTo>
                  <a:lnTo>
                    <a:pt x="75666" y="18542"/>
                  </a:lnTo>
                  <a:close/>
                </a:path>
                <a:path w="440690" h="65405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5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5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6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5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9"/>
                  </a:lnTo>
                  <a:lnTo>
                    <a:pt x="129965" y="48259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5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59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5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5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5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8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2"/>
                  </a:lnTo>
                  <a:close/>
                </a:path>
                <a:path w="440690" h="65405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0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5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5">
                  <a:moveTo>
                    <a:pt x="227063" y="17525"/>
                  </a:moveTo>
                  <a:lnTo>
                    <a:pt x="219646" y="17525"/>
                  </a:lnTo>
                  <a:lnTo>
                    <a:pt x="217119" y="18033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5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3"/>
                  </a:lnTo>
                  <a:close/>
                </a:path>
                <a:path w="440690" h="65405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5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7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9"/>
                  </a:lnTo>
                  <a:close/>
                </a:path>
                <a:path w="440690" h="65405">
                  <a:moveTo>
                    <a:pt x="298958" y="51816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6"/>
                  </a:lnTo>
                  <a:close/>
                </a:path>
                <a:path w="440690" h="65405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5">
                  <a:moveTo>
                    <a:pt x="290842" y="1143"/>
                  </a:moveTo>
                  <a:lnTo>
                    <a:pt x="274993" y="10159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5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7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9"/>
                  </a:lnTo>
                  <a:close/>
                </a:path>
                <a:path w="440690" h="65405">
                  <a:moveTo>
                    <a:pt x="334010" y="51816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6"/>
                  </a:lnTo>
                  <a:close/>
                </a:path>
                <a:path w="440690" h="65405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5">
                  <a:moveTo>
                    <a:pt x="325894" y="1143"/>
                  </a:moveTo>
                  <a:lnTo>
                    <a:pt x="310045" y="10159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5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40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1"/>
                  </a:lnTo>
                  <a:lnTo>
                    <a:pt x="357612" y="46608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2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5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5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2"/>
                  </a:lnTo>
                  <a:lnTo>
                    <a:pt x="385947" y="27940"/>
                  </a:lnTo>
                  <a:close/>
                </a:path>
                <a:path w="440690" h="65405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2"/>
                  </a:lnTo>
                  <a:lnTo>
                    <a:pt x="396405" y="27558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59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5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7"/>
                  </a:lnTo>
                  <a:close/>
                </a:path>
                <a:path w="440690" h="65405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5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979677"/>
            <a:ext cx="1688464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Somaiya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Vidyavihar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2023-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04-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20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" y="14351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57200" y="1562100"/>
            <a:ext cx="311150" cy="190500"/>
            <a:chOff x="457200" y="1562100"/>
            <a:chExt cx="311150" cy="190500"/>
          </a:xfrm>
        </p:grpSpPr>
        <p:sp>
          <p:nvSpPr>
            <p:cNvPr id="12" name="object 12"/>
            <p:cNvSpPr/>
            <p:nvPr/>
          </p:nvSpPr>
          <p:spPr>
            <a:xfrm>
              <a:off x="457200" y="15621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153" y="1625727"/>
              <a:ext cx="98818" cy="6438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838200" y="1562100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889000" h="190500">
                <a:moveTo>
                  <a:pt x="793750" y="0"/>
                </a:moveTo>
                <a:lnTo>
                  <a:pt x="95250" y="0"/>
                </a:lnTo>
                <a:lnTo>
                  <a:pt x="58178" y="7493"/>
                </a:lnTo>
                <a:lnTo>
                  <a:pt x="27901" y="27940"/>
                </a:lnTo>
                <a:lnTo>
                  <a:pt x="7480" y="58166"/>
                </a:lnTo>
                <a:lnTo>
                  <a:pt x="0" y="95250"/>
                </a:lnTo>
                <a:lnTo>
                  <a:pt x="7480" y="132333"/>
                </a:lnTo>
                <a:lnTo>
                  <a:pt x="27901" y="162559"/>
                </a:lnTo>
                <a:lnTo>
                  <a:pt x="58178" y="183006"/>
                </a:lnTo>
                <a:lnTo>
                  <a:pt x="95250" y="190500"/>
                </a:lnTo>
                <a:lnTo>
                  <a:pt x="793750" y="190500"/>
                </a:lnTo>
                <a:lnTo>
                  <a:pt x="830833" y="183006"/>
                </a:lnTo>
                <a:lnTo>
                  <a:pt x="861060" y="162559"/>
                </a:lnTo>
                <a:lnTo>
                  <a:pt x="881507" y="132333"/>
                </a:lnTo>
                <a:lnTo>
                  <a:pt x="889000" y="95250"/>
                </a:lnTo>
                <a:lnTo>
                  <a:pt x="881507" y="58166"/>
                </a:lnTo>
                <a:lnTo>
                  <a:pt x="861060" y="27940"/>
                </a:lnTo>
                <a:lnTo>
                  <a:pt x="830833" y="7493"/>
                </a:lnTo>
                <a:lnTo>
                  <a:pt x="793750" y="0"/>
                </a:lnTo>
                <a:close/>
              </a:path>
            </a:pathLst>
          </a:custGeom>
          <a:solidFill>
            <a:srgbClr val="EBDF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4500" y="1589277"/>
            <a:ext cx="105092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722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Internet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5"/>
              </a:rPr>
              <a:t>redcrevistas.com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" y="20447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57200" y="2171700"/>
            <a:ext cx="311150" cy="190500"/>
            <a:chOff x="457200" y="2171700"/>
            <a:chExt cx="311150" cy="190500"/>
          </a:xfrm>
        </p:grpSpPr>
        <p:sp>
          <p:nvSpPr>
            <p:cNvPr id="18" name="object 18"/>
            <p:cNvSpPr/>
            <p:nvPr/>
          </p:nvSpPr>
          <p:spPr>
            <a:xfrm>
              <a:off x="457200" y="21717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153" y="2235327"/>
              <a:ext cx="99098" cy="65404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38200" y="2171700"/>
            <a:ext cx="889000" cy="190500"/>
            <a:chOff x="838200" y="2171700"/>
            <a:chExt cx="889000" cy="190500"/>
          </a:xfrm>
        </p:grpSpPr>
        <p:sp>
          <p:nvSpPr>
            <p:cNvPr id="21" name="object 21"/>
            <p:cNvSpPr/>
            <p:nvPr/>
          </p:nvSpPr>
          <p:spPr>
            <a:xfrm>
              <a:off x="838200" y="21717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40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40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5631" y="22353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5">
                  <a:moveTo>
                    <a:pt x="16738" y="42291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8"/>
                  </a:lnTo>
                  <a:lnTo>
                    <a:pt x="6337" y="59308"/>
                  </a:lnTo>
                  <a:lnTo>
                    <a:pt x="10058" y="63373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5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367"/>
                  </a:lnTo>
                  <a:lnTo>
                    <a:pt x="2185" y="23622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7"/>
                  </a:lnTo>
                  <a:lnTo>
                    <a:pt x="18846" y="18669"/>
                  </a:lnTo>
                  <a:lnTo>
                    <a:pt x="18415" y="17779"/>
                  </a:lnTo>
                  <a:lnTo>
                    <a:pt x="18415" y="15367"/>
                  </a:lnTo>
                  <a:lnTo>
                    <a:pt x="18935" y="14224"/>
                  </a:lnTo>
                  <a:lnTo>
                    <a:pt x="19964" y="13207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5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2107" y="15367"/>
                  </a:lnTo>
                  <a:lnTo>
                    <a:pt x="31967" y="15367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7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7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5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70"/>
                  </a:lnTo>
                  <a:lnTo>
                    <a:pt x="84213" y="62229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8"/>
                  </a:lnTo>
                  <a:lnTo>
                    <a:pt x="75666" y="18542"/>
                  </a:lnTo>
                  <a:close/>
                </a:path>
                <a:path w="440690" h="65405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5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5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6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5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9"/>
                  </a:lnTo>
                  <a:lnTo>
                    <a:pt x="129965" y="48259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5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59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5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5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5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8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2"/>
                  </a:lnTo>
                  <a:close/>
                </a:path>
                <a:path w="440690" h="65405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0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5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5">
                  <a:moveTo>
                    <a:pt x="227063" y="17525"/>
                  </a:moveTo>
                  <a:lnTo>
                    <a:pt x="219646" y="17525"/>
                  </a:lnTo>
                  <a:lnTo>
                    <a:pt x="217119" y="18033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5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3"/>
                  </a:lnTo>
                  <a:close/>
                </a:path>
                <a:path w="440690" h="65405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5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7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9"/>
                  </a:lnTo>
                  <a:close/>
                </a:path>
                <a:path w="440690" h="65405">
                  <a:moveTo>
                    <a:pt x="298958" y="51816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6"/>
                  </a:lnTo>
                  <a:close/>
                </a:path>
                <a:path w="440690" h="65405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5">
                  <a:moveTo>
                    <a:pt x="290842" y="1143"/>
                  </a:moveTo>
                  <a:lnTo>
                    <a:pt x="274993" y="10159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5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7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9"/>
                  </a:lnTo>
                  <a:close/>
                </a:path>
                <a:path w="440690" h="65405">
                  <a:moveTo>
                    <a:pt x="334010" y="51816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6"/>
                  </a:lnTo>
                  <a:close/>
                </a:path>
                <a:path w="440690" h="65405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5">
                  <a:moveTo>
                    <a:pt x="325894" y="1143"/>
                  </a:moveTo>
                  <a:lnTo>
                    <a:pt x="310045" y="10159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5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40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1"/>
                  </a:lnTo>
                  <a:lnTo>
                    <a:pt x="357612" y="46608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2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5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5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2"/>
                  </a:lnTo>
                  <a:lnTo>
                    <a:pt x="385947" y="27940"/>
                  </a:lnTo>
                  <a:close/>
                </a:path>
                <a:path w="440690" h="65405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2"/>
                  </a:lnTo>
                  <a:lnTo>
                    <a:pt x="396405" y="27558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59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5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7"/>
                  </a:lnTo>
                  <a:close/>
                </a:path>
                <a:path w="440690" h="65405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5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4500" y="2198877"/>
            <a:ext cx="154241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Asia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0" dirty="0">
                <a:solidFill>
                  <a:srgbClr val="171717"/>
                </a:solidFill>
                <a:latin typeface="Arial Black"/>
                <a:cs typeface="Arial Black"/>
              </a:rPr>
              <a:t>e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02-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16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" y="26543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457200" y="2781300"/>
            <a:ext cx="311150" cy="190500"/>
            <a:chOff x="457200" y="2781300"/>
            <a:chExt cx="311150" cy="190500"/>
          </a:xfrm>
        </p:grpSpPr>
        <p:sp>
          <p:nvSpPr>
            <p:cNvPr id="26" name="object 26"/>
            <p:cNvSpPr/>
            <p:nvPr/>
          </p:nvSpPr>
          <p:spPr>
            <a:xfrm>
              <a:off x="457200" y="27813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153" y="2844927"/>
              <a:ext cx="100736" cy="64389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838200" y="2781300"/>
            <a:ext cx="889000" cy="190500"/>
            <a:chOff x="838200" y="2781300"/>
            <a:chExt cx="889000" cy="190500"/>
          </a:xfrm>
        </p:grpSpPr>
        <p:sp>
          <p:nvSpPr>
            <p:cNvPr id="29" name="object 29"/>
            <p:cNvSpPr/>
            <p:nvPr/>
          </p:nvSpPr>
          <p:spPr>
            <a:xfrm>
              <a:off x="838200" y="27813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40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40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5631" y="28449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5">
                  <a:moveTo>
                    <a:pt x="16738" y="42291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8"/>
                  </a:lnTo>
                  <a:lnTo>
                    <a:pt x="6337" y="59308"/>
                  </a:lnTo>
                  <a:lnTo>
                    <a:pt x="10058" y="63373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5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367"/>
                  </a:lnTo>
                  <a:lnTo>
                    <a:pt x="2185" y="23622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7"/>
                  </a:lnTo>
                  <a:lnTo>
                    <a:pt x="18846" y="18669"/>
                  </a:lnTo>
                  <a:lnTo>
                    <a:pt x="18415" y="17779"/>
                  </a:lnTo>
                  <a:lnTo>
                    <a:pt x="18415" y="15367"/>
                  </a:lnTo>
                  <a:lnTo>
                    <a:pt x="18935" y="14224"/>
                  </a:lnTo>
                  <a:lnTo>
                    <a:pt x="19964" y="13207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5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2107" y="15367"/>
                  </a:lnTo>
                  <a:lnTo>
                    <a:pt x="31967" y="15367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7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7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5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70"/>
                  </a:lnTo>
                  <a:lnTo>
                    <a:pt x="84213" y="62229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8"/>
                  </a:lnTo>
                  <a:lnTo>
                    <a:pt x="75666" y="18542"/>
                  </a:lnTo>
                  <a:close/>
                </a:path>
                <a:path w="440690" h="65405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5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5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6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5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9"/>
                  </a:lnTo>
                  <a:lnTo>
                    <a:pt x="129965" y="48259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5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59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5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5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5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8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2"/>
                  </a:lnTo>
                  <a:close/>
                </a:path>
                <a:path w="440690" h="65405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0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5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5">
                  <a:moveTo>
                    <a:pt x="227063" y="17525"/>
                  </a:moveTo>
                  <a:lnTo>
                    <a:pt x="219646" y="17525"/>
                  </a:lnTo>
                  <a:lnTo>
                    <a:pt x="217119" y="18033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5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3"/>
                  </a:lnTo>
                  <a:close/>
                </a:path>
                <a:path w="440690" h="65405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5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7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9"/>
                  </a:lnTo>
                  <a:close/>
                </a:path>
                <a:path w="440690" h="65405">
                  <a:moveTo>
                    <a:pt x="298958" y="51816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6"/>
                  </a:lnTo>
                  <a:close/>
                </a:path>
                <a:path w="440690" h="65405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5">
                  <a:moveTo>
                    <a:pt x="290842" y="1143"/>
                  </a:moveTo>
                  <a:lnTo>
                    <a:pt x="274993" y="10159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5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7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9"/>
                  </a:lnTo>
                  <a:close/>
                </a:path>
                <a:path w="440690" h="65405">
                  <a:moveTo>
                    <a:pt x="334010" y="51816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6"/>
                  </a:lnTo>
                  <a:close/>
                </a:path>
                <a:path w="440690" h="65405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5">
                  <a:moveTo>
                    <a:pt x="325894" y="1143"/>
                  </a:moveTo>
                  <a:lnTo>
                    <a:pt x="310045" y="10159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5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40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1"/>
                  </a:lnTo>
                  <a:lnTo>
                    <a:pt x="357612" y="46608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2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5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5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2"/>
                  </a:lnTo>
                  <a:lnTo>
                    <a:pt x="385947" y="27940"/>
                  </a:lnTo>
                  <a:close/>
                </a:path>
                <a:path w="440690" h="65405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2"/>
                  </a:lnTo>
                  <a:lnTo>
                    <a:pt x="396405" y="27558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59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5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7"/>
                  </a:lnTo>
                  <a:close/>
                </a:path>
                <a:path w="440690" h="65405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5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4500" y="2808477"/>
            <a:ext cx="281495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7894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Jawaharlal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Nehru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Technological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spc="4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08-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19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57200" y="32639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457200" y="3390900"/>
            <a:ext cx="311150" cy="190500"/>
            <a:chOff x="457200" y="3390900"/>
            <a:chExt cx="311150" cy="190500"/>
          </a:xfrm>
        </p:grpSpPr>
        <p:sp>
          <p:nvSpPr>
            <p:cNvPr id="34" name="object 34"/>
            <p:cNvSpPr/>
            <p:nvPr/>
          </p:nvSpPr>
          <p:spPr>
            <a:xfrm>
              <a:off x="457200" y="33909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6153" y="3454527"/>
              <a:ext cx="99225" cy="65404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838200" y="3390900"/>
            <a:ext cx="889000" cy="190500"/>
            <a:chOff x="838200" y="3390900"/>
            <a:chExt cx="889000" cy="190500"/>
          </a:xfrm>
        </p:grpSpPr>
        <p:sp>
          <p:nvSpPr>
            <p:cNvPr id="37" name="object 37"/>
            <p:cNvSpPr/>
            <p:nvPr/>
          </p:nvSpPr>
          <p:spPr>
            <a:xfrm>
              <a:off x="838200" y="33909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40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7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7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40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1E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15631" y="34545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8"/>
                  </a:lnTo>
                  <a:lnTo>
                    <a:pt x="6337" y="59308"/>
                  </a:lnTo>
                  <a:lnTo>
                    <a:pt x="10058" y="63373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367"/>
                  </a:lnTo>
                  <a:lnTo>
                    <a:pt x="2185" y="23622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7"/>
                  </a:lnTo>
                  <a:lnTo>
                    <a:pt x="18846" y="18669"/>
                  </a:lnTo>
                  <a:lnTo>
                    <a:pt x="18415" y="17779"/>
                  </a:lnTo>
                  <a:lnTo>
                    <a:pt x="18415" y="15367"/>
                  </a:lnTo>
                  <a:lnTo>
                    <a:pt x="18935" y="14224"/>
                  </a:lnTo>
                  <a:lnTo>
                    <a:pt x="19964" y="13207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2107" y="15367"/>
                  </a:lnTo>
                  <a:lnTo>
                    <a:pt x="31967" y="15367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7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7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70"/>
                  </a:lnTo>
                  <a:lnTo>
                    <a:pt x="84213" y="62229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8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6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9"/>
                  </a:lnTo>
                  <a:lnTo>
                    <a:pt x="129965" y="48259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59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8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0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7119" y="18033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7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59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7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59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40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1"/>
                  </a:lnTo>
                  <a:lnTo>
                    <a:pt x="357612" y="46608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2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2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2"/>
                  </a:lnTo>
                  <a:lnTo>
                    <a:pt x="396405" y="27558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59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7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44500" y="3418459"/>
            <a:ext cx="240982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33679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100" dirty="0">
                <a:solidFill>
                  <a:srgbClr val="171717"/>
                </a:solidFill>
                <a:latin typeface="Arial Black"/>
                <a:cs typeface="Arial Black"/>
              </a:rPr>
              <a:t>The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71717"/>
                </a:solidFill>
                <a:latin typeface="Arial Black"/>
                <a:cs typeface="Arial Black"/>
              </a:rPr>
              <a:t>the</a:t>
            </a:r>
            <a:r>
              <a:rPr sz="800" spc="3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South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Pacific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3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10-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30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57200" y="38735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457200" y="4000500"/>
            <a:ext cx="311150" cy="190500"/>
            <a:chOff x="457200" y="4000500"/>
            <a:chExt cx="311150" cy="190500"/>
          </a:xfrm>
        </p:grpSpPr>
        <p:sp>
          <p:nvSpPr>
            <p:cNvPr id="42" name="object 42"/>
            <p:cNvSpPr/>
            <p:nvPr/>
          </p:nvSpPr>
          <p:spPr>
            <a:xfrm>
              <a:off x="457200" y="40005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6153" y="4064127"/>
              <a:ext cx="99555" cy="65405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838200" y="4000500"/>
            <a:ext cx="889000" cy="190500"/>
            <a:chOff x="838200" y="4000500"/>
            <a:chExt cx="889000" cy="190500"/>
          </a:xfrm>
        </p:grpSpPr>
        <p:sp>
          <p:nvSpPr>
            <p:cNvPr id="45" name="object 45"/>
            <p:cNvSpPr/>
            <p:nvPr/>
          </p:nvSpPr>
          <p:spPr>
            <a:xfrm>
              <a:off x="838200" y="40005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4"/>
                  </a:lnTo>
                  <a:lnTo>
                    <a:pt x="27901" y="162560"/>
                  </a:lnTo>
                  <a:lnTo>
                    <a:pt x="58178" y="183007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7"/>
                  </a:lnTo>
                  <a:lnTo>
                    <a:pt x="861060" y="162560"/>
                  </a:lnTo>
                  <a:lnTo>
                    <a:pt x="881507" y="132334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EBD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5631" y="40641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5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133" y="15239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0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472" y="15239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5"/>
                  </a:lnTo>
                  <a:lnTo>
                    <a:pt x="30954" y="14224"/>
                  </a:lnTo>
                  <a:lnTo>
                    <a:pt x="31909" y="15239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8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5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0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1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5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1"/>
                  </a:lnTo>
                  <a:lnTo>
                    <a:pt x="185496" y="32003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1"/>
                  </a:lnTo>
                  <a:lnTo>
                    <a:pt x="212496" y="32003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4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2096" y="52577"/>
                  </a:lnTo>
                  <a:lnTo>
                    <a:pt x="291945" y="52577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862" y="52577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7148" y="52577"/>
                  </a:lnTo>
                  <a:lnTo>
                    <a:pt x="326997" y="52577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914" y="52577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4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8"/>
                  </a:lnTo>
                  <a:lnTo>
                    <a:pt x="359321" y="31242"/>
                  </a:lnTo>
                  <a:lnTo>
                    <a:pt x="360845" y="29083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5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44500" y="4028059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03-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57200" y="44831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457200" y="4610100"/>
            <a:ext cx="311150" cy="190500"/>
            <a:chOff x="457200" y="4610100"/>
            <a:chExt cx="311150" cy="190500"/>
          </a:xfrm>
        </p:grpSpPr>
        <p:sp>
          <p:nvSpPr>
            <p:cNvPr id="50" name="object 50"/>
            <p:cNvSpPr/>
            <p:nvPr/>
          </p:nvSpPr>
          <p:spPr>
            <a:xfrm>
              <a:off x="457200" y="46101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153" y="4673727"/>
              <a:ext cx="98983" cy="64388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838200" y="4610100"/>
            <a:ext cx="889000" cy="190500"/>
            <a:chOff x="838200" y="4610100"/>
            <a:chExt cx="889000" cy="190500"/>
          </a:xfrm>
        </p:grpSpPr>
        <p:sp>
          <p:nvSpPr>
            <p:cNvPr id="53" name="object 53"/>
            <p:cNvSpPr/>
            <p:nvPr/>
          </p:nvSpPr>
          <p:spPr>
            <a:xfrm>
              <a:off x="838200" y="46101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4"/>
                  </a:lnTo>
                  <a:lnTo>
                    <a:pt x="27901" y="162560"/>
                  </a:lnTo>
                  <a:lnTo>
                    <a:pt x="58178" y="183007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7"/>
                  </a:lnTo>
                  <a:lnTo>
                    <a:pt x="861060" y="162560"/>
                  </a:lnTo>
                  <a:lnTo>
                    <a:pt x="881507" y="132334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5631" y="46737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5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133" y="15239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0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472" y="15239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5"/>
                  </a:lnTo>
                  <a:lnTo>
                    <a:pt x="30954" y="14224"/>
                  </a:lnTo>
                  <a:lnTo>
                    <a:pt x="31909" y="15239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8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5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0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1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5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1"/>
                  </a:lnTo>
                  <a:lnTo>
                    <a:pt x="185496" y="32003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1"/>
                  </a:lnTo>
                  <a:lnTo>
                    <a:pt x="212496" y="32003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4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2096" y="52577"/>
                  </a:lnTo>
                  <a:lnTo>
                    <a:pt x="291945" y="52577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862" y="52577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7148" y="52577"/>
                  </a:lnTo>
                  <a:lnTo>
                    <a:pt x="326997" y="52577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914" y="52577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4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8"/>
                  </a:lnTo>
                  <a:lnTo>
                    <a:pt x="359321" y="31242"/>
                  </a:lnTo>
                  <a:lnTo>
                    <a:pt x="360845" y="29083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5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44500" y="4637659"/>
            <a:ext cx="226377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763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95" dirty="0">
                <a:solidFill>
                  <a:srgbClr val="171717"/>
                </a:solidFill>
                <a:latin typeface="Arial Black"/>
                <a:cs typeface="Arial Black"/>
              </a:rPr>
              <a:t>UNITEC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Institute</a:t>
            </a:r>
            <a:r>
              <a:rPr sz="800" spc="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2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Technology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2003-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08-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17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57200" y="50927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457200" y="5219700"/>
            <a:ext cx="311150" cy="190500"/>
            <a:chOff x="457200" y="5219700"/>
            <a:chExt cx="311150" cy="190500"/>
          </a:xfrm>
        </p:grpSpPr>
        <p:sp>
          <p:nvSpPr>
            <p:cNvPr id="58" name="object 58"/>
            <p:cNvSpPr/>
            <p:nvPr/>
          </p:nvSpPr>
          <p:spPr>
            <a:xfrm>
              <a:off x="457200" y="52197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6153" y="5283327"/>
              <a:ext cx="98940" cy="65405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838200" y="5219700"/>
            <a:ext cx="889000" cy="190500"/>
            <a:chOff x="838200" y="5219700"/>
            <a:chExt cx="889000" cy="190500"/>
          </a:xfrm>
        </p:grpSpPr>
        <p:sp>
          <p:nvSpPr>
            <p:cNvPr id="61" name="object 61"/>
            <p:cNvSpPr/>
            <p:nvPr/>
          </p:nvSpPr>
          <p:spPr>
            <a:xfrm>
              <a:off x="838200" y="52197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4"/>
                  </a:lnTo>
                  <a:lnTo>
                    <a:pt x="27901" y="162560"/>
                  </a:lnTo>
                  <a:lnTo>
                    <a:pt x="58178" y="183007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7"/>
                  </a:lnTo>
                  <a:lnTo>
                    <a:pt x="861060" y="162560"/>
                  </a:lnTo>
                  <a:lnTo>
                    <a:pt x="881507" y="132334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15631" y="52833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5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133" y="15239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0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472" y="15239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5"/>
                  </a:lnTo>
                  <a:lnTo>
                    <a:pt x="30954" y="14224"/>
                  </a:lnTo>
                  <a:lnTo>
                    <a:pt x="31909" y="15239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8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5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0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1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5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1"/>
                  </a:lnTo>
                  <a:lnTo>
                    <a:pt x="185496" y="32003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1"/>
                  </a:lnTo>
                  <a:lnTo>
                    <a:pt x="212496" y="32003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4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2096" y="52577"/>
                  </a:lnTo>
                  <a:lnTo>
                    <a:pt x="291945" y="52577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862" y="52577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7148" y="52577"/>
                  </a:lnTo>
                  <a:lnTo>
                    <a:pt x="326997" y="52577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914" y="52577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4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8"/>
                  </a:lnTo>
                  <a:lnTo>
                    <a:pt x="359321" y="31242"/>
                  </a:lnTo>
                  <a:lnTo>
                    <a:pt x="360845" y="29083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5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44500" y="5247513"/>
            <a:ext cx="223329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ESoft</a:t>
            </a:r>
            <a:r>
              <a:rPr sz="800" spc="3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Metro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Campus,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0" dirty="0">
                <a:solidFill>
                  <a:srgbClr val="171717"/>
                </a:solidFill>
                <a:latin typeface="Arial Black"/>
                <a:cs typeface="Arial Black"/>
              </a:rPr>
              <a:t>Sri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Lanka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03-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24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57200" y="57023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object 65"/>
          <p:cNvGrpSpPr/>
          <p:nvPr/>
        </p:nvGrpSpPr>
        <p:grpSpPr>
          <a:xfrm>
            <a:off x="457200" y="5829300"/>
            <a:ext cx="311150" cy="190500"/>
            <a:chOff x="457200" y="5829300"/>
            <a:chExt cx="311150" cy="190500"/>
          </a:xfrm>
        </p:grpSpPr>
        <p:sp>
          <p:nvSpPr>
            <p:cNvPr id="66" name="object 66"/>
            <p:cNvSpPr/>
            <p:nvPr/>
          </p:nvSpPr>
          <p:spPr>
            <a:xfrm>
              <a:off x="457200" y="58293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6153" y="5892927"/>
              <a:ext cx="98932" cy="65405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838200" y="5829300"/>
            <a:ext cx="889000" cy="190500"/>
            <a:chOff x="838200" y="5829300"/>
            <a:chExt cx="889000" cy="190500"/>
          </a:xfrm>
        </p:grpSpPr>
        <p:sp>
          <p:nvSpPr>
            <p:cNvPr id="69" name="object 69"/>
            <p:cNvSpPr/>
            <p:nvPr/>
          </p:nvSpPr>
          <p:spPr>
            <a:xfrm>
              <a:off x="838200" y="58293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2"/>
                  </a:lnTo>
                  <a:lnTo>
                    <a:pt x="27901" y="27939"/>
                  </a:lnTo>
                  <a:lnTo>
                    <a:pt x="7480" y="58165"/>
                  </a:lnTo>
                  <a:lnTo>
                    <a:pt x="0" y="95250"/>
                  </a:lnTo>
                  <a:lnTo>
                    <a:pt x="7480" y="132334"/>
                  </a:lnTo>
                  <a:lnTo>
                    <a:pt x="27901" y="162560"/>
                  </a:lnTo>
                  <a:lnTo>
                    <a:pt x="58178" y="183007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7"/>
                  </a:lnTo>
                  <a:lnTo>
                    <a:pt x="861060" y="162560"/>
                  </a:lnTo>
                  <a:lnTo>
                    <a:pt x="881507" y="132334"/>
                  </a:lnTo>
                  <a:lnTo>
                    <a:pt x="889000" y="95250"/>
                  </a:lnTo>
                  <a:lnTo>
                    <a:pt x="881507" y="58165"/>
                  </a:lnTo>
                  <a:lnTo>
                    <a:pt x="861060" y="27939"/>
                  </a:lnTo>
                  <a:lnTo>
                    <a:pt x="830833" y="7492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1E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15631" y="58929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0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5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8"/>
                  </a:lnTo>
                  <a:lnTo>
                    <a:pt x="16738" y="42290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8"/>
                  </a:lnTo>
                  <a:lnTo>
                    <a:pt x="8928" y="4190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133" y="15239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0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2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9"/>
                  </a:lnTo>
                  <a:lnTo>
                    <a:pt x="18415" y="17780"/>
                  </a:lnTo>
                  <a:lnTo>
                    <a:pt x="18472" y="15239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5"/>
                  </a:lnTo>
                  <a:lnTo>
                    <a:pt x="30954" y="14224"/>
                  </a:lnTo>
                  <a:lnTo>
                    <a:pt x="31909" y="15239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8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5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8"/>
                  </a:lnTo>
                  <a:lnTo>
                    <a:pt x="79413" y="51688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0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8"/>
                  </a:lnTo>
                  <a:lnTo>
                    <a:pt x="103403" y="64388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8"/>
                  </a:lnTo>
                  <a:lnTo>
                    <a:pt x="103403" y="51688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1"/>
                  </a:lnTo>
                  <a:lnTo>
                    <a:pt x="132092" y="62357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5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5"/>
                  </a:lnTo>
                  <a:lnTo>
                    <a:pt x="128155" y="64515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8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7"/>
                  </a:lnTo>
                  <a:lnTo>
                    <a:pt x="157992" y="30607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7"/>
                  </a:moveTo>
                  <a:lnTo>
                    <a:pt x="138290" y="30607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8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7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8"/>
                  </a:lnTo>
                  <a:lnTo>
                    <a:pt x="182575" y="64388"/>
                  </a:lnTo>
                  <a:lnTo>
                    <a:pt x="182575" y="37464"/>
                  </a:lnTo>
                  <a:lnTo>
                    <a:pt x="183159" y="35051"/>
                  </a:lnTo>
                  <a:lnTo>
                    <a:pt x="185398" y="32131"/>
                  </a:lnTo>
                  <a:lnTo>
                    <a:pt x="185496" y="32003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3"/>
                  </a:lnTo>
                  <a:lnTo>
                    <a:pt x="193802" y="64388"/>
                  </a:lnTo>
                  <a:lnTo>
                    <a:pt x="209651" y="64388"/>
                  </a:lnTo>
                  <a:lnTo>
                    <a:pt x="209651" y="37464"/>
                  </a:lnTo>
                  <a:lnTo>
                    <a:pt x="210223" y="35051"/>
                  </a:lnTo>
                  <a:lnTo>
                    <a:pt x="212401" y="32131"/>
                  </a:lnTo>
                  <a:lnTo>
                    <a:pt x="212496" y="32003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3"/>
                  </a:lnTo>
                  <a:lnTo>
                    <a:pt x="220878" y="64388"/>
                  </a:lnTo>
                  <a:lnTo>
                    <a:pt x="236728" y="64388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4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8"/>
                  </a:lnTo>
                  <a:lnTo>
                    <a:pt x="262255" y="64388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2096" y="52577"/>
                  </a:lnTo>
                  <a:lnTo>
                    <a:pt x="291945" y="52577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7"/>
                  </a:lnTo>
                  <a:lnTo>
                    <a:pt x="290842" y="31369"/>
                  </a:lnTo>
                  <a:close/>
                </a:path>
                <a:path w="440690" h="65404">
                  <a:moveTo>
                    <a:pt x="298958" y="51815"/>
                  </a:moveTo>
                  <a:lnTo>
                    <a:pt x="296862" y="52577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5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7148" y="52577"/>
                  </a:lnTo>
                  <a:lnTo>
                    <a:pt x="326997" y="52577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7"/>
                  </a:lnTo>
                  <a:lnTo>
                    <a:pt x="325894" y="31369"/>
                  </a:lnTo>
                  <a:close/>
                </a:path>
                <a:path w="440690" h="65404">
                  <a:moveTo>
                    <a:pt x="334010" y="51815"/>
                  </a:moveTo>
                  <a:lnTo>
                    <a:pt x="331914" y="52577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5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4073" y="27939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5"/>
                  </a:lnTo>
                  <a:lnTo>
                    <a:pt x="376118" y="64515"/>
                  </a:lnTo>
                  <a:lnTo>
                    <a:pt x="379641" y="62484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0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4"/>
                  </a:lnTo>
                  <a:lnTo>
                    <a:pt x="357543" y="37464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8"/>
                  </a:lnTo>
                  <a:lnTo>
                    <a:pt x="359321" y="31242"/>
                  </a:lnTo>
                  <a:lnTo>
                    <a:pt x="360845" y="29083"/>
                  </a:lnTo>
                  <a:lnTo>
                    <a:pt x="362877" y="27939"/>
                  </a:lnTo>
                  <a:lnTo>
                    <a:pt x="385947" y="27939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4">
                  <a:moveTo>
                    <a:pt x="385947" y="27939"/>
                  </a:moveTo>
                  <a:lnTo>
                    <a:pt x="367576" y="27939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4"/>
                  </a:lnTo>
                  <a:lnTo>
                    <a:pt x="389097" y="37464"/>
                  </a:lnTo>
                  <a:lnTo>
                    <a:pt x="388277" y="32893"/>
                  </a:lnTo>
                  <a:lnTo>
                    <a:pt x="386499" y="29083"/>
                  </a:lnTo>
                  <a:lnTo>
                    <a:pt x="385947" y="27939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8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5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7"/>
                  </a:lnTo>
                  <a:lnTo>
                    <a:pt x="440220" y="30607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8"/>
                  </a:lnTo>
                  <a:lnTo>
                    <a:pt x="440220" y="64388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7"/>
                  </a:moveTo>
                  <a:lnTo>
                    <a:pt x="419138" y="30607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5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7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444500" y="5857113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08-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18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57200" y="63119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" name="object 73"/>
          <p:cNvGrpSpPr/>
          <p:nvPr/>
        </p:nvGrpSpPr>
        <p:grpSpPr>
          <a:xfrm>
            <a:off x="457200" y="6438900"/>
            <a:ext cx="311150" cy="190500"/>
            <a:chOff x="457200" y="6438900"/>
            <a:chExt cx="311150" cy="190500"/>
          </a:xfrm>
        </p:grpSpPr>
        <p:sp>
          <p:nvSpPr>
            <p:cNvPr id="74" name="object 74"/>
            <p:cNvSpPr/>
            <p:nvPr/>
          </p:nvSpPr>
          <p:spPr>
            <a:xfrm>
              <a:off x="457200" y="64389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1517" y="6502527"/>
              <a:ext cx="103695" cy="65405"/>
            </a:xfrm>
            <a:prstGeom prst="rect">
              <a:avLst/>
            </a:prstGeom>
          </p:spPr>
        </p:pic>
      </p:grpSp>
      <p:sp>
        <p:nvSpPr>
          <p:cNvPr id="76" name="object 76"/>
          <p:cNvSpPr/>
          <p:nvPr/>
        </p:nvSpPr>
        <p:spPr>
          <a:xfrm>
            <a:off x="838200" y="6438900"/>
            <a:ext cx="889000" cy="190500"/>
          </a:xfrm>
          <a:custGeom>
            <a:avLst/>
            <a:gdLst/>
            <a:ahLst/>
            <a:cxnLst/>
            <a:rect l="l" t="t" r="r" b="b"/>
            <a:pathLst>
              <a:path w="889000" h="190500">
                <a:moveTo>
                  <a:pt x="793750" y="0"/>
                </a:moveTo>
                <a:lnTo>
                  <a:pt x="95250" y="0"/>
                </a:lnTo>
                <a:lnTo>
                  <a:pt x="58178" y="7492"/>
                </a:lnTo>
                <a:lnTo>
                  <a:pt x="27901" y="27939"/>
                </a:lnTo>
                <a:lnTo>
                  <a:pt x="7480" y="58165"/>
                </a:lnTo>
                <a:lnTo>
                  <a:pt x="0" y="95250"/>
                </a:lnTo>
                <a:lnTo>
                  <a:pt x="7480" y="132334"/>
                </a:lnTo>
                <a:lnTo>
                  <a:pt x="27901" y="162560"/>
                </a:lnTo>
                <a:lnTo>
                  <a:pt x="58178" y="183007"/>
                </a:lnTo>
                <a:lnTo>
                  <a:pt x="95250" y="190500"/>
                </a:lnTo>
                <a:lnTo>
                  <a:pt x="793750" y="190500"/>
                </a:lnTo>
                <a:lnTo>
                  <a:pt x="830833" y="183007"/>
                </a:lnTo>
                <a:lnTo>
                  <a:pt x="861060" y="162560"/>
                </a:lnTo>
                <a:lnTo>
                  <a:pt x="881507" y="132334"/>
                </a:lnTo>
                <a:lnTo>
                  <a:pt x="889000" y="95250"/>
                </a:lnTo>
                <a:lnTo>
                  <a:pt x="881507" y="58165"/>
                </a:lnTo>
                <a:lnTo>
                  <a:pt x="861060" y="27939"/>
                </a:lnTo>
                <a:lnTo>
                  <a:pt x="830833" y="7492"/>
                </a:lnTo>
                <a:lnTo>
                  <a:pt x="793750" y="0"/>
                </a:lnTo>
                <a:close/>
              </a:path>
            </a:pathLst>
          </a:custGeom>
          <a:solidFill>
            <a:srgbClr val="EBDF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444500" y="6466713"/>
            <a:ext cx="105092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57225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Internet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  <a:hlinkClick r:id="rId14"/>
              </a:rPr>
              <a:t>export.arxiv.org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57200" y="69215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9" name="object 79"/>
          <p:cNvGrpSpPr/>
          <p:nvPr/>
        </p:nvGrpSpPr>
        <p:grpSpPr>
          <a:xfrm>
            <a:off x="457200" y="7048500"/>
            <a:ext cx="311150" cy="190500"/>
            <a:chOff x="457200" y="7048500"/>
            <a:chExt cx="311150" cy="190500"/>
          </a:xfrm>
        </p:grpSpPr>
        <p:sp>
          <p:nvSpPr>
            <p:cNvPr id="80" name="object 80"/>
            <p:cNvSpPr/>
            <p:nvPr/>
          </p:nvSpPr>
          <p:spPr>
            <a:xfrm>
              <a:off x="457200" y="70485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6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6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1517" y="7112127"/>
              <a:ext cx="92417" cy="64389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838200" y="7048500"/>
            <a:ext cx="889000" cy="190500"/>
            <a:chOff x="838200" y="7048500"/>
            <a:chExt cx="889000" cy="190500"/>
          </a:xfrm>
        </p:grpSpPr>
        <p:sp>
          <p:nvSpPr>
            <p:cNvPr id="83" name="object 83"/>
            <p:cNvSpPr/>
            <p:nvPr/>
          </p:nvSpPr>
          <p:spPr>
            <a:xfrm>
              <a:off x="838200" y="70485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3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60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60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39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15631" y="71121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49" y="12318"/>
                  </a:lnTo>
                  <a:lnTo>
                    <a:pt x="2169" y="15112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8"/>
                  </a:lnTo>
                  <a:lnTo>
                    <a:pt x="18415" y="17780"/>
                  </a:lnTo>
                  <a:lnTo>
                    <a:pt x="18530" y="15112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1005" y="12318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2"/>
                  </a:lnTo>
                  <a:lnTo>
                    <a:pt x="32778" y="17145"/>
                  </a:lnTo>
                  <a:lnTo>
                    <a:pt x="33014" y="18668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72" y="12318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4"/>
                  </a:lnTo>
                  <a:lnTo>
                    <a:pt x="84323" y="51054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8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28" y="34925"/>
                  </a:lnTo>
                  <a:lnTo>
                    <a:pt x="142951" y="37718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0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0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3484" y="28575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4"/>
                  </a:lnTo>
                  <a:lnTo>
                    <a:pt x="383070" y="60452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8432" y="50800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2"/>
                  </a:lnTo>
                  <a:lnTo>
                    <a:pt x="396278" y="53593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8"/>
                  </a:lnTo>
                  <a:lnTo>
                    <a:pt x="411114" y="35052"/>
                  </a:lnTo>
                  <a:lnTo>
                    <a:pt x="411137" y="34925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492" y="34925"/>
                  </a:lnTo>
                  <a:lnTo>
                    <a:pt x="423583" y="35052"/>
                  </a:lnTo>
                  <a:lnTo>
                    <a:pt x="424345" y="37718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444500" y="7076313"/>
            <a:ext cx="2233295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ESoft</a:t>
            </a:r>
            <a:r>
              <a:rPr sz="800" spc="3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75" dirty="0">
                <a:solidFill>
                  <a:srgbClr val="171717"/>
                </a:solidFill>
                <a:latin typeface="Arial Black"/>
                <a:cs typeface="Arial Black"/>
              </a:rPr>
              <a:t>Metro</a:t>
            </a:r>
            <a:r>
              <a:rPr sz="800" spc="4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Campus,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0" dirty="0">
                <a:solidFill>
                  <a:srgbClr val="171717"/>
                </a:solidFill>
                <a:latin typeface="Arial Black"/>
                <a:cs typeface="Arial Black"/>
              </a:rPr>
              <a:t>Sri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71717"/>
                </a:solidFill>
                <a:latin typeface="Arial Black"/>
                <a:cs typeface="Arial Black"/>
              </a:rPr>
              <a:t>Lanka</a:t>
            </a:r>
            <a:r>
              <a:rPr sz="800" spc="2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3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2025-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04-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07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57200" y="75311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457200" y="7658100"/>
            <a:ext cx="311150" cy="190500"/>
            <a:chOff x="457200" y="7658100"/>
            <a:chExt cx="311150" cy="190500"/>
          </a:xfrm>
        </p:grpSpPr>
        <p:sp>
          <p:nvSpPr>
            <p:cNvPr id="88" name="object 88"/>
            <p:cNvSpPr/>
            <p:nvPr/>
          </p:nvSpPr>
          <p:spPr>
            <a:xfrm>
              <a:off x="457200" y="76581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6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4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4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6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205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1517" y="7721727"/>
              <a:ext cx="103454" cy="64389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838200" y="7658100"/>
            <a:ext cx="889000" cy="190500"/>
            <a:chOff x="838200" y="7658100"/>
            <a:chExt cx="889000" cy="190500"/>
          </a:xfrm>
        </p:grpSpPr>
        <p:sp>
          <p:nvSpPr>
            <p:cNvPr id="91" name="object 91"/>
            <p:cNvSpPr/>
            <p:nvPr/>
          </p:nvSpPr>
          <p:spPr>
            <a:xfrm>
              <a:off x="838200" y="76581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3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60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60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39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D5E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15631" y="77217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49" y="12318"/>
                  </a:lnTo>
                  <a:lnTo>
                    <a:pt x="2169" y="15112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8"/>
                  </a:lnTo>
                  <a:lnTo>
                    <a:pt x="18415" y="17780"/>
                  </a:lnTo>
                  <a:lnTo>
                    <a:pt x="18530" y="15112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1005" y="12318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2"/>
                  </a:lnTo>
                  <a:lnTo>
                    <a:pt x="32778" y="17145"/>
                  </a:lnTo>
                  <a:lnTo>
                    <a:pt x="33014" y="18668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72" y="12318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4"/>
                  </a:lnTo>
                  <a:lnTo>
                    <a:pt x="84323" y="51054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8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28" y="34925"/>
                  </a:lnTo>
                  <a:lnTo>
                    <a:pt x="142951" y="37718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0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0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3484" y="28575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4"/>
                  </a:lnTo>
                  <a:lnTo>
                    <a:pt x="383070" y="60452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8432" y="50800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2"/>
                  </a:lnTo>
                  <a:lnTo>
                    <a:pt x="396278" y="53593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8"/>
                  </a:lnTo>
                  <a:lnTo>
                    <a:pt x="411114" y="35052"/>
                  </a:lnTo>
                  <a:lnTo>
                    <a:pt x="411137" y="34925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492" y="34925"/>
                  </a:lnTo>
                  <a:lnTo>
                    <a:pt x="423583" y="35052"/>
                  </a:lnTo>
                  <a:lnTo>
                    <a:pt x="424345" y="37718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444500" y="7686293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08-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57200" y="81407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5" name="object 95"/>
          <p:cNvGrpSpPr/>
          <p:nvPr/>
        </p:nvGrpSpPr>
        <p:grpSpPr>
          <a:xfrm>
            <a:off x="457200" y="8267700"/>
            <a:ext cx="311150" cy="190500"/>
            <a:chOff x="457200" y="8267700"/>
            <a:chExt cx="311150" cy="190500"/>
          </a:xfrm>
        </p:grpSpPr>
        <p:sp>
          <p:nvSpPr>
            <p:cNvPr id="96" name="object 96"/>
            <p:cNvSpPr/>
            <p:nvPr/>
          </p:nvSpPr>
          <p:spPr>
            <a:xfrm>
              <a:off x="457200" y="82677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5"/>
                  </a:lnTo>
                  <a:lnTo>
                    <a:pt x="26034" y="26035"/>
                  </a:lnTo>
                  <a:lnTo>
                    <a:pt x="6984" y="54356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4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4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6"/>
                  </a:lnTo>
                  <a:lnTo>
                    <a:pt x="285115" y="26035"/>
                  </a:lnTo>
                  <a:lnTo>
                    <a:pt x="256857" y="698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74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1517" y="8331327"/>
              <a:ext cx="103733" cy="65405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838200" y="8267700"/>
            <a:ext cx="889000" cy="190500"/>
            <a:chOff x="838200" y="8267700"/>
            <a:chExt cx="889000" cy="190500"/>
          </a:xfrm>
        </p:grpSpPr>
        <p:sp>
          <p:nvSpPr>
            <p:cNvPr id="99" name="object 99"/>
            <p:cNvSpPr/>
            <p:nvPr/>
          </p:nvSpPr>
          <p:spPr>
            <a:xfrm>
              <a:off x="838200" y="82677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3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60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60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39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C1EB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15631" y="83313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4">
                  <a:moveTo>
                    <a:pt x="16738" y="42291"/>
                  </a:moveTo>
                  <a:lnTo>
                    <a:pt x="0" y="43434"/>
                  </a:lnTo>
                  <a:lnTo>
                    <a:pt x="326" y="47625"/>
                  </a:lnTo>
                  <a:lnTo>
                    <a:pt x="376" y="48260"/>
                  </a:lnTo>
                  <a:lnTo>
                    <a:pt x="495" y="49784"/>
                  </a:lnTo>
                  <a:lnTo>
                    <a:pt x="2603" y="55118"/>
                  </a:lnTo>
                  <a:lnTo>
                    <a:pt x="6337" y="59309"/>
                  </a:lnTo>
                  <a:lnTo>
                    <a:pt x="10058" y="63373"/>
                  </a:lnTo>
                  <a:lnTo>
                    <a:pt x="16764" y="65405"/>
                  </a:lnTo>
                  <a:lnTo>
                    <a:pt x="31965" y="65405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4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7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49" y="12318"/>
                  </a:lnTo>
                  <a:lnTo>
                    <a:pt x="2169" y="15112"/>
                  </a:lnTo>
                  <a:lnTo>
                    <a:pt x="2185" y="23622"/>
                  </a:lnTo>
                  <a:lnTo>
                    <a:pt x="3797" y="27559"/>
                  </a:lnTo>
                  <a:lnTo>
                    <a:pt x="10401" y="33909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4"/>
                  </a:lnTo>
                  <a:lnTo>
                    <a:pt x="34569" y="44831"/>
                  </a:lnTo>
                  <a:lnTo>
                    <a:pt x="34569" y="48260"/>
                  </a:lnTo>
                  <a:lnTo>
                    <a:pt x="33896" y="49784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60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3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8"/>
                  </a:lnTo>
                  <a:lnTo>
                    <a:pt x="18846" y="18668"/>
                  </a:lnTo>
                  <a:lnTo>
                    <a:pt x="18415" y="17780"/>
                  </a:lnTo>
                  <a:lnTo>
                    <a:pt x="18530" y="15112"/>
                  </a:lnTo>
                  <a:lnTo>
                    <a:pt x="18935" y="14224"/>
                  </a:lnTo>
                  <a:lnTo>
                    <a:pt x="19964" y="13208"/>
                  </a:lnTo>
                  <a:lnTo>
                    <a:pt x="21005" y="12318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4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1851" y="15112"/>
                  </a:lnTo>
                  <a:lnTo>
                    <a:pt x="32778" y="17145"/>
                  </a:lnTo>
                  <a:lnTo>
                    <a:pt x="33014" y="18668"/>
                  </a:lnTo>
                  <a:lnTo>
                    <a:pt x="33053" y="18923"/>
                  </a:lnTo>
                  <a:lnTo>
                    <a:pt x="33151" y="19558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8"/>
                  </a:lnTo>
                  <a:lnTo>
                    <a:pt x="49072" y="12318"/>
                  </a:lnTo>
                  <a:lnTo>
                    <a:pt x="48833" y="11811"/>
                  </a:lnTo>
                  <a:close/>
                </a:path>
                <a:path w="440690" h="65404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8"/>
                  </a:lnTo>
                  <a:lnTo>
                    <a:pt x="69367" y="65405"/>
                  </a:lnTo>
                  <a:lnTo>
                    <a:pt x="76987" y="65405"/>
                  </a:lnTo>
                  <a:lnTo>
                    <a:pt x="79743" y="64770"/>
                  </a:lnTo>
                  <a:lnTo>
                    <a:pt x="84213" y="62230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4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9"/>
                  </a:lnTo>
                  <a:lnTo>
                    <a:pt x="75666" y="18542"/>
                  </a:lnTo>
                  <a:close/>
                </a:path>
                <a:path w="440690" h="65404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4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1"/>
                  </a:lnTo>
                  <a:lnTo>
                    <a:pt x="86995" y="47625"/>
                  </a:lnTo>
                  <a:lnTo>
                    <a:pt x="84489" y="51054"/>
                  </a:lnTo>
                  <a:lnTo>
                    <a:pt x="84323" y="51054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4">
                  <a:moveTo>
                    <a:pt x="155103" y="57658"/>
                  </a:moveTo>
                  <a:lnTo>
                    <a:pt x="128155" y="57658"/>
                  </a:lnTo>
                  <a:lnTo>
                    <a:pt x="130200" y="60452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5"/>
                  </a:lnTo>
                  <a:lnTo>
                    <a:pt x="144678" y="65405"/>
                  </a:lnTo>
                  <a:lnTo>
                    <a:pt x="147624" y="64516"/>
                  </a:lnTo>
                  <a:lnTo>
                    <a:pt x="152933" y="60706"/>
                  </a:lnTo>
                  <a:lnTo>
                    <a:pt x="155003" y="57912"/>
                  </a:lnTo>
                  <a:lnTo>
                    <a:pt x="155103" y="57658"/>
                  </a:lnTo>
                  <a:close/>
                </a:path>
                <a:path w="440690" h="65404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8"/>
                  </a:lnTo>
                  <a:lnTo>
                    <a:pt x="155103" y="57658"/>
                  </a:lnTo>
                  <a:lnTo>
                    <a:pt x="157110" y="52578"/>
                  </a:lnTo>
                  <a:lnTo>
                    <a:pt x="134226" y="52578"/>
                  </a:lnTo>
                  <a:lnTo>
                    <a:pt x="132537" y="51689"/>
                  </a:lnTo>
                  <a:lnTo>
                    <a:pt x="129965" y="48260"/>
                  </a:lnTo>
                  <a:lnTo>
                    <a:pt x="129319" y="45847"/>
                  </a:lnTo>
                  <a:lnTo>
                    <a:pt x="129197" y="37718"/>
                  </a:lnTo>
                  <a:lnTo>
                    <a:pt x="129882" y="35052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9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4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28" y="34925"/>
                  </a:lnTo>
                  <a:lnTo>
                    <a:pt x="142951" y="37718"/>
                  </a:lnTo>
                  <a:lnTo>
                    <a:pt x="142840" y="45847"/>
                  </a:lnTo>
                  <a:lnTo>
                    <a:pt x="142316" y="48260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8"/>
                  </a:lnTo>
                  <a:lnTo>
                    <a:pt x="157110" y="52578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4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4"/>
                  </a:lnTo>
                  <a:lnTo>
                    <a:pt x="132689" y="19812"/>
                  </a:lnTo>
                  <a:lnTo>
                    <a:pt x="130898" y="21209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8"/>
                  </a:lnTo>
                  <a:lnTo>
                    <a:pt x="146380" y="17525"/>
                  </a:lnTo>
                  <a:close/>
                </a:path>
                <a:path w="440690" h="65404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2"/>
                  </a:lnTo>
                  <a:lnTo>
                    <a:pt x="185398" y="32131"/>
                  </a:lnTo>
                  <a:lnTo>
                    <a:pt x="185246" y="32131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4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9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2"/>
                  </a:lnTo>
                  <a:lnTo>
                    <a:pt x="212401" y="32131"/>
                  </a:lnTo>
                  <a:lnTo>
                    <a:pt x="212246" y="32131"/>
                  </a:lnTo>
                  <a:lnTo>
                    <a:pt x="213995" y="31242"/>
                  </a:lnTo>
                  <a:close/>
                </a:path>
                <a:path w="440690" h="65404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1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4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9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3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4">
                  <a:moveTo>
                    <a:pt x="227063" y="17525"/>
                  </a:moveTo>
                  <a:lnTo>
                    <a:pt x="219646" y="17525"/>
                  </a:lnTo>
                  <a:lnTo>
                    <a:pt x="216487" y="18161"/>
                  </a:lnTo>
                  <a:lnTo>
                    <a:pt x="216893" y="18161"/>
                  </a:lnTo>
                  <a:lnTo>
                    <a:pt x="215087" y="19177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4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1"/>
                  </a:lnTo>
                  <a:lnTo>
                    <a:pt x="262255" y="13081"/>
                  </a:lnTo>
                  <a:lnTo>
                    <a:pt x="262255" y="1143"/>
                  </a:lnTo>
                  <a:close/>
                </a:path>
                <a:path w="440690" h="65404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4">
                  <a:moveTo>
                    <a:pt x="290842" y="31368"/>
                  </a:moveTo>
                  <a:lnTo>
                    <a:pt x="274993" y="31368"/>
                  </a:lnTo>
                  <a:lnTo>
                    <a:pt x="275023" y="52959"/>
                  </a:lnTo>
                  <a:lnTo>
                    <a:pt x="285242" y="65405"/>
                  </a:lnTo>
                  <a:lnTo>
                    <a:pt x="292569" y="65405"/>
                  </a:lnTo>
                  <a:lnTo>
                    <a:pt x="296214" y="64897"/>
                  </a:lnTo>
                  <a:lnTo>
                    <a:pt x="300126" y="64008"/>
                  </a:lnTo>
                  <a:lnTo>
                    <a:pt x="299067" y="52959"/>
                  </a:lnTo>
                  <a:lnTo>
                    <a:pt x="292773" y="52959"/>
                  </a:lnTo>
                  <a:lnTo>
                    <a:pt x="291871" y="52450"/>
                  </a:lnTo>
                  <a:lnTo>
                    <a:pt x="291350" y="51562"/>
                  </a:lnTo>
                  <a:lnTo>
                    <a:pt x="291007" y="50927"/>
                  </a:lnTo>
                  <a:lnTo>
                    <a:pt x="290842" y="49656"/>
                  </a:lnTo>
                  <a:lnTo>
                    <a:pt x="290842" y="31368"/>
                  </a:lnTo>
                  <a:close/>
                </a:path>
                <a:path w="440690" h="65404">
                  <a:moveTo>
                    <a:pt x="298958" y="51816"/>
                  </a:moveTo>
                  <a:lnTo>
                    <a:pt x="296513" y="52705"/>
                  </a:lnTo>
                  <a:lnTo>
                    <a:pt x="296320" y="52705"/>
                  </a:lnTo>
                  <a:lnTo>
                    <a:pt x="295236" y="52959"/>
                  </a:lnTo>
                  <a:lnTo>
                    <a:pt x="299067" y="52959"/>
                  </a:lnTo>
                  <a:lnTo>
                    <a:pt x="298958" y="51816"/>
                  </a:lnTo>
                  <a:close/>
                </a:path>
                <a:path w="440690" h="65404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8"/>
                  </a:lnTo>
                  <a:lnTo>
                    <a:pt x="299542" y="31368"/>
                  </a:lnTo>
                  <a:lnTo>
                    <a:pt x="299542" y="18542"/>
                  </a:lnTo>
                  <a:close/>
                </a:path>
                <a:path w="440690" h="65404">
                  <a:moveTo>
                    <a:pt x="290842" y="1143"/>
                  </a:moveTo>
                  <a:lnTo>
                    <a:pt x="274993" y="10160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4">
                  <a:moveTo>
                    <a:pt x="325894" y="31368"/>
                  </a:moveTo>
                  <a:lnTo>
                    <a:pt x="310045" y="31368"/>
                  </a:lnTo>
                  <a:lnTo>
                    <a:pt x="310075" y="52959"/>
                  </a:lnTo>
                  <a:lnTo>
                    <a:pt x="320294" y="65405"/>
                  </a:lnTo>
                  <a:lnTo>
                    <a:pt x="327621" y="65405"/>
                  </a:lnTo>
                  <a:lnTo>
                    <a:pt x="331266" y="64897"/>
                  </a:lnTo>
                  <a:lnTo>
                    <a:pt x="335178" y="64008"/>
                  </a:lnTo>
                  <a:lnTo>
                    <a:pt x="334119" y="52959"/>
                  </a:lnTo>
                  <a:lnTo>
                    <a:pt x="327825" y="52959"/>
                  </a:lnTo>
                  <a:lnTo>
                    <a:pt x="326923" y="52450"/>
                  </a:lnTo>
                  <a:lnTo>
                    <a:pt x="326402" y="51562"/>
                  </a:lnTo>
                  <a:lnTo>
                    <a:pt x="326059" y="50927"/>
                  </a:lnTo>
                  <a:lnTo>
                    <a:pt x="325894" y="49656"/>
                  </a:lnTo>
                  <a:lnTo>
                    <a:pt x="325894" y="31368"/>
                  </a:lnTo>
                  <a:close/>
                </a:path>
                <a:path w="440690" h="65404">
                  <a:moveTo>
                    <a:pt x="334010" y="51816"/>
                  </a:moveTo>
                  <a:lnTo>
                    <a:pt x="331565" y="52705"/>
                  </a:lnTo>
                  <a:lnTo>
                    <a:pt x="331372" y="52705"/>
                  </a:lnTo>
                  <a:lnTo>
                    <a:pt x="330288" y="52959"/>
                  </a:lnTo>
                  <a:lnTo>
                    <a:pt x="334119" y="52959"/>
                  </a:lnTo>
                  <a:lnTo>
                    <a:pt x="334010" y="51816"/>
                  </a:lnTo>
                  <a:close/>
                </a:path>
                <a:path w="440690" h="65404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8"/>
                  </a:lnTo>
                  <a:lnTo>
                    <a:pt x="334594" y="31368"/>
                  </a:lnTo>
                  <a:lnTo>
                    <a:pt x="334594" y="18542"/>
                  </a:lnTo>
                  <a:close/>
                </a:path>
                <a:path w="440690" h="65404">
                  <a:moveTo>
                    <a:pt x="325894" y="1143"/>
                  </a:moveTo>
                  <a:lnTo>
                    <a:pt x="310045" y="10160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4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5"/>
                  </a:lnTo>
                  <a:lnTo>
                    <a:pt x="343484" y="28575"/>
                  </a:lnTo>
                  <a:lnTo>
                    <a:pt x="341414" y="34417"/>
                  </a:lnTo>
                  <a:lnTo>
                    <a:pt x="341414" y="46609"/>
                  </a:lnTo>
                  <a:lnTo>
                    <a:pt x="359702" y="65405"/>
                  </a:lnTo>
                  <a:lnTo>
                    <a:pt x="371513" y="65405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4"/>
                  </a:lnTo>
                  <a:lnTo>
                    <a:pt x="383070" y="60452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2"/>
                  </a:lnTo>
                  <a:lnTo>
                    <a:pt x="359575" y="52070"/>
                  </a:lnTo>
                  <a:lnTo>
                    <a:pt x="358546" y="50927"/>
                  </a:lnTo>
                  <a:lnTo>
                    <a:pt x="358432" y="50800"/>
                  </a:lnTo>
                  <a:lnTo>
                    <a:pt x="357797" y="48641"/>
                  </a:lnTo>
                  <a:lnTo>
                    <a:pt x="357612" y="46609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9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4">
                  <a:moveTo>
                    <a:pt x="372783" y="50927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8"/>
                  </a:lnTo>
                  <a:lnTo>
                    <a:pt x="372783" y="50927"/>
                  </a:lnTo>
                  <a:close/>
                </a:path>
                <a:path w="440690" h="65404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2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5947" y="27940"/>
                  </a:lnTo>
                  <a:close/>
                </a:path>
                <a:path w="440690" h="65404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8"/>
                  </a:lnTo>
                  <a:lnTo>
                    <a:pt x="399707" y="23622"/>
                  </a:lnTo>
                  <a:lnTo>
                    <a:pt x="396405" y="27559"/>
                  </a:lnTo>
                  <a:lnTo>
                    <a:pt x="394754" y="33400"/>
                  </a:lnTo>
                  <a:lnTo>
                    <a:pt x="394754" y="47752"/>
                  </a:lnTo>
                  <a:lnTo>
                    <a:pt x="396278" y="53593"/>
                  </a:lnTo>
                  <a:lnTo>
                    <a:pt x="402120" y="62992"/>
                  </a:lnTo>
                  <a:lnTo>
                    <a:pt x="406438" y="65405"/>
                  </a:lnTo>
                  <a:lnTo>
                    <a:pt x="414820" y="65405"/>
                  </a:lnTo>
                  <a:lnTo>
                    <a:pt x="425361" y="57658"/>
                  </a:lnTo>
                  <a:lnTo>
                    <a:pt x="440220" y="57658"/>
                  </a:lnTo>
                  <a:lnTo>
                    <a:pt x="440220" y="52578"/>
                  </a:lnTo>
                  <a:lnTo>
                    <a:pt x="415328" y="52578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60"/>
                  </a:lnTo>
                  <a:lnTo>
                    <a:pt x="410629" y="45466"/>
                  </a:lnTo>
                  <a:lnTo>
                    <a:pt x="410629" y="37718"/>
                  </a:lnTo>
                  <a:lnTo>
                    <a:pt x="411114" y="35052"/>
                  </a:lnTo>
                  <a:lnTo>
                    <a:pt x="411137" y="34925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9"/>
                  </a:lnTo>
                  <a:lnTo>
                    <a:pt x="420916" y="19812"/>
                  </a:lnTo>
                  <a:lnTo>
                    <a:pt x="416852" y="18034"/>
                  </a:lnTo>
                  <a:lnTo>
                    <a:pt x="414566" y="17525"/>
                  </a:lnTo>
                  <a:close/>
                </a:path>
                <a:path w="440690" h="65404">
                  <a:moveTo>
                    <a:pt x="440220" y="57658"/>
                  </a:moveTo>
                  <a:lnTo>
                    <a:pt x="425361" y="57658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8"/>
                  </a:lnTo>
                  <a:close/>
                </a:path>
                <a:path w="440690" h="65404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492" y="34925"/>
                  </a:lnTo>
                  <a:lnTo>
                    <a:pt x="423583" y="35052"/>
                  </a:lnTo>
                  <a:lnTo>
                    <a:pt x="424345" y="37718"/>
                  </a:lnTo>
                  <a:lnTo>
                    <a:pt x="424310" y="45466"/>
                  </a:lnTo>
                  <a:lnTo>
                    <a:pt x="419265" y="52578"/>
                  </a:lnTo>
                  <a:lnTo>
                    <a:pt x="440220" y="52578"/>
                  </a:lnTo>
                  <a:lnTo>
                    <a:pt x="440220" y="30606"/>
                  </a:lnTo>
                  <a:close/>
                </a:path>
                <a:path w="440690" h="65404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444500" y="8295893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12-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15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457200" y="8750300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3" name="object 103"/>
          <p:cNvGrpSpPr/>
          <p:nvPr/>
        </p:nvGrpSpPr>
        <p:grpSpPr>
          <a:xfrm>
            <a:off x="457200" y="8877300"/>
            <a:ext cx="311150" cy="190500"/>
            <a:chOff x="457200" y="8877300"/>
            <a:chExt cx="311150" cy="190500"/>
          </a:xfrm>
        </p:grpSpPr>
        <p:sp>
          <p:nvSpPr>
            <p:cNvPr id="104" name="object 104"/>
            <p:cNvSpPr/>
            <p:nvPr/>
          </p:nvSpPr>
          <p:spPr>
            <a:xfrm>
              <a:off x="457200" y="88773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292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207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207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292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74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1517" y="8940965"/>
              <a:ext cx="105371" cy="64350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838200" y="8877300"/>
            <a:ext cx="889000" cy="190500"/>
            <a:chOff x="838200" y="8877300"/>
            <a:chExt cx="889000" cy="190500"/>
          </a:xfrm>
        </p:grpSpPr>
        <p:sp>
          <p:nvSpPr>
            <p:cNvPr id="107" name="object 107"/>
            <p:cNvSpPr/>
            <p:nvPr/>
          </p:nvSpPr>
          <p:spPr>
            <a:xfrm>
              <a:off x="838200" y="88773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80"/>
                  </a:lnTo>
                  <a:lnTo>
                    <a:pt x="27901" y="27901"/>
                  </a:lnTo>
                  <a:lnTo>
                    <a:pt x="7480" y="58178"/>
                  </a:lnTo>
                  <a:lnTo>
                    <a:pt x="0" y="95250"/>
                  </a:lnTo>
                  <a:lnTo>
                    <a:pt x="7480" y="132321"/>
                  </a:lnTo>
                  <a:lnTo>
                    <a:pt x="27901" y="162598"/>
                  </a:lnTo>
                  <a:lnTo>
                    <a:pt x="58178" y="183019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19"/>
                  </a:lnTo>
                  <a:lnTo>
                    <a:pt x="861060" y="162598"/>
                  </a:lnTo>
                  <a:lnTo>
                    <a:pt x="881507" y="132321"/>
                  </a:lnTo>
                  <a:lnTo>
                    <a:pt x="889000" y="95250"/>
                  </a:lnTo>
                  <a:lnTo>
                    <a:pt x="881507" y="58178"/>
                  </a:lnTo>
                  <a:lnTo>
                    <a:pt x="861060" y="27901"/>
                  </a:lnTo>
                  <a:lnTo>
                    <a:pt x="830833" y="7480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EBD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915631" y="8940965"/>
              <a:ext cx="440690" cy="66040"/>
            </a:xfrm>
            <a:custGeom>
              <a:avLst/>
              <a:gdLst/>
              <a:ahLst/>
              <a:cxnLst/>
              <a:rect l="l" t="t" r="r" b="b"/>
              <a:pathLst>
                <a:path w="440690" h="66040">
                  <a:moveTo>
                    <a:pt x="16738" y="42252"/>
                  </a:moveTo>
                  <a:lnTo>
                    <a:pt x="0" y="43421"/>
                  </a:lnTo>
                  <a:lnTo>
                    <a:pt x="321" y="47574"/>
                  </a:lnTo>
                  <a:lnTo>
                    <a:pt x="371" y="48209"/>
                  </a:lnTo>
                  <a:lnTo>
                    <a:pt x="495" y="49809"/>
                  </a:lnTo>
                  <a:lnTo>
                    <a:pt x="2603" y="55067"/>
                  </a:lnTo>
                  <a:lnTo>
                    <a:pt x="10058" y="63360"/>
                  </a:lnTo>
                  <a:lnTo>
                    <a:pt x="16764" y="65430"/>
                  </a:lnTo>
                  <a:lnTo>
                    <a:pt x="31965" y="65430"/>
                  </a:lnTo>
                  <a:lnTo>
                    <a:pt x="36537" y="64541"/>
                  </a:lnTo>
                  <a:lnTo>
                    <a:pt x="43789" y="61010"/>
                  </a:lnTo>
                  <a:lnTo>
                    <a:pt x="46609" y="58407"/>
                  </a:lnTo>
                  <a:lnTo>
                    <a:pt x="49810" y="52997"/>
                  </a:lnTo>
                  <a:lnTo>
                    <a:pt x="23355" y="52997"/>
                  </a:lnTo>
                  <a:lnTo>
                    <a:pt x="20764" y="51714"/>
                  </a:lnTo>
                  <a:lnTo>
                    <a:pt x="17843" y="47574"/>
                  </a:lnTo>
                  <a:lnTo>
                    <a:pt x="17106" y="45275"/>
                  </a:lnTo>
                  <a:lnTo>
                    <a:pt x="16738" y="42252"/>
                  </a:lnTo>
                  <a:close/>
                </a:path>
                <a:path w="440690" h="66040">
                  <a:moveTo>
                    <a:pt x="33616" y="0"/>
                  </a:moveTo>
                  <a:lnTo>
                    <a:pt x="20408" y="0"/>
                  </a:lnTo>
                  <a:lnTo>
                    <a:pt x="15735" y="825"/>
                  </a:lnTo>
                  <a:lnTo>
                    <a:pt x="2200" y="15024"/>
                  </a:lnTo>
                  <a:lnTo>
                    <a:pt x="2206" y="23634"/>
                  </a:lnTo>
                  <a:lnTo>
                    <a:pt x="3797" y="27533"/>
                  </a:lnTo>
                  <a:lnTo>
                    <a:pt x="10401" y="33921"/>
                  </a:lnTo>
                  <a:lnTo>
                    <a:pt x="15900" y="36487"/>
                  </a:lnTo>
                  <a:lnTo>
                    <a:pt x="28333" y="39560"/>
                  </a:lnTo>
                  <a:lnTo>
                    <a:pt x="31330" y="40779"/>
                  </a:lnTo>
                  <a:lnTo>
                    <a:pt x="33944" y="43421"/>
                  </a:lnTo>
                  <a:lnTo>
                    <a:pt x="34569" y="44843"/>
                  </a:lnTo>
                  <a:lnTo>
                    <a:pt x="34569" y="48209"/>
                  </a:lnTo>
                  <a:lnTo>
                    <a:pt x="33804" y="49809"/>
                  </a:lnTo>
                  <a:lnTo>
                    <a:pt x="31178" y="52349"/>
                  </a:lnTo>
                  <a:lnTo>
                    <a:pt x="29235" y="52997"/>
                  </a:lnTo>
                  <a:lnTo>
                    <a:pt x="49810" y="52997"/>
                  </a:lnTo>
                  <a:lnTo>
                    <a:pt x="50570" y="51714"/>
                  </a:lnTo>
                  <a:lnTo>
                    <a:pt x="50660" y="51561"/>
                  </a:lnTo>
                  <a:lnTo>
                    <a:pt x="51558" y="48209"/>
                  </a:lnTo>
                  <a:lnTo>
                    <a:pt x="51663" y="40309"/>
                  </a:lnTo>
                  <a:lnTo>
                    <a:pt x="50901" y="37185"/>
                  </a:lnTo>
                  <a:lnTo>
                    <a:pt x="22491" y="21069"/>
                  </a:lnTo>
                  <a:lnTo>
                    <a:pt x="20523" y="20294"/>
                  </a:lnTo>
                  <a:lnTo>
                    <a:pt x="19697" y="19469"/>
                  </a:lnTo>
                  <a:lnTo>
                    <a:pt x="18846" y="18656"/>
                  </a:lnTo>
                  <a:lnTo>
                    <a:pt x="18415" y="17754"/>
                  </a:lnTo>
                  <a:lnTo>
                    <a:pt x="18415" y="15366"/>
                  </a:lnTo>
                  <a:lnTo>
                    <a:pt x="18935" y="14185"/>
                  </a:lnTo>
                  <a:lnTo>
                    <a:pt x="20978" y="12293"/>
                  </a:lnTo>
                  <a:lnTo>
                    <a:pt x="22542" y="11785"/>
                  </a:lnTo>
                  <a:lnTo>
                    <a:pt x="48830" y="11785"/>
                  </a:lnTo>
                  <a:lnTo>
                    <a:pt x="46799" y="7518"/>
                  </a:lnTo>
                  <a:lnTo>
                    <a:pt x="39166" y="1498"/>
                  </a:lnTo>
                  <a:lnTo>
                    <a:pt x="33616" y="0"/>
                  </a:lnTo>
                  <a:close/>
                </a:path>
                <a:path w="440690" h="66040">
                  <a:moveTo>
                    <a:pt x="48830" y="11785"/>
                  </a:moveTo>
                  <a:lnTo>
                    <a:pt x="27076" y="11785"/>
                  </a:lnTo>
                  <a:lnTo>
                    <a:pt x="29019" y="12433"/>
                  </a:lnTo>
                  <a:lnTo>
                    <a:pt x="31851" y="15024"/>
                  </a:lnTo>
                  <a:lnTo>
                    <a:pt x="32778" y="17094"/>
                  </a:lnTo>
                  <a:lnTo>
                    <a:pt x="33015" y="18656"/>
                  </a:lnTo>
                  <a:lnTo>
                    <a:pt x="33139" y="19469"/>
                  </a:lnTo>
                  <a:lnTo>
                    <a:pt x="33210" y="19938"/>
                  </a:lnTo>
                  <a:lnTo>
                    <a:pt x="49796" y="18859"/>
                  </a:lnTo>
                  <a:lnTo>
                    <a:pt x="49088" y="12433"/>
                  </a:lnTo>
                  <a:lnTo>
                    <a:pt x="49072" y="12293"/>
                  </a:lnTo>
                  <a:lnTo>
                    <a:pt x="48830" y="11785"/>
                  </a:lnTo>
                  <a:close/>
                </a:path>
                <a:path w="440690" h="66040">
                  <a:moveTo>
                    <a:pt x="75666" y="18516"/>
                  </a:moveTo>
                  <a:lnTo>
                    <a:pt x="59778" y="18516"/>
                  </a:lnTo>
                  <a:lnTo>
                    <a:pt x="59778" y="53708"/>
                  </a:lnTo>
                  <a:lnTo>
                    <a:pt x="61010" y="58153"/>
                  </a:lnTo>
                  <a:lnTo>
                    <a:pt x="65963" y="63944"/>
                  </a:lnTo>
                  <a:lnTo>
                    <a:pt x="69367" y="65379"/>
                  </a:lnTo>
                  <a:lnTo>
                    <a:pt x="76987" y="65379"/>
                  </a:lnTo>
                  <a:lnTo>
                    <a:pt x="79743" y="64744"/>
                  </a:lnTo>
                  <a:lnTo>
                    <a:pt x="84213" y="62153"/>
                  </a:lnTo>
                  <a:lnTo>
                    <a:pt x="86436" y="59982"/>
                  </a:lnTo>
                  <a:lnTo>
                    <a:pt x="88646" y="56921"/>
                  </a:lnTo>
                  <a:lnTo>
                    <a:pt x="103403" y="56921"/>
                  </a:lnTo>
                  <a:lnTo>
                    <a:pt x="103403" y="51663"/>
                  </a:lnTo>
                  <a:lnTo>
                    <a:pt x="79413" y="51663"/>
                  </a:lnTo>
                  <a:lnTo>
                    <a:pt x="78066" y="51053"/>
                  </a:lnTo>
                  <a:lnTo>
                    <a:pt x="76149" y="48640"/>
                  </a:lnTo>
                  <a:lnTo>
                    <a:pt x="75666" y="46596"/>
                  </a:lnTo>
                  <a:lnTo>
                    <a:pt x="75666" y="18516"/>
                  </a:lnTo>
                  <a:close/>
                </a:path>
                <a:path w="440690" h="66040">
                  <a:moveTo>
                    <a:pt x="103403" y="56921"/>
                  </a:moveTo>
                  <a:lnTo>
                    <a:pt x="88646" y="56921"/>
                  </a:lnTo>
                  <a:lnTo>
                    <a:pt x="88646" y="64350"/>
                  </a:lnTo>
                  <a:lnTo>
                    <a:pt x="103403" y="64350"/>
                  </a:lnTo>
                  <a:lnTo>
                    <a:pt x="103403" y="56921"/>
                  </a:lnTo>
                  <a:close/>
                </a:path>
                <a:path w="440690" h="66040">
                  <a:moveTo>
                    <a:pt x="103403" y="18516"/>
                  </a:moveTo>
                  <a:lnTo>
                    <a:pt x="87591" y="18516"/>
                  </a:lnTo>
                  <a:lnTo>
                    <a:pt x="87591" y="44742"/>
                  </a:lnTo>
                  <a:lnTo>
                    <a:pt x="86995" y="47637"/>
                  </a:lnTo>
                  <a:lnTo>
                    <a:pt x="84582" y="50850"/>
                  </a:lnTo>
                  <a:lnTo>
                    <a:pt x="83032" y="51663"/>
                  </a:lnTo>
                  <a:lnTo>
                    <a:pt x="103403" y="51663"/>
                  </a:lnTo>
                  <a:lnTo>
                    <a:pt x="103403" y="18516"/>
                  </a:lnTo>
                  <a:close/>
                </a:path>
                <a:path w="440690" h="66040">
                  <a:moveTo>
                    <a:pt x="155103" y="57569"/>
                  </a:moveTo>
                  <a:lnTo>
                    <a:pt x="128155" y="57569"/>
                  </a:lnTo>
                  <a:lnTo>
                    <a:pt x="130200" y="60426"/>
                  </a:lnTo>
                  <a:lnTo>
                    <a:pt x="132092" y="62369"/>
                  </a:lnTo>
                  <a:lnTo>
                    <a:pt x="133819" y="63398"/>
                  </a:lnTo>
                  <a:lnTo>
                    <a:pt x="136131" y="64719"/>
                  </a:lnTo>
                  <a:lnTo>
                    <a:pt x="138671" y="65379"/>
                  </a:lnTo>
                  <a:lnTo>
                    <a:pt x="144678" y="65379"/>
                  </a:lnTo>
                  <a:lnTo>
                    <a:pt x="147624" y="64439"/>
                  </a:lnTo>
                  <a:lnTo>
                    <a:pt x="152933" y="60680"/>
                  </a:lnTo>
                  <a:lnTo>
                    <a:pt x="155003" y="57823"/>
                  </a:lnTo>
                  <a:lnTo>
                    <a:pt x="155103" y="57569"/>
                  </a:lnTo>
                  <a:close/>
                </a:path>
                <a:path w="440690" h="66040">
                  <a:moveTo>
                    <a:pt x="129311" y="1079"/>
                  </a:moveTo>
                  <a:lnTo>
                    <a:pt x="113347" y="1079"/>
                  </a:lnTo>
                  <a:lnTo>
                    <a:pt x="113347" y="64439"/>
                  </a:lnTo>
                  <a:lnTo>
                    <a:pt x="128155" y="64439"/>
                  </a:lnTo>
                  <a:lnTo>
                    <a:pt x="128155" y="57569"/>
                  </a:lnTo>
                  <a:lnTo>
                    <a:pt x="155103" y="57569"/>
                  </a:lnTo>
                  <a:lnTo>
                    <a:pt x="157095" y="52527"/>
                  </a:lnTo>
                  <a:lnTo>
                    <a:pt x="134226" y="52527"/>
                  </a:lnTo>
                  <a:lnTo>
                    <a:pt x="132561" y="51650"/>
                  </a:lnTo>
                  <a:lnTo>
                    <a:pt x="129927" y="48171"/>
                  </a:lnTo>
                  <a:lnTo>
                    <a:pt x="129197" y="45250"/>
                  </a:lnTo>
                  <a:lnTo>
                    <a:pt x="129249" y="37503"/>
                  </a:lnTo>
                  <a:lnTo>
                    <a:pt x="129882" y="35026"/>
                  </a:lnTo>
                  <a:lnTo>
                    <a:pt x="132600" y="31483"/>
                  </a:lnTo>
                  <a:lnTo>
                    <a:pt x="134353" y="30594"/>
                  </a:lnTo>
                  <a:lnTo>
                    <a:pt x="157995" y="30594"/>
                  </a:lnTo>
                  <a:lnTo>
                    <a:pt x="157111" y="27508"/>
                  </a:lnTo>
                  <a:lnTo>
                    <a:pt x="153416" y="22999"/>
                  </a:lnTo>
                  <a:lnTo>
                    <a:pt x="129311" y="22999"/>
                  </a:lnTo>
                  <a:lnTo>
                    <a:pt x="129311" y="1079"/>
                  </a:lnTo>
                  <a:close/>
                </a:path>
                <a:path w="440690" h="66040">
                  <a:moveTo>
                    <a:pt x="157995" y="30594"/>
                  </a:moveTo>
                  <a:lnTo>
                    <a:pt x="138290" y="30594"/>
                  </a:lnTo>
                  <a:lnTo>
                    <a:pt x="139842" y="31483"/>
                  </a:lnTo>
                  <a:lnTo>
                    <a:pt x="142328" y="34848"/>
                  </a:lnTo>
                  <a:lnTo>
                    <a:pt x="142951" y="37503"/>
                  </a:lnTo>
                  <a:lnTo>
                    <a:pt x="142832" y="45796"/>
                  </a:lnTo>
                  <a:lnTo>
                    <a:pt x="142316" y="48171"/>
                  </a:lnTo>
                  <a:lnTo>
                    <a:pt x="139750" y="51650"/>
                  </a:lnTo>
                  <a:lnTo>
                    <a:pt x="138163" y="52527"/>
                  </a:lnTo>
                  <a:lnTo>
                    <a:pt x="157095" y="52527"/>
                  </a:lnTo>
                  <a:lnTo>
                    <a:pt x="158013" y="50203"/>
                  </a:lnTo>
                  <a:lnTo>
                    <a:pt x="158762" y="45796"/>
                  </a:lnTo>
                  <a:lnTo>
                    <a:pt x="158762" y="33273"/>
                  </a:lnTo>
                  <a:lnTo>
                    <a:pt x="157995" y="30594"/>
                  </a:lnTo>
                  <a:close/>
                </a:path>
                <a:path w="440690" h="66040">
                  <a:moveTo>
                    <a:pt x="146380" y="17475"/>
                  </a:moveTo>
                  <a:lnTo>
                    <a:pt x="138925" y="17475"/>
                  </a:lnTo>
                  <a:lnTo>
                    <a:pt x="136702" y="17932"/>
                  </a:lnTo>
                  <a:lnTo>
                    <a:pt x="132689" y="19773"/>
                  </a:lnTo>
                  <a:lnTo>
                    <a:pt x="130898" y="21158"/>
                  </a:lnTo>
                  <a:lnTo>
                    <a:pt x="129311" y="22999"/>
                  </a:lnTo>
                  <a:lnTo>
                    <a:pt x="153416" y="22999"/>
                  </a:lnTo>
                  <a:lnTo>
                    <a:pt x="150533" y="19481"/>
                  </a:lnTo>
                  <a:lnTo>
                    <a:pt x="146380" y="17475"/>
                  </a:lnTo>
                  <a:close/>
                </a:path>
                <a:path w="440690" h="66040">
                  <a:moveTo>
                    <a:pt x="181495" y="18516"/>
                  </a:moveTo>
                  <a:lnTo>
                    <a:pt x="166725" y="18516"/>
                  </a:lnTo>
                  <a:lnTo>
                    <a:pt x="166725" y="64350"/>
                  </a:lnTo>
                  <a:lnTo>
                    <a:pt x="182575" y="64350"/>
                  </a:lnTo>
                  <a:lnTo>
                    <a:pt x="182575" y="37477"/>
                  </a:lnTo>
                  <a:lnTo>
                    <a:pt x="183156" y="34988"/>
                  </a:lnTo>
                  <a:lnTo>
                    <a:pt x="185408" y="32042"/>
                  </a:lnTo>
                  <a:lnTo>
                    <a:pt x="185271" y="32042"/>
                  </a:lnTo>
                  <a:lnTo>
                    <a:pt x="186844" y="31241"/>
                  </a:lnTo>
                  <a:lnTo>
                    <a:pt x="236728" y="31241"/>
                  </a:lnTo>
                  <a:lnTo>
                    <a:pt x="236728" y="29349"/>
                  </a:lnTo>
                  <a:lnTo>
                    <a:pt x="235600" y="25209"/>
                  </a:lnTo>
                  <a:lnTo>
                    <a:pt x="181495" y="25209"/>
                  </a:lnTo>
                  <a:lnTo>
                    <a:pt x="181495" y="18516"/>
                  </a:lnTo>
                  <a:close/>
                </a:path>
                <a:path w="440690" h="66040">
                  <a:moveTo>
                    <a:pt x="213995" y="31241"/>
                  </a:moveTo>
                  <a:lnTo>
                    <a:pt x="190145" y="31241"/>
                  </a:lnTo>
                  <a:lnTo>
                    <a:pt x="190906" y="31508"/>
                  </a:lnTo>
                  <a:lnTo>
                    <a:pt x="192570" y="32918"/>
                  </a:lnTo>
                  <a:lnTo>
                    <a:pt x="193154" y="33845"/>
                  </a:lnTo>
                  <a:lnTo>
                    <a:pt x="193700" y="35725"/>
                  </a:lnTo>
                  <a:lnTo>
                    <a:pt x="193802" y="64350"/>
                  </a:lnTo>
                  <a:lnTo>
                    <a:pt x="209651" y="64350"/>
                  </a:lnTo>
                  <a:lnTo>
                    <a:pt x="209651" y="37477"/>
                  </a:lnTo>
                  <a:lnTo>
                    <a:pt x="210223" y="34988"/>
                  </a:lnTo>
                  <a:lnTo>
                    <a:pt x="212457" y="32042"/>
                  </a:lnTo>
                  <a:lnTo>
                    <a:pt x="213995" y="31241"/>
                  </a:lnTo>
                  <a:close/>
                </a:path>
                <a:path w="440690" h="66040">
                  <a:moveTo>
                    <a:pt x="236728" y="31241"/>
                  </a:moveTo>
                  <a:lnTo>
                    <a:pt x="217424" y="31241"/>
                  </a:lnTo>
                  <a:lnTo>
                    <a:pt x="218732" y="32042"/>
                  </a:lnTo>
                  <a:lnTo>
                    <a:pt x="219798" y="33616"/>
                  </a:lnTo>
                  <a:lnTo>
                    <a:pt x="220522" y="34632"/>
                  </a:lnTo>
                  <a:lnTo>
                    <a:pt x="220775" y="35725"/>
                  </a:lnTo>
                  <a:lnTo>
                    <a:pt x="220878" y="64350"/>
                  </a:lnTo>
                  <a:lnTo>
                    <a:pt x="236728" y="64350"/>
                  </a:lnTo>
                  <a:lnTo>
                    <a:pt x="236728" y="31241"/>
                  </a:lnTo>
                  <a:close/>
                </a:path>
                <a:path w="440690" h="66040">
                  <a:moveTo>
                    <a:pt x="199059" y="17475"/>
                  </a:moveTo>
                  <a:lnTo>
                    <a:pt x="192709" y="17475"/>
                  </a:lnTo>
                  <a:lnTo>
                    <a:pt x="189870" y="18122"/>
                  </a:lnTo>
                  <a:lnTo>
                    <a:pt x="189999" y="18122"/>
                  </a:lnTo>
                  <a:lnTo>
                    <a:pt x="185762" y="20421"/>
                  </a:lnTo>
                  <a:lnTo>
                    <a:pt x="183616" y="22415"/>
                  </a:lnTo>
                  <a:lnTo>
                    <a:pt x="181495" y="25209"/>
                  </a:lnTo>
                  <a:lnTo>
                    <a:pt x="208292" y="25209"/>
                  </a:lnTo>
                  <a:lnTo>
                    <a:pt x="207073" y="22644"/>
                  </a:lnTo>
                  <a:lnTo>
                    <a:pt x="205511" y="20713"/>
                  </a:lnTo>
                  <a:lnTo>
                    <a:pt x="201663" y="18122"/>
                  </a:lnTo>
                  <a:lnTo>
                    <a:pt x="199059" y="17475"/>
                  </a:lnTo>
                  <a:close/>
                </a:path>
                <a:path w="440690" h="66040">
                  <a:moveTo>
                    <a:pt x="227063" y="17475"/>
                  </a:moveTo>
                  <a:lnTo>
                    <a:pt x="219646" y="17475"/>
                  </a:lnTo>
                  <a:lnTo>
                    <a:pt x="216649" y="18122"/>
                  </a:lnTo>
                  <a:lnTo>
                    <a:pt x="216927" y="18122"/>
                  </a:lnTo>
                  <a:lnTo>
                    <a:pt x="213042" y="20180"/>
                  </a:lnTo>
                  <a:lnTo>
                    <a:pt x="210781" y="22212"/>
                  </a:lnTo>
                  <a:lnTo>
                    <a:pt x="208292" y="25209"/>
                  </a:lnTo>
                  <a:lnTo>
                    <a:pt x="235600" y="25209"/>
                  </a:lnTo>
                  <a:lnTo>
                    <a:pt x="235483" y="24777"/>
                  </a:lnTo>
                  <a:lnTo>
                    <a:pt x="230517" y="18935"/>
                  </a:lnTo>
                  <a:lnTo>
                    <a:pt x="227063" y="17475"/>
                  </a:lnTo>
                  <a:close/>
                </a:path>
                <a:path w="440690" h="66040">
                  <a:moveTo>
                    <a:pt x="262255" y="1079"/>
                  </a:moveTo>
                  <a:lnTo>
                    <a:pt x="246443" y="1079"/>
                  </a:lnTo>
                  <a:lnTo>
                    <a:pt x="246443" y="13030"/>
                  </a:lnTo>
                  <a:lnTo>
                    <a:pt x="262255" y="13030"/>
                  </a:lnTo>
                  <a:lnTo>
                    <a:pt x="262255" y="1079"/>
                  </a:lnTo>
                  <a:close/>
                </a:path>
                <a:path w="440690" h="66040">
                  <a:moveTo>
                    <a:pt x="262255" y="18516"/>
                  </a:moveTo>
                  <a:lnTo>
                    <a:pt x="246443" y="18516"/>
                  </a:lnTo>
                  <a:lnTo>
                    <a:pt x="246443" y="64350"/>
                  </a:lnTo>
                  <a:lnTo>
                    <a:pt x="262255" y="64350"/>
                  </a:lnTo>
                  <a:lnTo>
                    <a:pt x="262255" y="18516"/>
                  </a:lnTo>
                  <a:close/>
                </a:path>
                <a:path w="440690" h="66040">
                  <a:moveTo>
                    <a:pt x="290842" y="31381"/>
                  </a:moveTo>
                  <a:lnTo>
                    <a:pt x="274993" y="31381"/>
                  </a:lnTo>
                  <a:lnTo>
                    <a:pt x="275034" y="52958"/>
                  </a:lnTo>
                  <a:lnTo>
                    <a:pt x="275437" y="56311"/>
                  </a:lnTo>
                  <a:lnTo>
                    <a:pt x="277228" y="60883"/>
                  </a:lnTo>
                  <a:lnTo>
                    <a:pt x="278612" y="62585"/>
                  </a:lnTo>
                  <a:lnTo>
                    <a:pt x="282481" y="64909"/>
                  </a:lnTo>
                  <a:lnTo>
                    <a:pt x="282796" y="64909"/>
                  </a:lnTo>
                  <a:lnTo>
                    <a:pt x="285242" y="65379"/>
                  </a:lnTo>
                  <a:lnTo>
                    <a:pt x="292569" y="65379"/>
                  </a:lnTo>
                  <a:lnTo>
                    <a:pt x="296214" y="64909"/>
                  </a:lnTo>
                  <a:lnTo>
                    <a:pt x="300126" y="63957"/>
                  </a:lnTo>
                  <a:lnTo>
                    <a:pt x="299065" y="52958"/>
                  </a:lnTo>
                  <a:lnTo>
                    <a:pt x="292773" y="52958"/>
                  </a:lnTo>
                  <a:lnTo>
                    <a:pt x="292148" y="52616"/>
                  </a:lnTo>
                  <a:lnTo>
                    <a:pt x="291953" y="52616"/>
                  </a:lnTo>
                  <a:lnTo>
                    <a:pt x="291007" y="50863"/>
                  </a:lnTo>
                  <a:lnTo>
                    <a:pt x="290842" y="49568"/>
                  </a:lnTo>
                  <a:lnTo>
                    <a:pt x="290842" y="31381"/>
                  </a:lnTo>
                  <a:close/>
                </a:path>
                <a:path w="440690" h="66040">
                  <a:moveTo>
                    <a:pt x="298958" y="51841"/>
                  </a:moveTo>
                  <a:lnTo>
                    <a:pt x="296699" y="52616"/>
                  </a:lnTo>
                  <a:lnTo>
                    <a:pt x="295236" y="52958"/>
                  </a:lnTo>
                  <a:lnTo>
                    <a:pt x="299065" y="52958"/>
                  </a:lnTo>
                  <a:lnTo>
                    <a:pt x="298958" y="51841"/>
                  </a:lnTo>
                  <a:close/>
                </a:path>
                <a:path w="440690" h="66040">
                  <a:moveTo>
                    <a:pt x="299542" y="18516"/>
                  </a:moveTo>
                  <a:lnTo>
                    <a:pt x="269163" y="18516"/>
                  </a:lnTo>
                  <a:lnTo>
                    <a:pt x="269163" y="31381"/>
                  </a:lnTo>
                  <a:lnTo>
                    <a:pt x="299542" y="31381"/>
                  </a:lnTo>
                  <a:lnTo>
                    <a:pt x="299542" y="18516"/>
                  </a:lnTo>
                  <a:close/>
                </a:path>
                <a:path w="440690" h="66040">
                  <a:moveTo>
                    <a:pt x="290842" y="1079"/>
                  </a:moveTo>
                  <a:lnTo>
                    <a:pt x="274993" y="10096"/>
                  </a:lnTo>
                  <a:lnTo>
                    <a:pt x="274993" y="18516"/>
                  </a:lnTo>
                  <a:lnTo>
                    <a:pt x="290842" y="18516"/>
                  </a:lnTo>
                  <a:lnTo>
                    <a:pt x="290842" y="1079"/>
                  </a:lnTo>
                  <a:close/>
                </a:path>
                <a:path w="440690" h="66040">
                  <a:moveTo>
                    <a:pt x="325894" y="31381"/>
                  </a:moveTo>
                  <a:lnTo>
                    <a:pt x="310045" y="31381"/>
                  </a:lnTo>
                  <a:lnTo>
                    <a:pt x="310086" y="52958"/>
                  </a:lnTo>
                  <a:lnTo>
                    <a:pt x="310489" y="56311"/>
                  </a:lnTo>
                  <a:lnTo>
                    <a:pt x="312280" y="60883"/>
                  </a:lnTo>
                  <a:lnTo>
                    <a:pt x="313664" y="62585"/>
                  </a:lnTo>
                  <a:lnTo>
                    <a:pt x="317533" y="64909"/>
                  </a:lnTo>
                  <a:lnTo>
                    <a:pt x="317848" y="64909"/>
                  </a:lnTo>
                  <a:lnTo>
                    <a:pt x="320294" y="65379"/>
                  </a:lnTo>
                  <a:lnTo>
                    <a:pt x="327621" y="65379"/>
                  </a:lnTo>
                  <a:lnTo>
                    <a:pt x="331266" y="64909"/>
                  </a:lnTo>
                  <a:lnTo>
                    <a:pt x="335178" y="63957"/>
                  </a:lnTo>
                  <a:lnTo>
                    <a:pt x="334117" y="52958"/>
                  </a:lnTo>
                  <a:lnTo>
                    <a:pt x="327825" y="52958"/>
                  </a:lnTo>
                  <a:lnTo>
                    <a:pt x="327200" y="52616"/>
                  </a:lnTo>
                  <a:lnTo>
                    <a:pt x="327005" y="52616"/>
                  </a:lnTo>
                  <a:lnTo>
                    <a:pt x="326059" y="50863"/>
                  </a:lnTo>
                  <a:lnTo>
                    <a:pt x="325894" y="49568"/>
                  </a:lnTo>
                  <a:lnTo>
                    <a:pt x="325894" y="31381"/>
                  </a:lnTo>
                  <a:close/>
                </a:path>
                <a:path w="440690" h="66040">
                  <a:moveTo>
                    <a:pt x="334010" y="51841"/>
                  </a:moveTo>
                  <a:lnTo>
                    <a:pt x="331751" y="52616"/>
                  </a:lnTo>
                  <a:lnTo>
                    <a:pt x="330288" y="52958"/>
                  </a:lnTo>
                  <a:lnTo>
                    <a:pt x="334117" y="52958"/>
                  </a:lnTo>
                  <a:lnTo>
                    <a:pt x="334010" y="51841"/>
                  </a:lnTo>
                  <a:close/>
                </a:path>
                <a:path w="440690" h="66040">
                  <a:moveTo>
                    <a:pt x="334594" y="18516"/>
                  </a:moveTo>
                  <a:lnTo>
                    <a:pt x="304215" y="18516"/>
                  </a:lnTo>
                  <a:lnTo>
                    <a:pt x="304215" y="31381"/>
                  </a:lnTo>
                  <a:lnTo>
                    <a:pt x="334594" y="31381"/>
                  </a:lnTo>
                  <a:lnTo>
                    <a:pt x="334594" y="18516"/>
                  </a:lnTo>
                  <a:close/>
                </a:path>
                <a:path w="440690" h="66040">
                  <a:moveTo>
                    <a:pt x="325894" y="1079"/>
                  </a:moveTo>
                  <a:lnTo>
                    <a:pt x="310045" y="10096"/>
                  </a:lnTo>
                  <a:lnTo>
                    <a:pt x="310045" y="18516"/>
                  </a:lnTo>
                  <a:lnTo>
                    <a:pt x="325894" y="18516"/>
                  </a:lnTo>
                  <a:lnTo>
                    <a:pt x="325894" y="1079"/>
                  </a:lnTo>
                  <a:close/>
                </a:path>
                <a:path w="440690" h="66040">
                  <a:moveTo>
                    <a:pt x="370624" y="17475"/>
                  </a:moveTo>
                  <a:lnTo>
                    <a:pt x="357416" y="17475"/>
                  </a:lnTo>
                  <a:lnTo>
                    <a:pt x="351739" y="19697"/>
                  </a:lnTo>
                  <a:lnTo>
                    <a:pt x="344122" y="27876"/>
                  </a:lnTo>
                  <a:lnTo>
                    <a:pt x="343466" y="28613"/>
                  </a:lnTo>
                  <a:lnTo>
                    <a:pt x="341414" y="34353"/>
                  </a:lnTo>
                  <a:lnTo>
                    <a:pt x="341414" y="46558"/>
                  </a:lnTo>
                  <a:lnTo>
                    <a:pt x="342389" y="50711"/>
                  </a:lnTo>
                  <a:lnTo>
                    <a:pt x="342442" y="50939"/>
                  </a:lnTo>
                  <a:lnTo>
                    <a:pt x="346557" y="58381"/>
                  </a:lnTo>
                  <a:lnTo>
                    <a:pt x="349161" y="61112"/>
                  </a:lnTo>
                  <a:lnTo>
                    <a:pt x="352298" y="62814"/>
                  </a:lnTo>
                  <a:lnTo>
                    <a:pt x="355384" y="64528"/>
                  </a:lnTo>
                  <a:lnTo>
                    <a:pt x="359702" y="65379"/>
                  </a:lnTo>
                  <a:lnTo>
                    <a:pt x="371513" y="65379"/>
                  </a:lnTo>
                  <a:lnTo>
                    <a:pt x="376339" y="64388"/>
                  </a:lnTo>
                  <a:lnTo>
                    <a:pt x="379641" y="62382"/>
                  </a:lnTo>
                  <a:lnTo>
                    <a:pt x="383070" y="60388"/>
                  </a:lnTo>
                  <a:lnTo>
                    <a:pt x="385864" y="57086"/>
                  </a:lnTo>
                  <a:lnTo>
                    <a:pt x="386921" y="55067"/>
                  </a:lnTo>
                  <a:lnTo>
                    <a:pt x="363131" y="55067"/>
                  </a:lnTo>
                  <a:lnTo>
                    <a:pt x="361099" y="54076"/>
                  </a:lnTo>
                  <a:lnTo>
                    <a:pt x="359575" y="52095"/>
                  </a:lnTo>
                  <a:lnTo>
                    <a:pt x="358432" y="50711"/>
                  </a:lnTo>
                  <a:lnTo>
                    <a:pt x="357797" y="48615"/>
                  </a:lnTo>
                  <a:lnTo>
                    <a:pt x="357611" y="46558"/>
                  </a:lnTo>
                  <a:lnTo>
                    <a:pt x="357543" y="45796"/>
                  </a:lnTo>
                  <a:lnTo>
                    <a:pt x="389166" y="45796"/>
                  </a:lnTo>
                  <a:lnTo>
                    <a:pt x="389094" y="37376"/>
                  </a:lnTo>
                  <a:lnTo>
                    <a:pt x="357543" y="37376"/>
                  </a:lnTo>
                  <a:lnTo>
                    <a:pt x="357797" y="34645"/>
                  </a:lnTo>
                  <a:lnTo>
                    <a:pt x="362877" y="27876"/>
                  </a:lnTo>
                  <a:lnTo>
                    <a:pt x="385926" y="27876"/>
                  </a:lnTo>
                  <a:lnTo>
                    <a:pt x="384721" y="25323"/>
                  </a:lnTo>
                  <a:lnTo>
                    <a:pt x="382181" y="22440"/>
                  </a:lnTo>
                  <a:lnTo>
                    <a:pt x="375323" y="18465"/>
                  </a:lnTo>
                  <a:lnTo>
                    <a:pt x="370624" y="17475"/>
                  </a:lnTo>
                  <a:close/>
                </a:path>
                <a:path w="440690" h="66040">
                  <a:moveTo>
                    <a:pt x="373278" y="50939"/>
                  </a:moveTo>
                  <a:lnTo>
                    <a:pt x="372745" y="50939"/>
                  </a:lnTo>
                  <a:lnTo>
                    <a:pt x="371889" y="52095"/>
                  </a:lnTo>
                  <a:lnTo>
                    <a:pt x="371767" y="52260"/>
                  </a:lnTo>
                  <a:lnTo>
                    <a:pt x="370878" y="53225"/>
                  </a:lnTo>
                  <a:lnTo>
                    <a:pt x="368592" y="54635"/>
                  </a:lnTo>
                  <a:lnTo>
                    <a:pt x="367068" y="55067"/>
                  </a:lnTo>
                  <a:lnTo>
                    <a:pt x="386921" y="55067"/>
                  </a:lnTo>
                  <a:lnTo>
                    <a:pt x="388277" y="52476"/>
                  </a:lnTo>
                  <a:lnTo>
                    <a:pt x="373278" y="50939"/>
                  </a:lnTo>
                  <a:close/>
                </a:path>
                <a:path w="440690" h="66040">
                  <a:moveTo>
                    <a:pt x="385926" y="27876"/>
                  </a:moveTo>
                  <a:lnTo>
                    <a:pt x="367576" y="27876"/>
                  </a:lnTo>
                  <a:lnTo>
                    <a:pt x="369354" y="28613"/>
                  </a:lnTo>
                  <a:lnTo>
                    <a:pt x="370624" y="30086"/>
                  </a:lnTo>
                  <a:lnTo>
                    <a:pt x="372021" y="31546"/>
                  </a:lnTo>
                  <a:lnTo>
                    <a:pt x="372783" y="33985"/>
                  </a:lnTo>
                  <a:lnTo>
                    <a:pt x="373164" y="37376"/>
                  </a:lnTo>
                  <a:lnTo>
                    <a:pt x="389094" y="37376"/>
                  </a:lnTo>
                  <a:lnTo>
                    <a:pt x="388277" y="32854"/>
                  </a:lnTo>
                  <a:lnTo>
                    <a:pt x="385926" y="27876"/>
                  </a:lnTo>
                  <a:close/>
                </a:path>
                <a:path w="440690" h="66040">
                  <a:moveTo>
                    <a:pt x="414566" y="17475"/>
                  </a:moveTo>
                  <a:lnTo>
                    <a:pt x="407073" y="17475"/>
                  </a:lnTo>
                  <a:lnTo>
                    <a:pt x="403009" y="19494"/>
                  </a:lnTo>
                  <a:lnTo>
                    <a:pt x="396405" y="27546"/>
                  </a:lnTo>
                  <a:lnTo>
                    <a:pt x="394754" y="33362"/>
                  </a:lnTo>
                  <a:lnTo>
                    <a:pt x="394864" y="48171"/>
                  </a:lnTo>
                  <a:lnTo>
                    <a:pt x="396278" y="53517"/>
                  </a:lnTo>
                  <a:lnTo>
                    <a:pt x="402120" y="63017"/>
                  </a:lnTo>
                  <a:lnTo>
                    <a:pt x="406438" y="65379"/>
                  </a:lnTo>
                  <a:lnTo>
                    <a:pt x="414820" y="65379"/>
                  </a:lnTo>
                  <a:lnTo>
                    <a:pt x="417360" y="64719"/>
                  </a:lnTo>
                  <a:lnTo>
                    <a:pt x="421424" y="62395"/>
                  </a:lnTo>
                  <a:lnTo>
                    <a:pt x="423329" y="60451"/>
                  </a:lnTo>
                  <a:lnTo>
                    <a:pt x="425361" y="57569"/>
                  </a:lnTo>
                  <a:lnTo>
                    <a:pt x="440220" y="57569"/>
                  </a:lnTo>
                  <a:lnTo>
                    <a:pt x="440220" y="52527"/>
                  </a:lnTo>
                  <a:lnTo>
                    <a:pt x="415328" y="52527"/>
                  </a:lnTo>
                  <a:lnTo>
                    <a:pt x="413804" y="51650"/>
                  </a:lnTo>
                  <a:lnTo>
                    <a:pt x="411264" y="48171"/>
                  </a:lnTo>
                  <a:lnTo>
                    <a:pt x="410629" y="45427"/>
                  </a:lnTo>
                  <a:lnTo>
                    <a:pt x="410629" y="37706"/>
                  </a:lnTo>
                  <a:lnTo>
                    <a:pt x="411105" y="35026"/>
                  </a:lnTo>
                  <a:lnTo>
                    <a:pt x="411137" y="34848"/>
                  </a:lnTo>
                  <a:lnTo>
                    <a:pt x="413648" y="31483"/>
                  </a:lnTo>
                  <a:lnTo>
                    <a:pt x="415201" y="30594"/>
                  </a:lnTo>
                  <a:lnTo>
                    <a:pt x="440220" y="30594"/>
                  </a:lnTo>
                  <a:lnTo>
                    <a:pt x="440220" y="22999"/>
                  </a:lnTo>
                  <a:lnTo>
                    <a:pt x="424218" y="22999"/>
                  </a:lnTo>
                  <a:lnTo>
                    <a:pt x="422694" y="21158"/>
                  </a:lnTo>
                  <a:lnTo>
                    <a:pt x="420916" y="19773"/>
                  </a:lnTo>
                  <a:lnTo>
                    <a:pt x="416852" y="17932"/>
                  </a:lnTo>
                  <a:lnTo>
                    <a:pt x="414566" y="17475"/>
                  </a:lnTo>
                  <a:close/>
                </a:path>
                <a:path w="440690" h="66040">
                  <a:moveTo>
                    <a:pt x="440220" y="57569"/>
                  </a:moveTo>
                  <a:lnTo>
                    <a:pt x="425361" y="57569"/>
                  </a:lnTo>
                  <a:lnTo>
                    <a:pt x="425361" y="64350"/>
                  </a:lnTo>
                  <a:lnTo>
                    <a:pt x="440220" y="64350"/>
                  </a:lnTo>
                  <a:lnTo>
                    <a:pt x="440220" y="57569"/>
                  </a:lnTo>
                  <a:close/>
                </a:path>
                <a:path w="440690" h="66040">
                  <a:moveTo>
                    <a:pt x="440220" y="30594"/>
                  </a:moveTo>
                  <a:lnTo>
                    <a:pt x="419138" y="30594"/>
                  </a:lnTo>
                  <a:lnTo>
                    <a:pt x="420916" y="31483"/>
                  </a:lnTo>
                  <a:lnTo>
                    <a:pt x="422394" y="33362"/>
                  </a:lnTo>
                  <a:lnTo>
                    <a:pt x="423456" y="34848"/>
                  </a:lnTo>
                  <a:lnTo>
                    <a:pt x="423583" y="35026"/>
                  </a:lnTo>
                  <a:lnTo>
                    <a:pt x="424345" y="37706"/>
                  </a:lnTo>
                  <a:lnTo>
                    <a:pt x="424304" y="45427"/>
                  </a:lnTo>
                  <a:lnTo>
                    <a:pt x="419265" y="52527"/>
                  </a:lnTo>
                  <a:lnTo>
                    <a:pt x="440220" y="52527"/>
                  </a:lnTo>
                  <a:lnTo>
                    <a:pt x="440220" y="30594"/>
                  </a:lnTo>
                  <a:close/>
                </a:path>
                <a:path w="440690" h="66040">
                  <a:moveTo>
                    <a:pt x="440220" y="1079"/>
                  </a:moveTo>
                  <a:lnTo>
                    <a:pt x="424218" y="1079"/>
                  </a:lnTo>
                  <a:lnTo>
                    <a:pt x="424218" y="22999"/>
                  </a:lnTo>
                  <a:lnTo>
                    <a:pt x="440220" y="22999"/>
                  </a:lnTo>
                  <a:lnTo>
                    <a:pt x="440220" y="1079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444500" y="8905443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01-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01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457200" y="9359265"/>
            <a:ext cx="4622800" cy="0"/>
          </a:xfrm>
          <a:custGeom>
            <a:avLst/>
            <a:gdLst/>
            <a:ahLst/>
            <a:cxnLst/>
            <a:rect l="l" t="t" r="r" b="b"/>
            <a:pathLst>
              <a:path w="4622800">
                <a:moveTo>
                  <a:pt x="0" y="0"/>
                </a:moveTo>
                <a:lnTo>
                  <a:pt x="4622800" y="0"/>
                </a:lnTo>
              </a:path>
            </a:pathLst>
          </a:custGeom>
          <a:ln w="6350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1346961" y="342392"/>
            <a:ext cx="11741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4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926073" y="342392"/>
            <a:ext cx="13703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889372" y="1193037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889372" y="1802637"/>
            <a:ext cx="24574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889372" y="2412237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889372" y="3021837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889372" y="3631819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4889372" y="4241419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889372" y="4851019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889372" y="5460872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889372" y="6070472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889372" y="6680072"/>
            <a:ext cx="2571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4889372" y="7289672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889372" y="7899654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889372" y="8509254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889372" y="9118803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27" name="object 1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698500" cy="209550"/>
          </a:xfrm>
          <a:prstGeom prst="rect">
            <a:avLst/>
          </a:prstGeom>
        </p:spPr>
      </p:pic>
      <p:sp>
        <p:nvSpPr>
          <p:cNvPr id="128" name="object 128"/>
          <p:cNvSpPr txBox="1"/>
          <p:nvPr/>
        </p:nvSpPr>
        <p:spPr>
          <a:xfrm>
            <a:off x="1345438" y="9546949"/>
            <a:ext cx="117411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4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926073" y="9546949"/>
            <a:ext cx="1370330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499600"/>
            <a:ext cx="698500" cy="2095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57200" y="952500"/>
            <a:ext cx="311150" cy="190500"/>
            <a:chOff x="457200" y="952500"/>
            <a:chExt cx="311150" cy="190500"/>
          </a:xfrm>
        </p:grpSpPr>
        <p:sp>
          <p:nvSpPr>
            <p:cNvPr id="4" name="object 4"/>
            <p:cNvSpPr/>
            <p:nvPr/>
          </p:nvSpPr>
          <p:spPr>
            <a:xfrm>
              <a:off x="457200" y="952500"/>
              <a:ext cx="311150" cy="190500"/>
            </a:xfrm>
            <a:custGeom>
              <a:avLst/>
              <a:gdLst/>
              <a:ahLst/>
              <a:cxnLst/>
              <a:rect l="l" t="t" r="r" b="b"/>
              <a:pathLst>
                <a:path w="311150" h="190500">
                  <a:moveTo>
                    <a:pt x="222250" y="0"/>
                  </a:moveTo>
                  <a:lnTo>
                    <a:pt x="88900" y="0"/>
                  </a:lnTo>
                  <a:lnTo>
                    <a:pt x="54292" y="6984"/>
                  </a:lnTo>
                  <a:lnTo>
                    <a:pt x="26034" y="26034"/>
                  </a:lnTo>
                  <a:lnTo>
                    <a:pt x="6984" y="54355"/>
                  </a:lnTo>
                  <a:lnTo>
                    <a:pt x="0" y="88900"/>
                  </a:lnTo>
                  <a:lnTo>
                    <a:pt x="0" y="101600"/>
                  </a:lnTo>
                  <a:lnTo>
                    <a:pt x="6984" y="136144"/>
                  </a:lnTo>
                  <a:lnTo>
                    <a:pt x="26034" y="164465"/>
                  </a:lnTo>
                  <a:lnTo>
                    <a:pt x="54292" y="183515"/>
                  </a:lnTo>
                  <a:lnTo>
                    <a:pt x="88900" y="190500"/>
                  </a:lnTo>
                  <a:lnTo>
                    <a:pt x="222250" y="190500"/>
                  </a:lnTo>
                  <a:lnTo>
                    <a:pt x="256857" y="183515"/>
                  </a:lnTo>
                  <a:lnTo>
                    <a:pt x="285115" y="164465"/>
                  </a:lnTo>
                  <a:lnTo>
                    <a:pt x="304165" y="136144"/>
                  </a:lnTo>
                  <a:lnTo>
                    <a:pt x="311150" y="101600"/>
                  </a:lnTo>
                  <a:lnTo>
                    <a:pt x="311150" y="88900"/>
                  </a:lnTo>
                  <a:lnTo>
                    <a:pt x="304165" y="54355"/>
                  </a:lnTo>
                  <a:lnTo>
                    <a:pt x="285115" y="26034"/>
                  </a:lnTo>
                  <a:lnTo>
                    <a:pt x="256857" y="6984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CA1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517" y="1016127"/>
              <a:ext cx="103860" cy="6540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838200" y="952500"/>
            <a:ext cx="889000" cy="190500"/>
            <a:chOff x="838200" y="952500"/>
            <a:chExt cx="889000" cy="190500"/>
          </a:xfrm>
        </p:grpSpPr>
        <p:sp>
          <p:nvSpPr>
            <p:cNvPr id="7" name="object 7"/>
            <p:cNvSpPr/>
            <p:nvPr/>
          </p:nvSpPr>
          <p:spPr>
            <a:xfrm>
              <a:off x="838200" y="952500"/>
              <a:ext cx="889000" cy="190500"/>
            </a:xfrm>
            <a:custGeom>
              <a:avLst/>
              <a:gdLst/>
              <a:ahLst/>
              <a:cxnLst/>
              <a:rect l="l" t="t" r="r" b="b"/>
              <a:pathLst>
                <a:path w="889000" h="190500">
                  <a:moveTo>
                    <a:pt x="793750" y="0"/>
                  </a:moveTo>
                  <a:lnTo>
                    <a:pt x="95250" y="0"/>
                  </a:lnTo>
                  <a:lnTo>
                    <a:pt x="58178" y="7493"/>
                  </a:lnTo>
                  <a:lnTo>
                    <a:pt x="27901" y="27940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7480" y="132333"/>
                  </a:lnTo>
                  <a:lnTo>
                    <a:pt x="27901" y="162559"/>
                  </a:lnTo>
                  <a:lnTo>
                    <a:pt x="58178" y="183006"/>
                  </a:lnTo>
                  <a:lnTo>
                    <a:pt x="95250" y="190500"/>
                  </a:lnTo>
                  <a:lnTo>
                    <a:pt x="793750" y="190500"/>
                  </a:lnTo>
                  <a:lnTo>
                    <a:pt x="830833" y="183006"/>
                  </a:lnTo>
                  <a:lnTo>
                    <a:pt x="861060" y="162559"/>
                  </a:lnTo>
                  <a:lnTo>
                    <a:pt x="881507" y="132333"/>
                  </a:lnTo>
                  <a:lnTo>
                    <a:pt x="889000" y="95250"/>
                  </a:lnTo>
                  <a:lnTo>
                    <a:pt x="881507" y="58166"/>
                  </a:lnTo>
                  <a:lnTo>
                    <a:pt x="861060" y="27940"/>
                  </a:lnTo>
                  <a:lnTo>
                    <a:pt x="830833" y="7493"/>
                  </a:lnTo>
                  <a:lnTo>
                    <a:pt x="793750" y="0"/>
                  </a:lnTo>
                  <a:close/>
                </a:path>
              </a:pathLst>
            </a:custGeom>
            <a:solidFill>
              <a:srgbClr val="FDD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5631" y="1016127"/>
              <a:ext cx="440690" cy="65405"/>
            </a:xfrm>
            <a:custGeom>
              <a:avLst/>
              <a:gdLst/>
              <a:ahLst/>
              <a:cxnLst/>
              <a:rect l="l" t="t" r="r" b="b"/>
              <a:pathLst>
                <a:path w="440690" h="65405">
                  <a:moveTo>
                    <a:pt x="16738" y="42291"/>
                  </a:moveTo>
                  <a:lnTo>
                    <a:pt x="0" y="43433"/>
                  </a:lnTo>
                  <a:lnTo>
                    <a:pt x="326" y="47625"/>
                  </a:lnTo>
                  <a:lnTo>
                    <a:pt x="376" y="48259"/>
                  </a:lnTo>
                  <a:lnTo>
                    <a:pt x="495" y="49783"/>
                  </a:lnTo>
                  <a:lnTo>
                    <a:pt x="2603" y="55118"/>
                  </a:lnTo>
                  <a:lnTo>
                    <a:pt x="6337" y="59308"/>
                  </a:lnTo>
                  <a:lnTo>
                    <a:pt x="10058" y="63373"/>
                  </a:lnTo>
                  <a:lnTo>
                    <a:pt x="16764" y="65404"/>
                  </a:lnTo>
                  <a:lnTo>
                    <a:pt x="31965" y="65404"/>
                  </a:lnTo>
                  <a:lnTo>
                    <a:pt x="36537" y="64643"/>
                  </a:lnTo>
                  <a:lnTo>
                    <a:pt x="43789" y="61087"/>
                  </a:lnTo>
                  <a:lnTo>
                    <a:pt x="46609" y="58420"/>
                  </a:lnTo>
                  <a:lnTo>
                    <a:pt x="49760" y="53086"/>
                  </a:lnTo>
                  <a:lnTo>
                    <a:pt x="23355" y="53086"/>
                  </a:lnTo>
                  <a:lnTo>
                    <a:pt x="20764" y="51816"/>
                  </a:lnTo>
                  <a:lnTo>
                    <a:pt x="18961" y="49149"/>
                  </a:lnTo>
                  <a:lnTo>
                    <a:pt x="17843" y="47625"/>
                  </a:lnTo>
                  <a:lnTo>
                    <a:pt x="17106" y="45339"/>
                  </a:lnTo>
                  <a:lnTo>
                    <a:pt x="16738" y="42291"/>
                  </a:lnTo>
                  <a:close/>
                </a:path>
                <a:path w="440690" h="65405">
                  <a:moveTo>
                    <a:pt x="33616" y="0"/>
                  </a:moveTo>
                  <a:lnTo>
                    <a:pt x="20408" y="0"/>
                  </a:lnTo>
                  <a:lnTo>
                    <a:pt x="15735" y="889"/>
                  </a:lnTo>
                  <a:lnTo>
                    <a:pt x="8928" y="4191"/>
                  </a:lnTo>
                  <a:lnTo>
                    <a:pt x="6375" y="6476"/>
                  </a:lnTo>
                  <a:lnTo>
                    <a:pt x="4686" y="9398"/>
                  </a:lnTo>
                  <a:lnTo>
                    <a:pt x="3216" y="11811"/>
                  </a:lnTo>
                  <a:lnTo>
                    <a:pt x="2913" y="12446"/>
                  </a:lnTo>
                  <a:lnTo>
                    <a:pt x="2417" y="14224"/>
                  </a:lnTo>
                  <a:lnTo>
                    <a:pt x="2133" y="15367"/>
                  </a:lnTo>
                  <a:lnTo>
                    <a:pt x="2185" y="23622"/>
                  </a:lnTo>
                  <a:lnTo>
                    <a:pt x="3797" y="27558"/>
                  </a:lnTo>
                  <a:lnTo>
                    <a:pt x="10401" y="33908"/>
                  </a:lnTo>
                  <a:lnTo>
                    <a:pt x="15900" y="36575"/>
                  </a:lnTo>
                  <a:lnTo>
                    <a:pt x="28333" y="39624"/>
                  </a:lnTo>
                  <a:lnTo>
                    <a:pt x="31330" y="40767"/>
                  </a:lnTo>
                  <a:lnTo>
                    <a:pt x="32755" y="42291"/>
                  </a:lnTo>
                  <a:lnTo>
                    <a:pt x="33921" y="43433"/>
                  </a:lnTo>
                  <a:lnTo>
                    <a:pt x="34569" y="44830"/>
                  </a:lnTo>
                  <a:lnTo>
                    <a:pt x="34569" y="48259"/>
                  </a:lnTo>
                  <a:lnTo>
                    <a:pt x="33896" y="49783"/>
                  </a:lnTo>
                  <a:lnTo>
                    <a:pt x="31178" y="52324"/>
                  </a:lnTo>
                  <a:lnTo>
                    <a:pt x="29235" y="53086"/>
                  </a:lnTo>
                  <a:lnTo>
                    <a:pt x="49760" y="53086"/>
                  </a:lnTo>
                  <a:lnTo>
                    <a:pt x="50660" y="51562"/>
                  </a:lnTo>
                  <a:lnTo>
                    <a:pt x="51559" y="48259"/>
                  </a:lnTo>
                  <a:lnTo>
                    <a:pt x="51663" y="40386"/>
                  </a:lnTo>
                  <a:lnTo>
                    <a:pt x="50901" y="37211"/>
                  </a:lnTo>
                  <a:lnTo>
                    <a:pt x="25603" y="21844"/>
                  </a:lnTo>
                  <a:lnTo>
                    <a:pt x="22491" y="21081"/>
                  </a:lnTo>
                  <a:lnTo>
                    <a:pt x="20523" y="20320"/>
                  </a:lnTo>
                  <a:lnTo>
                    <a:pt x="19697" y="19557"/>
                  </a:lnTo>
                  <a:lnTo>
                    <a:pt x="18846" y="18669"/>
                  </a:lnTo>
                  <a:lnTo>
                    <a:pt x="18415" y="17779"/>
                  </a:lnTo>
                  <a:lnTo>
                    <a:pt x="18415" y="15367"/>
                  </a:lnTo>
                  <a:lnTo>
                    <a:pt x="18935" y="14224"/>
                  </a:lnTo>
                  <a:lnTo>
                    <a:pt x="19964" y="13207"/>
                  </a:lnTo>
                  <a:lnTo>
                    <a:pt x="20857" y="12446"/>
                  </a:lnTo>
                  <a:lnTo>
                    <a:pt x="20621" y="12446"/>
                  </a:lnTo>
                  <a:lnTo>
                    <a:pt x="22542" y="11811"/>
                  </a:lnTo>
                  <a:lnTo>
                    <a:pt x="48833" y="11811"/>
                  </a:lnTo>
                  <a:lnTo>
                    <a:pt x="46799" y="7493"/>
                  </a:lnTo>
                  <a:lnTo>
                    <a:pt x="42976" y="4572"/>
                  </a:lnTo>
                  <a:lnTo>
                    <a:pt x="39166" y="1524"/>
                  </a:lnTo>
                  <a:lnTo>
                    <a:pt x="33616" y="0"/>
                  </a:lnTo>
                  <a:close/>
                </a:path>
                <a:path w="440690" h="65405">
                  <a:moveTo>
                    <a:pt x="48833" y="11811"/>
                  </a:moveTo>
                  <a:lnTo>
                    <a:pt x="27076" y="11811"/>
                  </a:lnTo>
                  <a:lnTo>
                    <a:pt x="29019" y="12446"/>
                  </a:lnTo>
                  <a:lnTo>
                    <a:pt x="30441" y="13716"/>
                  </a:lnTo>
                  <a:lnTo>
                    <a:pt x="32107" y="15367"/>
                  </a:lnTo>
                  <a:lnTo>
                    <a:pt x="31967" y="15367"/>
                  </a:lnTo>
                  <a:lnTo>
                    <a:pt x="32778" y="17145"/>
                  </a:lnTo>
                  <a:lnTo>
                    <a:pt x="33014" y="18669"/>
                  </a:lnTo>
                  <a:lnTo>
                    <a:pt x="33053" y="18923"/>
                  </a:lnTo>
                  <a:lnTo>
                    <a:pt x="33151" y="19557"/>
                  </a:lnTo>
                  <a:lnTo>
                    <a:pt x="33210" y="19939"/>
                  </a:lnTo>
                  <a:lnTo>
                    <a:pt x="49796" y="18923"/>
                  </a:lnTo>
                  <a:lnTo>
                    <a:pt x="49406" y="15367"/>
                  </a:lnTo>
                  <a:lnTo>
                    <a:pt x="49281" y="14224"/>
                  </a:lnTo>
                  <a:lnTo>
                    <a:pt x="49170" y="13207"/>
                  </a:lnTo>
                  <a:lnTo>
                    <a:pt x="49086" y="12446"/>
                  </a:lnTo>
                  <a:lnTo>
                    <a:pt x="48833" y="11811"/>
                  </a:lnTo>
                  <a:close/>
                </a:path>
                <a:path w="440690" h="65405">
                  <a:moveTo>
                    <a:pt x="75666" y="18542"/>
                  </a:moveTo>
                  <a:lnTo>
                    <a:pt x="59778" y="18542"/>
                  </a:lnTo>
                  <a:lnTo>
                    <a:pt x="59778" y="53721"/>
                  </a:lnTo>
                  <a:lnTo>
                    <a:pt x="61010" y="58166"/>
                  </a:lnTo>
                  <a:lnTo>
                    <a:pt x="65963" y="64007"/>
                  </a:lnTo>
                  <a:lnTo>
                    <a:pt x="69367" y="65404"/>
                  </a:lnTo>
                  <a:lnTo>
                    <a:pt x="76987" y="65404"/>
                  </a:lnTo>
                  <a:lnTo>
                    <a:pt x="79743" y="64770"/>
                  </a:lnTo>
                  <a:lnTo>
                    <a:pt x="84213" y="62229"/>
                  </a:lnTo>
                  <a:lnTo>
                    <a:pt x="86436" y="60071"/>
                  </a:lnTo>
                  <a:lnTo>
                    <a:pt x="88646" y="57023"/>
                  </a:lnTo>
                  <a:lnTo>
                    <a:pt x="103403" y="57023"/>
                  </a:lnTo>
                  <a:lnTo>
                    <a:pt x="103403" y="51689"/>
                  </a:lnTo>
                  <a:lnTo>
                    <a:pt x="79413" y="51689"/>
                  </a:lnTo>
                  <a:lnTo>
                    <a:pt x="78066" y="51053"/>
                  </a:lnTo>
                  <a:lnTo>
                    <a:pt x="77101" y="49911"/>
                  </a:lnTo>
                  <a:lnTo>
                    <a:pt x="76149" y="48641"/>
                  </a:lnTo>
                  <a:lnTo>
                    <a:pt x="75666" y="46608"/>
                  </a:lnTo>
                  <a:lnTo>
                    <a:pt x="75666" y="18542"/>
                  </a:lnTo>
                  <a:close/>
                </a:path>
                <a:path w="440690" h="65405">
                  <a:moveTo>
                    <a:pt x="103403" y="57023"/>
                  </a:moveTo>
                  <a:lnTo>
                    <a:pt x="88646" y="57023"/>
                  </a:lnTo>
                  <a:lnTo>
                    <a:pt x="88646" y="64389"/>
                  </a:lnTo>
                  <a:lnTo>
                    <a:pt x="103403" y="64389"/>
                  </a:lnTo>
                  <a:lnTo>
                    <a:pt x="103403" y="57023"/>
                  </a:lnTo>
                  <a:close/>
                </a:path>
                <a:path w="440690" h="65405">
                  <a:moveTo>
                    <a:pt x="103403" y="18542"/>
                  </a:moveTo>
                  <a:lnTo>
                    <a:pt x="87591" y="18542"/>
                  </a:lnTo>
                  <a:lnTo>
                    <a:pt x="87591" y="44830"/>
                  </a:lnTo>
                  <a:lnTo>
                    <a:pt x="86995" y="47625"/>
                  </a:lnTo>
                  <a:lnTo>
                    <a:pt x="84489" y="51053"/>
                  </a:lnTo>
                  <a:lnTo>
                    <a:pt x="84323" y="51053"/>
                  </a:lnTo>
                  <a:lnTo>
                    <a:pt x="83032" y="51689"/>
                  </a:lnTo>
                  <a:lnTo>
                    <a:pt x="103403" y="51689"/>
                  </a:lnTo>
                  <a:lnTo>
                    <a:pt x="103403" y="18542"/>
                  </a:lnTo>
                  <a:close/>
                </a:path>
                <a:path w="440690" h="65405">
                  <a:moveTo>
                    <a:pt x="155103" y="57657"/>
                  </a:moveTo>
                  <a:lnTo>
                    <a:pt x="128155" y="57657"/>
                  </a:lnTo>
                  <a:lnTo>
                    <a:pt x="130200" y="60451"/>
                  </a:lnTo>
                  <a:lnTo>
                    <a:pt x="132092" y="62356"/>
                  </a:lnTo>
                  <a:lnTo>
                    <a:pt x="133819" y="63500"/>
                  </a:lnTo>
                  <a:lnTo>
                    <a:pt x="136131" y="64770"/>
                  </a:lnTo>
                  <a:lnTo>
                    <a:pt x="138671" y="65404"/>
                  </a:lnTo>
                  <a:lnTo>
                    <a:pt x="144678" y="65404"/>
                  </a:lnTo>
                  <a:lnTo>
                    <a:pt x="147624" y="64516"/>
                  </a:lnTo>
                  <a:lnTo>
                    <a:pt x="152933" y="60705"/>
                  </a:lnTo>
                  <a:lnTo>
                    <a:pt x="155003" y="57912"/>
                  </a:lnTo>
                  <a:lnTo>
                    <a:pt x="155103" y="57657"/>
                  </a:lnTo>
                  <a:close/>
                </a:path>
                <a:path w="440690" h="65405">
                  <a:moveTo>
                    <a:pt x="129311" y="1143"/>
                  </a:moveTo>
                  <a:lnTo>
                    <a:pt x="113347" y="1143"/>
                  </a:lnTo>
                  <a:lnTo>
                    <a:pt x="113347" y="64516"/>
                  </a:lnTo>
                  <a:lnTo>
                    <a:pt x="128155" y="64516"/>
                  </a:lnTo>
                  <a:lnTo>
                    <a:pt x="128155" y="57657"/>
                  </a:lnTo>
                  <a:lnTo>
                    <a:pt x="155103" y="57657"/>
                  </a:lnTo>
                  <a:lnTo>
                    <a:pt x="157110" y="52577"/>
                  </a:lnTo>
                  <a:lnTo>
                    <a:pt x="134226" y="52577"/>
                  </a:lnTo>
                  <a:lnTo>
                    <a:pt x="132537" y="51689"/>
                  </a:lnTo>
                  <a:lnTo>
                    <a:pt x="129965" y="48259"/>
                  </a:lnTo>
                  <a:lnTo>
                    <a:pt x="129319" y="45847"/>
                  </a:lnTo>
                  <a:lnTo>
                    <a:pt x="129197" y="37719"/>
                  </a:lnTo>
                  <a:lnTo>
                    <a:pt x="129882" y="35051"/>
                  </a:lnTo>
                  <a:lnTo>
                    <a:pt x="132600" y="31496"/>
                  </a:lnTo>
                  <a:lnTo>
                    <a:pt x="134353" y="30606"/>
                  </a:lnTo>
                  <a:lnTo>
                    <a:pt x="157992" y="30606"/>
                  </a:lnTo>
                  <a:lnTo>
                    <a:pt x="157111" y="27558"/>
                  </a:lnTo>
                  <a:lnTo>
                    <a:pt x="153397" y="22987"/>
                  </a:lnTo>
                  <a:lnTo>
                    <a:pt x="129311" y="22987"/>
                  </a:lnTo>
                  <a:lnTo>
                    <a:pt x="129311" y="1143"/>
                  </a:lnTo>
                  <a:close/>
                </a:path>
                <a:path w="440690" h="65405">
                  <a:moveTo>
                    <a:pt x="157992" y="30606"/>
                  </a:moveTo>
                  <a:lnTo>
                    <a:pt x="138290" y="30606"/>
                  </a:lnTo>
                  <a:lnTo>
                    <a:pt x="139814" y="31496"/>
                  </a:lnTo>
                  <a:lnTo>
                    <a:pt x="141161" y="33274"/>
                  </a:lnTo>
                  <a:lnTo>
                    <a:pt x="142358" y="35051"/>
                  </a:lnTo>
                  <a:lnTo>
                    <a:pt x="142951" y="37719"/>
                  </a:lnTo>
                  <a:lnTo>
                    <a:pt x="142840" y="45847"/>
                  </a:lnTo>
                  <a:lnTo>
                    <a:pt x="142316" y="48259"/>
                  </a:lnTo>
                  <a:lnTo>
                    <a:pt x="141033" y="49911"/>
                  </a:lnTo>
                  <a:lnTo>
                    <a:pt x="139750" y="51689"/>
                  </a:lnTo>
                  <a:lnTo>
                    <a:pt x="138163" y="52577"/>
                  </a:lnTo>
                  <a:lnTo>
                    <a:pt x="157110" y="52577"/>
                  </a:lnTo>
                  <a:lnTo>
                    <a:pt x="158013" y="50292"/>
                  </a:lnTo>
                  <a:lnTo>
                    <a:pt x="158762" y="45847"/>
                  </a:lnTo>
                  <a:lnTo>
                    <a:pt x="158762" y="33274"/>
                  </a:lnTo>
                  <a:lnTo>
                    <a:pt x="157992" y="30606"/>
                  </a:lnTo>
                  <a:close/>
                </a:path>
                <a:path w="440690" h="65405">
                  <a:moveTo>
                    <a:pt x="146380" y="17525"/>
                  </a:moveTo>
                  <a:lnTo>
                    <a:pt x="138925" y="17525"/>
                  </a:lnTo>
                  <a:lnTo>
                    <a:pt x="136702" y="18033"/>
                  </a:lnTo>
                  <a:lnTo>
                    <a:pt x="132689" y="19812"/>
                  </a:lnTo>
                  <a:lnTo>
                    <a:pt x="130898" y="21208"/>
                  </a:lnTo>
                  <a:lnTo>
                    <a:pt x="129311" y="22987"/>
                  </a:lnTo>
                  <a:lnTo>
                    <a:pt x="153397" y="22987"/>
                  </a:lnTo>
                  <a:lnTo>
                    <a:pt x="150533" y="19557"/>
                  </a:lnTo>
                  <a:lnTo>
                    <a:pt x="146380" y="17525"/>
                  </a:lnTo>
                  <a:close/>
                </a:path>
                <a:path w="440690" h="65405">
                  <a:moveTo>
                    <a:pt x="181495" y="18542"/>
                  </a:moveTo>
                  <a:lnTo>
                    <a:pt x="166725" y="18542"/>
                  </a:lnTo>
                  <a:lnTo>
                    <a:pt x="166725" y="64389"/>
                  </a:lnTo>
                  <a:lnTo>
                    <a:pt x="182575" y="64389"/>
                  </a:lnTo>
                  <a:lnTo>
                    <a:pt x="182575" y="37465"/>
                  </a:lnTo>
                  <a:lnTo>
                    <a:pt x="183159" y="35051"/>
                  </a:lnTo>
                  <a:lnTo>
                    <a:pt x="185398" y="32130"/>
                  </a:lnTo>
                  <a:lnTo>
                    <a:pt x="185246" y="32130"/>
                  </a:lnTo>
                  <a:lnTo>
                    <a:pt x="186994" y="31242"/>
                  </a:lnTo>
                  <a:lnTo>
                    <a:pt x="236728" y="31242"/>
                  </a:lnTo>
                  <a:lnTo>
                    <a:pt x="236728" y="29337"/>
                  </a:lnTo>
                  <a:lnTo>
                    <a:pt x="235621" y="25273"/>
                  </a:lnTo>
                  <a:lnTo>
                    <a:pt x="181495" y="25273"/>
                  </a:lnTo>
                  <a:lnTo>
                    <a:pt x="181495" y="18542"/>
                  </a:lnTo>
                  <a:close/>
                </a:path>
                <a:path w="440690" h="65405">
                  <a:moveTo>
                    <a:pt x="213995" y="31242"/>
                  </a:moveTo>
                  <a:lnTo>
                    <a:pt x="189928" y="31242"/>
                  </a:lnTo>
                  <a:lnTo>
                    <a:pt x="190906" y="31496"/>
                  </a:lnTo>
                  <a:lnTo>
                    <a:pt x="192570" y="33020"/>
                  </a:lnTo>
                  <a:lnTo>
                    <a:pt x="193154" y="33908"/>
                  </a:lnTo>
                  <a:lnTo>
                    <a:pt x="193700" y="35814"/>
                  </a:lnTo>
                  <a:lnTo>
                    <a:pt x="193802" y="64389"/>
                  </a:lnTo>
                  <a:lnTo>
                    <a:pt x="209651" y="64389"/>
                  </a:lnTo>
                  <a:lnTo>
                    <a:pt x="209651" y="37465"/>
                  </a:lnTo>
                  <a:lnTo>
                    <a:pt x="210223" y="35051"/>
                  </a:lnTo>
                  <a:lnTo>
                    <a:pt x="212401" y="32130"/>
                  </a:lnTo>
                  <a:lnTo>
                    <a:pt x="212246" y="32130"/>
                  </a:lnTo>
                  <a:lnTo>
                    <a:pt x="213995" y="31242"/>
                  </a:lnTo>
                  <a:close/>
                </a:path>
                <a:path w="440690" h="65405">
                  <a:moveTo>
                    <a:pt x="236728" y="31242"/>
                  </a:moveTo>
                  <a:lnTo>
                    <a:pt x="217424" y="31242"/>
                  </a:lnTo>
                  <a:lnTo>
                    <a:pt x="218732" y="32130"/>
                  </a:lnTo>
                  <a:lnTo>
                    <a:pt x="220522" y="34671"/>
                  </a:lnTo>
                  <a:lnTo>
                    <a:pt x="220789" y="35814"/>
                  </a:lnTo>
                  <a:lnTo>
                    <a:pt x="220878" y="64389"/>
                  </a:lnTo>
                  <a:lnTo>
                    <a:pt x="236728" y="64389"/>
                  </a:lnTo>
                  <a:lnTo>
                    <a:pt x="236728" y="31242"/>
                  </a:lnTo>
                  <a:close/>
                </a:path>
                <a:path w="440690" h="65405">
                  <a:moveTo>
                    <a:pt x="199059" y="17525"/>
                  </a:moveTo>
                  <a:lnTo>
                    <a:pt x="192709" y="17525"/>
                  </a:lnTo>
                  <a:lnTo>
                    <a:pt x="190093" y="18161"/>
                  </a:lnTo>
                  <a:lnTo>
                    <a:pt x="185762" y="20447"/>
                  </a:lnTo>
                  <a:lnTo>
                    <a:pt x="183616" y="22478"/>
                  </a:lnTo>
                  <a:lnTo>
                    <a:pt x="181495" y="25273"/>
                  </a:lnTo>
                  <a:lnTo>
                    <a:pt x="208292" y="25273"/>
                  </a:lnTo>
                  <a:lnTo>
                    <a:pt x="207073" y="22732"/>
                  </a:lnTo>
                  <a:lnTo>
                    <a:pt x="205511" y="20700"/>
                  </a:lnTo>
                  <a:lnTo>
                    <a:pt x="201663" y="18161"/>
                  </a:lnTo>
                  <a:lnTo>
                    <a:pt x="199059" y="17525"/>
                  </a:lnTo>
                  <a:close/>
                </a:path>
                <a:path w="440690" h="65405">
                  <a:moveTo>
                    <a:pt x="227063" y="17525"/>
                  </a:moveTo>
                  <a:lnTo>
                    <a:pt x="219646" y="17525"/>
                  </a:lnTo>
                  <a:lnTo>
                    <a:pt x="217119" y="18033"/>
                  </a:lnTo>
                  <a:lnTo>
                    <a:pt x="215087" y="19176"/>
                  </a:lnTo>
                  <a:lnTo>
                    <a:pt x="213042" y="20193"/>
                  </a:lnTo>
                  <a:lnTo>
                    <a:pt x="210781" y="22225"/>
                  </a:lnTo>
                  <a:lnTo>
                    <a:pt x="208292" y="25273"/>
                  </a:lnTo>
                  <a:lnTo>
                    <a:pt x="235621" y="25273"/>
                  </a:lnTo>
                  <a:lnTo>
                    <a:pt x="235483" y="24765"/>
                  </a:lnTo>
                  <a:lnTo>
                    <a:pt x="230517" y="18923"/>
                  </a:lnTo>
                  <a:lnTo>
                    <a:pt x="227063" y="17525"/>
                  </a:lnTo>
                  <a:close/>
                </a:path>
                <a:path w="440690" h="65405">
                  <a:moveTo>
                    <a:pt x="262255" y="1143"/>
                  </a:moveTo>
                  <a:lnTo>
                    <a:pt x="246443" y="1143"/>
                  </a:lnTo>
                  <a:lnTo>
                    <a:pt x="246443" y="13080"/>
                  </a:lnTo>
                  <a:lnTo>
                    <a:pt x="262255" y="13080"/>
                  </a:lnTo>
                  <a:lnTo>
                    <a:pt x="262255" y="1143"/>
                  </a:lnTo>
                  <a:close/>
                </a:path>
                <a:path w="440690" h="65405">
                  <a:moveTo>
                    <a:pt x="262255" y="18542"/>
                  </a:moveTo>
                  <a:lnTo>
                    <a:pt x="246443" y="18542"/>
                  </a:lnTo>
                  <a:lnTo>
                    <a:pt x="246443" y="64389"/>
                  </a:lnTo>
                  <a:lnTo>
                    <a:pt x="262255" y="64389"/>
                  </a:lnTo>
                  <a:lnTo>
                    <a:pt x="262255" y="18542"/>
                  </a:lnTo>
                  <a:close/>
                </a:path>
                <a:path w="440690" h="65405">
                  <a:moveTo>
                    <a:pt x="290842" y="31369"/>
                  </a:moveTo>
                  <a:lnTo>
                    <a:pt x="274993" y="31369"/>
                  </a:lnTo>
                  <a:lnTo>
                    <a:pt x="275023" y="52958"/>
                  </a:lnTo>
                  <a:lnTo>
                    <a:pt x="285242" y="65404"/>
                  </a:lnTo>
                  <a:lnTo>
                    <a:pt x="292569" y="65404"/>
                  </a:lnTo>
                  <a:lnTo>
                    <a:pt x="296214" y="64897"/>
                  </a:lnTo>
                  <a:lnTo>
                    <a:pt x="300126" y="64007"/>
                  </a:lnTo>
                  <a:lnTo>
                    <a:pt x="299067" y="52958"/>
                  </a:lnTo>
                  <a:lnTo>
                    <a:pt x="292773" y="52958"/>
                  </a:lnTo>
                  <a:lnTo>
                    <a:pt x="292322" y="52704"/>
                  </a:lnTo>
                  <a:lnTo>
                    <a:pt x="292020" y="52704"/>
                  </a:lnTo>
                  <a:lnTo>
                    <a:pt x="291350" y="51562"/>
                  </a:lnTo>
                  <a:lnTo>
                    <a:pt x="291007" y="50926"/>
                  </a:lnTo>
                  <a:lnTo>
                    <a:pt x="290842" y="49656"/>
                  </a:lnTo>
                  <a:lnTo>
                    <a:pt x="290842" y="31369"/>
                  </a:lnTo>
                  <a:close/>
                </a:path>
                <a:path w="440690" h="65405">
                  <a:moveTo>
                    <a:pt x="298958" y="51816"/>
                  </a:moveTo>
                  <a:lnTo>
                    <a:pt x="296513" y="52704"/>
                  </a:lnTo>
                  <a:lnTo>
                    <a:pt x="296320" y="52704"/>
                  </a:lnTo>
                  <a:lnTo>
                    <a:pt x="295236" y="52958"/>
                  </a:lnTo>
                  <a:lnTo>
                    <a:pt x="299067" y="52958"/>
                  </a:lnTo>
                  <a:lnTo>
                    <a:pt x="298958" y="51816"/>
                  </a:lnTo>
                  <a:close/>
                </a:path>
                <a:path w="440690" h="65405">
                  <a:moveTo>
                    <a:pt x="299542" y="18542"/>
                  </a:moveTo>
                  <a:lnTo>
                    <a:pt x="269163" y="18542"/>
                  </a:lnTo>
                  <a:lnTo>
                    <a:pt x="269163" y="31369"/>
                  </a:lnTo>
                  <a:lnTo>
                    <a:pt x="299542" y="31369"/>
                  </a:lnTo>
                  <a:lnTo>
                    <a:pt x="299542" y="18542"/>
                  </a:lnTo>
                  <a:close/>
                </a:path>
                <a:path w="440690" h="65405">
                  <a:moveTo>
                    <a:pt x="290842" y="1143"/>
                  </a:moveTo>
                  <a:lnTo>
                    <a:pt x="274993" y="10159"/>
                  </a:lnTo>
                  <a:lnTo>
                    <a:pt x="274993" y="18542"/>
                  </a:lnTo>
                  <a:lnTo>
                    <a:pt x="290842" y="18542"/>
                  </a:lnTo>
                  <a:lnTo>
                    <a:pt x="290842" y="1143"/>
                  </a:lnTo>
                  <a:close/>
                </a:path>
                <a:path w="440690" h="65405">
                  <a:moveTo>
                    <a:pt x="325894" y="31369"/>
                  </a:moveTo>
                  <a:lnTo>
                    <a:pt x="310045" y="31369"/>
                  </a:lnTo>
                  <a:lnTo>
                    <a:pt x="310075" y="52958"/>
                  </a:lnTo>
                  <a:lnTo>
                    <a:pt x="320294" y="65404"/>
                  </a:lnTo>
                  <a:lnTo>
                    <a:pt x="327621" y="65404"/>
                  </a:lnTo>
                  <a:lnTo>
                    <a:pt x="331266" y="64897"/>
                  </a:lnTo>
                  <a:lnTo>
                    <a:pt x="335178" y="64007"/>
                  </a:lnTo>
                  <a:lnTo>
                    <a:pt x="334119" y="52958"/>
                  </a:lnTo>
                  <a:lnTo>
                    <a:pt x="327825" y="52958"/>
                  </a:lnTo>
                  <a:lnTo>
                    <a:pt x="327374" y="52704"/>
                  </a:lnTo>
                  <a:lnTo>
                    <a:pt x="327072" y="52704"/>
                  </a:lnTo>
                  <a:lnTo>
                    <a:pt x="326402" y="51562"/>
                  </a:lnTo>
                  <a:lnTo>
                    <a:pt x="326059" y="50926"/>
                  </a:lnTo>
                  <a:lnTo>
                    <a:pt x="325894" y="49656"/>
                  </a:lnTo>
                  <a:lnTo>
                    <a:pt x="325894" y="31369"/>
                  </a:lnTo>
                  <a:close/>
                </a:path>
                <a:path w="440690" h="65405">
                  <a:moveTo>
                    <a:pt x="334010" y="51816"/>
                  </a:moveTo>
                  <a:lnTo>
                    <a:pt x="331565" y="52704"/>
                  </a:lnTo>
                  <a:lnTo>
                    <a:pt x="331372" y="52704"/>
                  </a:lnTo>
                  <a:lnTo>
                    <a:pt x="330288" y="52958"/>
                  </a:lnTo>
                  <a:lnTo>
                    <a:pt x="334119" y="52958"/>
                  </a:lnTo>
                  <a:lnTo>
                    <a:pt x="334010" y="51816"/>
                  </a:lnTo>
                  <a:close/>
                </a:path>
                <a:path w="440690" h="65405">
                  <a:moveTo>
                    <a:pt x="334594" y="18542"/>
                  </a:moveTo>
                  <a:lnTo>
                    <a:pt x="304215" y="18542"/>
                  </a:lnTo>
                  <a:lnTo>
                    <a:pt x="304215" y="31369"/>
                  </a:lnTo>
                  <a:lnTo>
                    <a:pt x="334594" y="31369"/>
                  </a:lnTo>
                  <a:lnTo>
                    <a:pt x="334594" y="18542"/>
                  </a:lnTo>
                  <a:close/>
                </a:path>
                <a:path w="440690" h="65405">
                  <a:moveTo>
                    <a:pt x="325894" y="1143"/>
                  </a:moveTo>
                  <a:lnTo>
                    <a:pt x="310045" y="10159"/>
                  </a:lnTo>
                  <a:lnTo>
                    <a:pt x="310045" y="18542"/>
                  </a:lnTo>
                  <a:lnTo>
                    <a:pt x="325894" y="18542"/>
                  </a:lnTo>
                  <a:lnTo>
                    <a:pt x="325894" y="1143"/>
                  </a:lnTo>
                  <a:close/>
                </a:path>
                <a:path w="440690" h="65405">
                  <a:moveTo>
                    <a:pt x="370624" y="17525"/>
                  </a:moveTo>
                  <a:lnTo>
                    <a:pt x="357416" y="17525"/>
                  </a:lnTo>
                  <a:lnTo>
                    <a:pt x="351739" y="19684"/>
                  </a:lnTo>
                  <a:lnTo>
                    <a:pt x="344073" y="27940"/>
                  </a:lnTo>
                  <a:lnTo>
                    <a:pt x="343439" y="28701"/>
                  </a:lnTo>
                  <a:lnTo>
                    <a:pt x="341414" y="34417"/>
                  </a:lnTo>
                  <a:lnTo>
                    <a:pt x="341414" y="46608"/>
                  </a:lnTo>
                  <a:lnTo>
                    <a:pt x="359702" y="65404"/>
                  </a:lnTo>
                  <a:lnTo>
                    <a:pt x="371513" y="65404"/>
                  </a:lnTo>
                  <a:lnTo>
                    <a:pt x="375735" y="64516"/>
                  </a:lnTo>
                  <a:lnTo>
                    <a:pt x="376118" y="64516"/>
                  </a:lnTo>
                  <a:lnTo>
                    <a:pt x="379641" y="62483"/>
                  </a:lnTo>
                  <a:lnTo>
                    <a:pt x="383070" y="60451"/>
                  </a:lnTo>
                  <a:lnTo>
                    <a:pt x="385864" y="57150"/>
                  </a:lnTo>
                  <a:lnTo>
                    <a:pt x="386936" y="55118"/>
                  </a:lnTo>
                  <a:lnTo>
                    <a:pt x="363131" y="55118"/>
                  </a:lnTo>
                  <a:lnTo>
                    <a:pt x="361099" y="54101"/>
                  </a:lnTo>
                  <a:lnTo>
                    <a:pt x="359575" y="52070"/>
                  </a:lnTo>
                  <a:lnTo>
                    <a:pt x="358546" y="50926"/>
                  </a:lnTo>
                  <a:lnTo>
                    <a:pt x="357797" y="48641"/>
                  </a:lnTo>
                  <a:lnTo>
                    <a:pt x="357612" y="46608"/>
                  </a:lnTo>
                  <a:lnTo>
                    <a:pt x="357543" y="45847"/>
                  </a:lnTo>
                  <a:lnTo>
                    <a:pt x="389166" y="45847"/>
                  </a:lnTo>
                  <a:lnTo>
                    <a:pt x="389097" y="37465"/>
                  </a:lnTo>
                  <a:lnTo>
                    <a:pt x="357543" y="37465"/>
                  </a:lnTo>
                  <a:lnTo>
                    <a:pt x="357797" y="34671"/>
                  </a:lnTo>
                  <a:lnTo>
                    <a:pt x="358352" y="32893"/>
                  </a:lnTo>
                  <a:lnTo>
                    <a:pt x="358432" y="32639"/>
                  </a:lnTo>
                  <a:lnTo>
                    <a:pt x="359321" y="31242"/>
                  </a:lnTo>
                  <a:lnTo>
                    <a:pt x="360845" y="29082"/>
                  </a:lnTo>
                  <a:lnTo>
                    <a:pt x="362877" y="27940"/>
                  </a:lnTo>
                  <a:lnTo>
                    <a:pt x="385947" y="27940"/>
                  </a:lnTo>
                  <a:lnTo>
                    <a:pt x="384721" y="25400"/>
                  </a:lnTo>
                  <a:lnTo>
                    <a:pt x="382181" y="22478"/>
                  </a:lnTo>
                  <a:lnTo>
                    <a:pt x="378752" y="20447"/>
                  </a:lnTo>
                  <a:lnTo>
                    <a:pt x="375323" y="18542"/>
                  </a:lnTo>
                  <a:lnTo>
                    <a:pt x="370624" y="17525"/>
                  </a:lnTo>
                  <a:close/>
                </a:path>
                <a:path w="440690" h="65405">
                  <a:moveTo>
                    <a:pt x="372783" y="50926"/>
                  </a:moveTo>
                  <a:lnTo>
                    <a:pt x="367068" y="55118"/>
                  </a:lnTo>
                  <a:lnTo>
                    <a:pt x="386936" y="55118"/>
                  </a:lnTo>
                  <a:lnTo>
                    <a:pt x="388277" y="52577"/>
                  </a:lnTo>
                  <a:lnTo>
                    <a:pt x="372783" y="50926"/>
                  </a:lnTo>
                  <a:close/>
                </a:path>
                <a:path w="440690" h="65405">
                  <a:moveTo>
                    <a:pt x="385947" y="27940"/>
                  </a:moveTo>
                  <a:lnTo>
                    <a:pt x="367576" y="27940"/>
                  </a:lnTo>
                  <a:lnTo>
                    <a:pt x="369354" y="28701"/>
                  </a:lnTo>
                  <a:lnTo>
                    <a:pt x="372021" y="31623"/>
                  </a:lnTo>
                  <a:lnTo>
                    <a:pt x="372783" y="34036"/>
                  </a:lnTo>
                  <a:lnTo>
                    <a:pt x="373164" y="37465"/>
                  </a:lnTo>
                  <a:lnTo>
                    <a:pt x="389097" y="37465"/>
                  </a:lnTo>
                  <a:lnTo>
                    <a:pt x="388277" y="32893"/>
                  </a:lnTo>
                  <a:lnTo>
                    <a:pt x="386499" y="29082"/>
                  </a:lnTo>
                  <a:lnTo>
                    <a:pt x="385947" y="27940"/>
                  </a:lnTo>
                  <a:close/>
                </a:path>
                <a:path w="440690" h="65405">
                  <a:moveTo>
                    <a:pt x="414566" y="17525"/>
                  </a:moveTo>
                  <a:lnTo>
                    <a:pt x="407073" y="17525"/>
                  </a:lnTo>
                  <a:lnTo>
                    <a:pt x="403009" y="19557"/>
                  </a:lnTo>
                  <a:lnTo>
                    <a:pt x="399707" y="23622"/>
                  </a:lnTo>
                  <a:lnTo>
                    <a:pt x="396405" y="27558"/>
                  </a:lnTo>
                  <a:lnTo>
                    <a:pt x="394754" y="33400"/>
                  </a:lnTo>
                  <a:lnTo>
                    <a:pt x="394754" y="47751"/>
                  </a:lnTo>
                  <a:lnTo>
                    <a:pt x="396278" y="53594"/>
                  </a:lnTo>
                  <a:lnTo>
                    <a:pt x="402120" y="62992"/>
                  </a:lnTo>
                  <a:lnTo>
                    <a:pt x="406438" y="65404"/>
                  </a:lnTo>
                  <a:lnTo>
                    <a:pt x="414820" y="65404"/>
                  </a:lnTo>
                  <a:lnTo>
                    <a:pt x="425361" y="57657"/>
                  </a:lnTo>
                  <a:lnTo>
                    <a:pt x="440220" y="57657"/>
                  </a:lnTo>
                  <a:lnTo>
                    <a:pt x="440220" y="52577"/>
                  </a:lnTo>
                  <a:lnTo>
                    <a:pt x="415328" y="52577"/>
                  </a:lnTo>
                  <a:lnTo>
                    <a:pt x="413804" y="51689"/>
                  </a:lnTo>
                  <a:lnTo>
                    <a:pt x="412534" y="49911"/>
                  </a:lnTo>
                  <a:lnTo>
                    <a:pt x="411264" y="48259"/>
                  </a:lnTo>
                  <a:lnTo>
                    <a:pt x="410629" y="45466"/>
                  </a:lnTo>
                  <a:lnTo>
                    <a:pt x="410629" y="37719"/>
                  </a:lnTo>
                  <a:lnTo>
                    <a:pt x="411114" y="35051"/>
                  </a:lnTo>
                  <a:lnTo>
                    <a:pt x="412225" y="33400"/>
                  </a:lnTo>
                  <a:lnTo>
                    <a:pt x="413677" y="31496"/>
                  </a:lnTo>
                  <a:lnTo>
                    <a:pt x="415201" y="30606"/>
                  </a:lnTo>
                  <a:lnTo>
                    <a:pt x="440220" y="30606"/>
                  </a:lnTo>
                  <a:lnTo>
                    <a:pt x="440220" y="22987"/>
                  </a:lnTo>
                  <a:lnTo>
                    <a:pt x="424218" y="22987"/>
                  </a:lnTo>
                  <a:lnTo>
                    <a:pt x="422694" y="21208"/>
                  </a:lnTo>
                  <a:lnTo>
                    <a:pt x="420916" y="19812"/>
                  </a:lnTo>
                  <a:lnTo>
                    <a:pt x="416852" y="18033"/>
                  </a:lnTo>
                  <a:lnTo>
                    <a:pt x="414566" y="17525"/>
                  </a:lnTo>
                  <a:close/>
                </a:path>
                <a:path w="440690" h="65405">
                  <a:moveTo>
                    <a:pt x="440220" y="57657"/>
                  </a:moveTo>
                  <a:lnTo>
                    <a:pt x="425361" y="57657"/>
                  </a:lnTo>
                  <a:lnTo>
                    <a:pt x="425361" y="64389"/>
                  </a:lnTo>
                  <a:lnTo>
                    <a:pt x="440220" y="64389"/>
                  </a:lnTo>
                  <a:lnTo>
                    <a:pt x="440220" y="57657"/>
                  </a:lnTo>
                  <a:close/>
                </a:path>
                <a:path w="440690" h="65405">
                  <a:moveTo>
                    <a:pt x="440220" y="30606"/>
                  </a:moveTo>
                  <a:lnTo>
                    <a:pt x="419138" y="30606"/>
                  </a:lnTo>
                  <a:lnTo>
                    <a:pt x="420916" y="31496"/>
                  </a:lnTo>
                  <a:lnTo>
                    <a:pt x="422403" y="33400"/>
                  </a:lnTo>
                  <a:lnTo>
                    <a:pt x="423583" y="35051"/>
                  </a:lnTo>
                  <a:lnTo>
                    <a:pt x="424345" y="37719"/>
                  </a:lnTo>
                  <a:lnTo>
                    <a:pt x="424310" y="45466"/>
                  </a:lnTo>
                  <a:lnTo>
                    <a:pt x="419265" y="52577"/>
                  </a:lnTo>
                  <a:lnTo>
                    <a:pt x="440220" y="52577"/>
                  </a:lnTo>
                  <a:lnTo>
                    <a:pt x="440220" y="30606"/>
                  </a:lnTo>
                  <a:close/>
                </a:path>
                <a:path w="440690" h="65405">
                  <a:moveTo>
                    <a:pt x="440220" y="1143"/>
                  </a:moveTo>
                  <a:lnTo>
                    <a:pt x="424218" y="1143"/>
                  </a:lnTo>
                  <a:lnTo>
                    <a:pt x="424218" y="22987"/>
                  </a:lnTo>
                  <a:lnTo>
                    <a:pt x="440220" y="22987"/>
                  </a:lnTo>
                  <a:lnTo>
                    <a:pt x="440220" y="1143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44500" y="979677"/>
            <a:ext cx="251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171717"/>
                </a:solidFill>
                <a:latin typeface="Arial Black"/>
                <a:cs typeface="Arial Black"/>
              </a:rPr>
              <a:t>works</a:t>
            </a:r>
            <a:endParaRPr sz="7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800" spc="-65" dirty="0">
                <a:solidFill>
                  <a:srgbClr val="171717"/>
                </a:solidFill>
                <a:latin typeface="Arial Black"/>
                <a:cs typeface="Arial Black"/>
              </a:rPr>
              <a:t>University</a:t>
            </a:r>
            <a:r>
              <a:rPr sz="80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71717"/>
                </a:solidFill>
                <a:latin typeface="Arial Black"/>
                <a:cs typeface="Arial Black"/>
              </a:rPr>
              <a:t>of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Wales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71717"/>
                </a:solidFill>
                <a:latin typeface="Arial Black"/>
                <a:cs typeface="Arial Black"/>
              </a:rPr>
              <a:t>Institute,</a:t>
            </a:r>
            <a:r>
              <a:rPr sz="800" spc="15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60" dirty="0">
                <a:solidFill>
                  <a:srgbClr val="171717"/>
                </a:solidFill>
                <a:latin typeface="Arial Black"/>
                <a:cs typeface="Arial Black"/>
              </a:rPr>
              <a:t>Cardiff</a:t>
            </a:r>
            <a:r>
              <a:rPr sz="800" spc="1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45" dirty="0">
                <a:solidFill>
                  <a:srgbClr val="171717"/>
                </a:solidFill>
                <a:latin typeface="Arial Black"/>
                <a:cs typeface="Arial Black"/>
              </a:rPr>
              <a:t>on</a:t>
            </a:r>
            <a:r>
              <a:rPr sz="800" spc="20" dirty="0">
                <a:solidFill>
                  <a:srgbClr val="171717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71717"/>
                </a:solidFill>
                <a:latin typeface="Arial Black"/>
                <a:cs typeface="Arial Black"/>
              </a:rPr>
              <a:t>2024-</a:t>
            </a:r>
            <a:r>
              <a:rPr sz="800" spc="-80" dirty="0">
                <a:solidFill>
                  <a:srgbClr val="171717"/>
                </a:solidFill>
                <a:latin typeface="Arial Black"/>
                <a:cs typeface="Arial Black"/>
              </a:rPr>
              <a:t>06-</a:t>
            </a: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12</a:t>
            </a:r>
            <a:endParaRPr sz="8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6961" y="342392"/>
            <a:ext cx="11741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5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6073" y="342392"/>
            <a:ext cx="13703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9372" y="1193037"/>
            <a:ext cx="257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171717"/>
                </a:solidFill>
                <a:latin typeface="Arial Black"/>
                <a:cs typeface="Arial Black"/>
              </a:rPr>
              <a:t>&lt;1%</a:t>
            </a:r>
            <a:endParaRPr sz="800">
              <a:latin typeface="Arial Black"/>
              <a:cs typeface="Arial Blac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04800"/>
            <a:ext cx="698500" cy="2095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45438" y="9546949"/>
            <a:ext cx="1174115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Page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5</a:t>
            </a:r>
            <a:r>
              <a:rPr sz="600" spc="2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of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24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-</a:t>
            </a:r>
            <a:r>
              <a:rPr sz="600" spc="3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Integrity</a:t>
            </a:r>
            <a:r>
              <a:rPr sz="600" spc="1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Overview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6073" y="9546949"/>
            <a:ext cx="1370330" cy="1111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Submission</a:t>
            </a:r>
            <a:r>
              <a:rPr sz="600" spc="40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71717"/>
                </a:solidFill>
                <a:latin typeface="Arial MT"/>
                <a:cs typeface="Arial MT"/>
              </a:rPr>
              <a:t>ID</a:t>
            </a:r>
            <a:r>
              <a:rPr sz="600" spc="45" dirty="0">
                <a:solidFill>
                  <a:srgbClr val="171717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71717"/>
                </a:solidFill>
                <a:latin typeface="Arial MT"/>
                <a:cs typeface="Arial MT"/>
              </a:rPr>
              <a:t>trn:oid:::3618:90209004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21155" marR="5080" indent="-1609090">
              <a:lnSpc>
                <a:spcPct val="103699"/>
              </a:lnSpc>
              <a:spcBef>
                <a:spcPts val="5"/>
              </a:spcBef>
            </a:pPr>
            <a:r>
              <a:rPr dirty="0"/>
              <a:t>PREDICTIVE</a:t>
            </a:r>
            <a:r>
              <a:rPr spc="-114" dirty="0"/>
              <a:t> </a:t>
            </a:r>
            <a:r>
              <a:rPr dirty="0"/>
              <a:t>MODEL</a:t>
            </a:r>
            <a:r>
              <a:rPr spc="-14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TRAIN</a:t>
            </a:r>
            <a:r>
              <a:rPr spc="-70" dirty="0"/>
              <a:t> </a:t>
            </a:r>
            <a:r>
              <a:rPr dirty="0"/>
              <a:t>DELAYS</a:t>
            </a:r>
            <a:r>
              <a:rPr spc="-85" dirty="0"/>
              <a:t> </a:t>
            </a:r>
            <a:r>
              <a:rPr spc="-25" dirty="0"/>
              <a:t>IN </a:t>
            </a:r>
            <a:r>
              <a:rPr dirty="0"/>
              <a:t>RAILWAY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8007" y="1670213"/>
          <a:ext cx="6710679" cy="74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7955">
                <a:tc>
                  <a:txBody>
                    <a:bodyPr/>
                    <a:lstStyle/>
                    <a:p>
                      <a:pPr marL="31750">
                        <a:lnSpc>
                          <a:spcPts val="107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T.PRANATHI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ts val="107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G.SINDHU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SRI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ts val="107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U.SANJANA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107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T.RAMCHARAN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TEJ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Dept.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Dept.</a:t>
                      </a:r>
                      <a:r>
                        <a:rPr sz="10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Dept.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sz="10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Dept.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ECE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130">
                <a:tc>
                  <a:txBody>
                    <a:bodyPr/>
                    <a:lstStyle/>
                    <a:p>
                      <a:pPr marL="46990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Kakatiya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Tech.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Kakatiya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Tech.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Kakatiya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sz="10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Tech.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109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Kakatiya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Institute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Tech.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33020">
                        <a:lnSpc>
                          <a:spcPts val="10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Warangal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ts val="10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Warangal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10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Warangal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0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Warangal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1000" u="sng" spc="-10" dirty="0">
                          <a:solidFill>
                            <a:srgbClr val="0461C1"/>
                          </a:solidFill>
                          <a:uFill>
                            <a:solidFill>
                              <a:srgbClr val="0461C1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b21ec154@kitsw.ac.in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1060"/>
                        </a:lnSpc>
                      </a:pPr>
                      <a:r>
                        <a:rPr sz="1000" u="sng" spc="-10" dirty="0">
                          <a:solidFill>
                            <a:srgbClr val="0461C1"/>
                          </a:solidFill>
                          <a:uFill>
                            <a:solidFill>
                              <a:srgbClr val="0461C1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b21ec145@kitsw.ac.in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ts val="1060"/>
                        </a:lnSpc>
                      </a:pPr>
                      <a:r>
                        <a:rPr sz="1000" u="sng" spc="-10" dirty="0">
                          <a:solidFill>
                            <a:srgbClr val="0461C1"/>
                          </a:solidFill>
                          <a:uFill>
                            <a:solidFill>
                              <a:srgbClr val="0461C1"/>
                            </a:solidFill>
                          </a:uFill>
                          <a:latin typeface="Times New Roman"/>
                          <a:cs typeface="Times New Roman"/>
                          <a:hlinkClick r:id="rId4"/>
                        </a:rPr>
                        <a:t>b21ec182@kitsw.ac.in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060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  <a:hlinkClick r:id="rId5"/>
                        </a:rPr>
                        <a:t>b21ec175@kitsw.ac.in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5445" marR="92075" indent="1270" algn="just">
              <a:lnSpc>
                <a:spcPct val="108600"/>
              </a:lnSpc>
              <a:spcBef>
                <a:spcPts val="160"/>
              </a:spcBef>
            </a:pPr>
            <a:r>
              <a:rPr sz="900" i="1" dirty="0">
                <a:latin typeface="Times New Roman"/>
                <a:cs typeface="Times New Roman"/>
              </a:rPr>
              <a:t>ABSTRACT</a:t>
            </a:r>
            <a:r>
              <a:rPr dirty="0"/>
              <a:t>—Railway</a:t>
            </a:r>
            <a:r>
              <a:rPr spc="260" dirty="0"/>
              <a:t> </a:t>
            </a:r>
            <a:r>
              <a:rPr dirty="0"/>
              <a:t>Systems</a:t>
            </a:r>
            <a:r>
              <a:rPr spc="250" dirty="0"/>
              <a:t> </a:t>
            </a:r>
            <a:r>
              <a:rPr dirty="0"/>
              <a:t>plays</a:t>
            </a:r>
            <a:r>
              <a:rPr spc="240" dirty="0"/>
              <a:t> </a:t>
            </a:r>
            <a:r>
              <a:rPr dirty="0"/>
              <a:t>a</a:t>
            </a:r>
            <a:r>
              <a:rPr spc="260" dirty="0"/>
              <a:t> </a:t>
            </a:r>
            <a:r>
              <a:rPr spc="-10" dirty="0"/>
              <a:t>crucial </a:t>
            </a:r>
            <a:r>
              <a:rPr dirty="0"/>
              <a:t>role</a:t>
            </a:r>
            <a:r>
              <a:rPr spc="10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dirty="0"/>
              <a:t>transportation</a:t>
            </a:r>
            <a:r>
              <a:rPr spc="100" dirty="0"/>
              <a:t> </a:t>
            </a:r>
            <a:r>
              <a:rPr dirty="0"/>
              <a:t>networks,</a:t>
            </a:r>
            <a:r>
              <a:rPr spc="100" dirty="0"/>
              <a:t> </a:t>
            </a:r>
            <a:r>
              <a:rPr dirty="0"/>
              <a:t>yet</a:t>
            </a:r>
            <a:r>
              <a:rPr spc="105" dirty="0"/>
              <a:t> </a:t>
            </a:r>
            <a:r>
              <a:rPr dirty="0"/>
              <a:t>train</a:t>
            </a:r>
            <a:r>
              <a:rPr spc="95" dirty="0"/>
              <a:t> </a:t>
            </a:r>
            <a:r>
              <a:rPr spc="-10" dirty="0"/>
              <a:t>delays </a:t>
            </a:r>
            <a:r>
              <a:rPr dirty="0"/>
              <a:t>remain</a:t>
            </a:r>
            <a:r>
              <a:rPr spc="315" dirty="0"/>
              <a:t>  </a:t>
            </a:r>
            <a:r>
              <a:rPr dirty="0"/>
              <a:t>a</a:t>
            </a:r>
            <a:r>
              <a:rPr spc="320" dirty="0"/>
              <a:t>  </a:t>
            </a:r>
            <a:r>
              <a:rPr dirty="0"/>
              <a:t>persistent</a:t>
            </a:r>
            <a:r>
              <a:rPr spc="320" dirty="0"/>
              <a:t>  </a:t>
            </a:r>
            <a:r>
              <a:rPr dirty="0"/>
              <a:t>challenge,</a:t>
            </a:r>
            <a:r>
              <a:rPr spc="325" dirty="0"/>
              <a:t>  </a:t>
            </a:r>
            <a:r>
              <a:rPr spc="-10" dirty="0"/>
              <a:t>impacting </a:t>
            </a:r>
            <a:r>
              <a:rPr dirty="0"/>
              <a:t>passenger.</a:t>
            </a:r>
            <a:r>
              <a:rPr spc="245" dirty="0"/>
              <a:t> </a:t>
            </a:r>
            <a:r>
              <a:rPr dirty="0"/>
              <a:t>This</a:t>
            </a:r>
            <a:r>
              <a:rPr spc="240" dirty="0"/>
              <a:t> </a:t>
            </a:r>
            <a:r>
              <a:rPr dirty="0"/>
              <a:t>research</a:t>
            </a:r>
            <a:r>
              <a:rPr spc="245" dirty="0"/>
              <a:t> </a:t>
            </a:r>
            <a:r>
              <a:rPr dirty="0"/>
              <a:t>proposes</a:t>
            </a:r>
            <a:r>
              <a:rPr spc="245" dirty="0"/>
              <a:t> </a:t>
            </a:r>
            <a:r>
              <a:rPr dirty="0"/>
              <a:t>a</a:t>
            </a:r>
            <a:r>
              <a:rPr spc="235" dirty="0"/>
              <a:t> </a:t>
            </a:r>
            <a:r>
              <a:rPr spc="-10" dirty="0"/>
              <a:t>predictive </a:t>
            </a:r>
            <a:r>
              <a:rPr dirty="0"/>
              <a:t>model</a:t>
            </a:r>
            <a:r>
              <a:rPr spc="240" dirty="0"/>
              <a:t>  </a:t>
            </a:r>
            <a:r>
              <a:rPr dirty="0"/>
              <a:t>for</a:t>
            </a:r>
            <a:r>
              <a:rPr spc="240" dirty="0"/>
              <a:t>  </a:t>
            </a:r>
            <a:r>
              <a:rPr dirty="0"/>
              <a:t>train</a:t>
            </a:r>
            <a:r>
              <a:rPr spc="240" dirty="0"/>
              <a:t>  </a:t>
            </a:r>
            <a:r>
              <a:rPr dirty="0"/>
              <a:t>delays</a:t>
            </a:r>
            <a:r>
              <a:rPr spc="240" dirty="0"/>
              <a:t>  </a:t>
            </a:r>
            <a:r>
              <a:rPr dirty="0"/>
              <a:t>using</a:t>
            </a:r>
            <a:r>
              <a:rPr spc="240" dirty="0"/>
              <a:t>  </a:t>
            </a:r>
            <a:r>
              <a:rPr spc="-10" dirty="0"/>
              <a:t>data-driven </a:t>
            </a:r>
            <a:r>
              <a:rPr dirty="0"/>
              <a:t>techniques,</a:t>
            </a:r>
            <a:r>
              <a:rPr spc="345" dirty="0"/>
              <a:t> </a:t>
            </a:r>
            <a:r>
              <a:rPr dirty="0"/>
              <a:t>aiming</a:t>
            </a:r>
            <a:r>
              <a:rPr spc="350" dirty="0"/>
              <a:t> </a:t>
            </a:r>
            <a:r>
              <a:rPr dirty="0"/>
              <a:t>to</a:t>
            </a:r>
            <a:r>
              <a:rPr spc="350" dirty="0"/>
              <a:t> </a:t>
            </a:r>
            <a:r>
              <a:rPr dirty="0"/>
              <a:t>enhance</a:t>
            </a:r>
            <a:r>
              <a:rPr spc="345" dirty="0"/>
              <a:t> </a:t>
            </a:r>
            <a:r>
              <a:rPr dirty="0"/>
              <a:t>reliability</a:t>
            </a:r>
            <a:r>
              <a:rPr spc="350" dirty="0"/>
              <a:t> </a:t>
            </a:r>
            <a:r>
              <a:rPr spc="-25" dirty="0"/>
              <a:t>and</a:t>
            </a:r>
            <a:r>
              <a:rPr dirty="0"/>
              <a:t> schedule</a:t>
            </a:r>
            <a:r>
              <a:rPr spc="290" dirty="0"/>
              <a:t>  </a:t>
            </a:r>
            <a:r>
              <a:rPr dirty="0"/>
              <a:t>adherence.</a:t>
            </a:r>
            <a:r>
              <a:rPr spc="290" dirty="0"/>
              <a:t>  </a:t>
            </a:r>
            <a:r>
              <a:rPr dirty="0"/>
              <a:t>The</a:t>
            </a:r>
            <a:r>
              <a:rPr spc="285" dirty="0"/>
              <a:t>  </a:t>
            </a:r>
            <a:r>
              <a:rPr dirty="0"/>
              <a:t>model</a:t>
            </a:r>
            <a:r>
              <a:rPr spc="290" dirty="0"/>
              <a:t>  </a:t>
            </a:r>
            <a:r>
              <a:rPr spc="-10" dirty="0"/>
              <a:t>leverages </a:t>
            </a:r>
            <a:r>
              <a:rPr dirty="0"/>
              <a:t>historical</a:t>
            </a:r>
            <a:r>
              <a:rPr spc="220" dirty="0"/>
              <a:t> </a:t>
            </a:r>
            <a:r>
              <a:rPr dirty="0"/>
              <a:t>train</a:t>
            </a:r>
            <a:r>
              <a:rPr spc="225" dirty="0"/>
              <a:t> </a:t>
            </a:r>
            <a:r>
              <a:rPr dirty="0"/>
              <a:t>data,</a:t>
            </a:r>
            <a:r>
              <a:rPr spc="220" dirty="0"/>
              <a:t> </a:t>
            </a:r>
            <a:r>
              <a:rPr dirty="0"/>
              <a:t>weather</a:t>
            </a:r>
            <a:r>
              <a:rPr spc="210" dirty="0"/>
              <a:t> </a:t>
            </a:r>
            <a:r>
              <a:rPr dirty="0"/>
              <a:t>conditions,</a:t>
            </a:r>
            <a:r>
              <a:rPr spc="220" dirty="0"/>
              <a:t> </a:t>
            </a:r>
            <a:r>
              <a:rPr spc="-20" dirty="0"/>
              <a:t>track</a:t>
            </a:r>
            <a:r>
              <a:rPr dirty="0"/>
              <a:t> infrastructure,</a:t>
            </a:r>
            <a:r>
              <a:rPr spc="300" dirty="0"/>
              <a:t> </a:t>
            </a:r>
            <a:r>
              <a:rPr dirty="0"/>
              <a:t>station</a:t>
            </a:r>
            <a:r>
              <a:rPr spc="300" dirty="0"/>
              <a:t> </a:t>
            </a:r>
            <a:r>
              <a:rPr dirty="0"/>
              <a:t>congestion</a:t>
            </a:r>
            <a:r>
              <a:rPr spc="290" dirty="0"/>
              <a:t> </a:t>
            </a:r>
            <a:r>
              <a:rPr dirty="0"/>
              <a:t>and</a:t>
            </a:r>
            <a:r>
              <a:rPr spc="300" dirty="0"/>
              <a:t> </a:t>
            </a:r>
            <a:r>
              <a:rPr spc="-10" dirty="0"/>
              <a:t>external </a:t>
            </a:r>
            <a:r>
              <a:rPr dirty="0"/>
              <a:t>factors</a:t>
            </a:r>
            <a:r>
              <a:rPr spc="175" dirty="0"/>
              <a:t>  </a:t>
            </a:r>
            <a:r>
              <a:rPr dirty="0"/>
              <a:t>such</a:t>
            </a:r>
            <a:r>
              <a:rPr spc="175" dirty="0"/>
              <a:t>  </a:t>
            </a:r>
            <a:r>
              <a:rPr dirty="0"/>
              <a:t>as</a:t>
            </a:r>
            <a:r>
              <a:rPr spc="175" dirty="0"/>
              <a:t>  </a:t>
            </a:r>
            <a:r>
              <a:rPr dirty="0"/>
              <a:t>maintenance</a:t>
            </a:r>
            <a:r>
              <a:rPr spc="175" dirty="0"/>
              <a:t>  </a:t>
            </a:r>
            <a:r>
              <a:rPr dirty="0"/>
              <a:t>activities</a:t>
            </a:r>
            <a:r>
              <a:rPr spc="175" dirty="0"/>
              <a:t>  </a:t>
            </a:r>
            <a:r>
              <a:rPr spc="-25" dirty="0"/>
              <a:t>and</a:t>
            </a:r>
            <a:r>
              <a:rPr dirty="0"/>
              <a:t> unforeseen</a:t>
            </a:r>
            <a:r>
              <a:rPr spc="385" dirty="0"/>
              <a:t>  </a:t>
            </a:r>
            <a:r>
              <a:rPr dirty="0"/>
              <a:t>disruptions.</a:t>
            </a:r>
            <a:r>
              <a:rPr spc="380" dirty="0"/>
              <a:t>  </a:t>
            </a:r>
            <a:r>
              <a:rPr dirty="0"/>
              <a:t>Machine</a:t>
            </a:r>
            <a:r>
              <a:rPr spc="380" dirty="0"/>
              <a:t>  </a:t>
            </a:r>
            <a:r>
              <a:rPr spc="-10" dirty="0"/>
              <a:t>learning </a:t>
            </a:r>
            <a:r>
              <a:rPr dirty="0"/>
              <a:t>algorithms,</a:t>
            </a:r>
            <a:r>
              <a:rPr spc="185" dirty="0"/>
              <a:t> </a:t>
            </a:r>
            <a:r>
              <a:rPr dirty="0"/>
              <a:t>including</a:t>
            </a:r>
            <a:r>
              <a:rPr spc="204" dirty="0"/>
              <a:t> </a:t>
            </a:r>
            <a:r>
              <a:rPr dirty="0"/>
              <a:t>regression</a:t>
            </a:r>
            <a:r>
              <a:rPr spc="195" dirty="0"/>
              <a:t> </a:t>
            </a:r>
            <a:r>
              <a:rPr dirty="0"/>
              <a:t>models,</a:t>
            </a:r>
            <a:r>
              <a:rPr spc="200" dirty="0"/>
              <a:t> </a:t>
            </a:r>
            <a:r>
              <a:rPr spc="-10" dirty="0"/>
              <a:t>neural </a:t>
            </a:r>
            <a:r>
              <a:rPr dirty="0"/>
              <a:t>networks</a:t>
            </a:r>
            <a:r>
              <a:rPr spc="325" dirty="0"/>
              <a:t> </a:t>
            </a:r>
            <a:r>
              <a:rPr dirty="0"/>
              <a:t>and</a:t>
            </a:r>
            <a:r>
              <a:rPr spc="315" dirty="0"/>
              <a:t> </a:t>
            </a:r>
            <a:r>
              <a:rPr dirty="0"/>
              <a:t>ensemble</a:t>
            </a:r>
            <a:r>
              <a:rPr spc="315" dirty="0"/>
              <a:t> </a:t>
            </a:r>
            <a:r>
              <a:rPr dirty="0"/>
              <a:t>learning</a:t>
            </a:r>
            <a:r>
              <a:rPr spc="320" dirty="0"/>
              <a:t> </a:t>
            </a:r>
            <a:r>
              <a:rPr dirty="0"/>
              <a:t>methods</a:t>
            </a:r>
            <a:r>
              <a:rPr spc="315" dirty="0"/>
              <a:t> </a:t>
            </a:r>
            <a:r>
              <a:rPr spc="-25" dirty="0"/>
              <a:t>are</a:t>
            </a:r>
            <a:r>
              <a:rPr dirty="0"/>
              <a:t> employed</a:t>
            </a:r>
            <a:r>
              <a:rPr spc="-5" dirty="0"/>
              <a:t> </a:t>
            </a:r>
            <a:r>
              <a:rPr dirty="0"/>
              <a:t>to analyse</a:t>
            </a:r>
            <a:r>
              <a:rPr spc="-10" dirty="0"/>
              <a:t> </a:t>
            </a:r>
            <a:r>
              <a:rPr dirty="0"/>
              <a:t>complex</a:t>
            </a:r>
            <a:r>
              <a:rPr spc="-10" dirty="0"/>
              <a:t> </a:t>
            </a:r>
            <a:r>
              <a:rPr dirty="0"/>
              <a:t>patterns</a:t>
            </a:r>
            <a:r>
              <a:rPr spc="-5" dirty="0"/>
              <a:t> </a:t>
            </a:r>
            <a:r>
              <a:rPr spc="-10" dirty="0"/>
              <a:t>influencing </a:t>
            </a:r>
            <a:r>
              <a:rPr dirty="0"/>
              <a:t>train</a:t>
            </a:r>
            <a:r>
              <a:rPr spc="465" dirty="0"/>
              <a:t> </a:t>
            </a:r>
            <a:r>
              <a:rPr dirty="0"/>
              <a:t>delays.</a:t>
            </a:r>
            <a:r>
              <a:rPr spc="455" dirty="0"/>
              <a:t> </a:t>
            </a:r>
            <a:r>
              <a:rPr dirty="0"/>
              <a:t>The</a:t>
            </a:r>
            <a:r>
              <a:rPr spc="450" dirty="0"/>
              <a:t> </a:t>
            </a:r>
            <a:r>
              <a:rPr dirty="0"/>
              <a:t>model</a:t>
            </a:r>
            <a:r>
              <a:rPr spc="455" dirty="0"/>
              <a:t> </a:t>
            </a:r>
            <a:r>
              <a:rPr dirty="0"/>
              <a:t>undergoes</a:t>
            </a:r>
            <a:r>
              <a:rPr spc="459" dirty="0"/>
              <a:t> </a:t>
            </a:r>
            <a:r>
              <a:rPr spc="-10" dirty="0"/>
              <a:t>rigorous </a:t>
            </a:r>
            <a:r>
              <a:rPr dirty="0"/>
              <a:t>training</a:t>
            </a:r>
            <a:r>
              <a:rPr spc="110" dirty="0"/>
              <a:t> </a:t>
            </a:r>
            <a:r>
              <a:rPr dirty="0"/>
              <a:t>and</a:t>
            </a:r>
            <a:r>
              <a:rPr spc="114" dirty="0"/>
              <a:t> </a:t>
            </a:r>
            <a:r>
              <a:rPr dirty="0"/>
              <a:t>validation</a:t>
            </a:r>
            <a:r>
              <a:rPr spc="105" dirty="0"/>
              <a:t> </a:t>
            </a:r>
            <a:r>
              <a:rPr dirty="0"/>
              <a:t>using</a:t>
            </a:r>
            <a:r>
              <a:rPr spc="105" dirty="0"/>
              <a:t> </a:t>
            </a:r>
            <a:r>
              <a:rPr spc="-10" dirty="0"/>
              <a:t>real-</a:t>
            </a:r>
            <a:r>
              <a:rPr dirty="0"/>
              <a:t>world</a:t>
            </a:r>
            <a:r>
              <a:rPr spc="114" dirty="0"/>
              <a:t> </a:t>
            </a:r>
            <a:r>
              <a:rPr spc="-10" dirty="0"/>
              <a:t>railway </a:t>
            </a:r>
            <a:r>
              <a:rPr dirty="0"/>
              <a:t>datasets</a:t>
            </a:r>
            <a:r>
              <a:rPr spc="150" dirty="0"/>
              <a:t> </a:t>
            </a:r>
            <a:r>
              <a:rPr dirty="0"/>
              <a:t>to</a:t>
            </a:r>
            <a:r>
              <a:rPr spc="165" dirty="0"/>
              <a:t> </a:t>
            </a:r>
            <a:r>
              <a:rPr dirty="0"/>
              <a:t>ensure</a:t>
            </a:r>
            <a:r>
              <a:rPr spc="165" dirty="0"/>
              <a:t> </a:t>
            </a:r>
            <a:r>
              <a:rPr dirty="0"/>
              <a:t>high</a:t>
            </a:r>
            <a:r>
              <a:rPr spc="160" dirty="0"/>
              <a:t> </a:t>
            </a:r>
            <a:r>
              <a:rPr dirty="0"/>
              <a:t>predictive</a:t>
            </a:r>
            <a:r>
              <a:rPr spc="165" dirty="0"/>
              <a:t> </a:t>
            </a:r>
            <a:r>
              <a:rPr dirty="0"/>
              <a:t>accuracy.</a:t>
            </a:r>
            <a:r>
              <a:rPr spc="165" dirty="0"/>
              <a:t> </a:t>
            </a:r>
            <a:r>
              <a:rPr spc="-25" dirty="0"/>
              <a:t>By</a:t>
            </a:r>
            <a:r>
              <a:rPr dirty="0"/>
              <a:t> integrating</a:t>
            </a:r>
            <a:r>
              <a:rPr spc="405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400" dirty="0"/>
              <a:t> </a:t>
            </a:r>
            <a:r>
              <a:rPr dirty="0"/>
              <a:t>data</a:t>
            </a:r>
            <a:r>
              <a:rPr spc="395" dirty="0"/>
              <a:t> </a:t>
            </a:r>
            <a:r>
              <a:rPr dirty="0"/>
              <a:t>inputs,</a:t>
            </a:r>
            <a:r>
              <a:rPr spc="400" dirty="0"/>
              <a:t> </a:t>
            </a:r>
            <a:r>
              <a:rPr dirty="0"/>
              <a:t>the</a:t>
            </a:r>
            <a:r>
              <a:rPr spc="400" dirty="0"/>
              <a:t> </a:t>
            </a:r>
            <a:r>
              <a:rPr spc="-10" dirty="0"/>
              <a:t>system </a:t>
            </a:r>
            <a:r>
              <a:rPr dirty="0"/>
              <a:t>provides</a:t>
            </a:r>
            <a:r>
              <a:rPr spc="390" dirty="0"/>
              <a:t> </a:t>
            </a:r>
            <a:r>
              <a:rPr dirty="0"/>
              <a:t>early</a:t>
            </a:r>
            <a:r>
              <a:rPr spc="400" dirty="0"/>
              <a:t> </a:t>
            </a:r>
            <a:r>
              <a:rPr dirty="0"/>
              <a:t>warnings</a:t>
            </a:r>
            <a:r>
              <a:rPr spc="385" dirty="0"/>
              <a:t> </a:t>
            </a:r>
            <a:r>
              <a:rPr dirty="0"/>
              <a:t>and</a:t>
            </a:r>
            <a:r>
              <a:rPr spc="390" dirty="0"/>
              <a:t> </a:t>
            </a:r>
            <a:r>
              <a:rPr dirty="0"/>
              <a:t>delay</a:t>
            </a:r>
            <a:r>
              <a:rPr spc="390" dirty="0"/>
              <a:t> </a:t>
            </a:r>
            <a:r>
              <a:rPr spc="-10" dirty="0"/>
              <a:t>forecasts, </a:t>
            </a:r>
            <a:r>
              <a:rPr dirty="0"/>
              <a:t>enabling</a:t>
            </a:r>
            <a:r>
              <a:rPr spc="-20" dirty="0"/>
              <a:t> </a:t>
            </a:r>
            <a:r>
              <a:rPr spc="-10" dirty="0"/>
              <a:t>railway</a:t>
            </a:r>
            <a:r>
              <a:rPr spc="-30" dirty="0"/>
              <a:t> </a:t>
            </a:r>
            <a:r>
              <a:rPr dirty="0"/>
              <a:t>operators</a:t>
            </a:r>
            <a:r>
              <a:rPr spc="-20" dirty="0"/>
              <a:t> </a:t>
            </a:r>
            <a:r>
              <a:rPr spc="-10" dirty="0"/>
              <a:t>to</a:t>
            </a:r>
            <a:r>
              <a:rPr spc="-35" dirty="0"/>
              <a:t> </a:t>
            </a:r>
            <a:r>
              <a:rPr spc="-10" dirty="0"/>
              <a:t>optimize</a:t>
            </a:r>
            <a:r>
              <a:rPr spc="-25" dirty="0"/>
              <a:t> </a:t>
            </a:r>
            <a:r>
              <a:rPr spc="-10" dirty="0"/>
              <a:t>scheduling, </a:t>
            </a:r>
            <a:r>
              <a:rPr dirty="0"/>
              <a:t>resource</a:t>
            </a:r>
            <a:r>
              <a:rPr spc="-5" dirty="0"/>
              <a:t> </a:t>
            </a:r>
            <a:r>
              <a:rPr spc="-10" dirty="0"/>
              <a:t>allocation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-10" dirty="0"/>
              <a:t> passenger</a:t>
            </a:r>
            <a:r>
              <a:rPr spc="-5" dirty="0"/>
              <a:t> </a:t>
            </a:r>
            <a:r>
              <a:rPr spc="-10" dirty="0"/>
              <a:t>communication. </a:t>
            </a:r>
            <a:r>
              <a:rPr dirty="0"/>
              <a:t>The</a:t>
            </a:r>
            <a:r>
              <a:rPr spc="185" dirty="0"/>
              <a:t>  </a:t>
            </a:r>
            <a:r>
              <a:rPr dirty="0"/>
              <a:t>findings</a:t>
            </a:r>
            <a:r>
              <a:rPr spc="185" dirty="0"/>
              <a:t>  </a:t>
            </a:r>
            <a:r>
              <a:rPr dirty="0"/>
              <a:t>highlight</a:t>
            </a:r>
            <a:r>
              <a:rPr spc="190" dirty="0"/>
              <a:t>  </a:t>
            </a:r>
            <a:r>
              <a:rPr dirty="0"/>
              <a:t>the</a:t>
            </a:r>
            <a:r>
              <a:rPr spc="190" dirty="0"/>
              <a:t>  </a:t>
            </a:r>
            <a:r>
              <a:rPr dirty="0"/>
              <a:t>effectiveness</a:t>
            </a:r>
            <a:r>
              <a:rPr spc="190" dirty="0"/>
              <a:t>  </a:t>
            </a:r>
            <a:r>
              <a:rPr spc="-25" dirty="0"/>
              <a:t>of</a:t>
            </a:r>
            <a:r>
              <a:rPr dirty="0"/>
              <a:t> predictive</a:t>
            </a:r>
            <a:r>
              <a:rPr spc="385" dirty="0"/>
              <a:t> </a:t>
            </a:r>
            <a:r>
              <a:rPr dirty="0"/>
              <a:t>analytics</a:t>
            </a:r>
            <a:r>
              <a:rPr spc="390" dirty="0"/>
              <a:t> </a:t>
            </a:r>
            <a:r>
              <a:rPr dirty="0"/>
              <a:t>in</a:t>
            </a:r>
            <a:r>
              <a:rPr spc="390" dirty="0"/>
              <a:t> </a:t>
            </a:r>
            <a:r>
              <a:rPr dirty="0"/>
              <a:t>mitigating</a:t>
            </a:r>
            <a:r>
              <a:rPr spc="385" dirty="0"/>
              <a:t> </a:t>
            </a:r>
            <a:r>
              <a:rPr spc="-10" dirty="0"/>
              <a:t>disruptions, </a:t>
            </a:r>
            <a:r>
              <a:rPr dirty="0"/>
              <a:t>improving</a:t>
            </a:r>
            <a:r>
              <a:rPr spc="220" dirty="0"/>
              <a:t> </a:t>
            </a:r>
            <a:r>
              <a:rPr dirty="0"/>
              <a:t>operational</a:t>
            </a:r>
            <a:r>
              <a:rPr spc="225" dirty="0"/>
              <a:t> </a:t>
            </a:r>
            <a:r>
              <a:rPr dirty="0"/>
              <a:t>planning</a:t>
            </a:r>
            <a:r>
              <a:rPr spc="220" dirty="0"/>
              <a:t> </a:t>
            </a:r>
            <a:r>
              <a:rPr dirty="0"/>
              <a:t>and</a:t>
            </a:r>
            <a:r>
              <a:rPr spc="225" dirty="0"/>
              <a:t> </a:t>
            </a:r>
            <a:r>
              <a:rPr spc="-10" dirty="0"/>
              <a:t>enhancing </a:t>
            </a:r>
            <a:r>
              <a:rPr dirty="0"/>
              <a:t>overall</a:t>
            </a:r>
            <a:r>
              <a:rPr spc="5" dirty="0"/>
              <a:t> </a:t>
            </a:r>
            <a:r>
              <a:rPr dirty="0"/>
              <a:t>railway</a:t>
            </a:r>
            <a:r>
              <a:rPr spc="5" dirty="0"/>
              <a:t> </a:t>
            </a:r>
            <a:r>
              <a:rPr dirty="0"/>
              <a:t>performance.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proposal</a:t>
            </a:r>
            <a:r>
              <a:rPr spc="5" dirty="0"/>
              <a:t> </a:t>
            </a:r>
            <a:r>
              <a:rPr spc="-20" dirty="0"/>
              <a:t>model</a:t>
            </a:r>
            <a:r>
              <a:rPr dirty="0"/>
              <a:t> serves</a:t>
            </a:r>
            <a:r>
              <a:rPr spc="385" dirty="0"/>
              <a:t>  </a:t>
            </a:r>
            <a:r>
              <a:rPr dirty="0"/>
              <a:t>as</a:t>
            </a:r>
            <a:r>
              <a:rPr spc="385" dirty="0"/>
              <a:t>  </a:t>
            </a:r>
            <a:r>
              <a:rPr dirty="0"/>
              <a:t>a</a:t>
            </a:r>
            <a:r>
              <a:rPr spc="385" dirty="0"/>
              <a:t>  </a:t>
            </a:r>
            <a:r>
              <a:rPr dirty="0"/>
              <a:t>foundation</a:t>
            </a:r>
            <a:r>
              <a:rPr spc="385" dirty="0"/>
              <a:t>  </a:t>
            </a:r>
            <a:r>
              <a:rPr dirty="0"/>
              <a:t>for</a:t>
            </a:r>
            <a:r>
              <a:rPr spc="380" dirty="0"/>
              <a:t>  </a:t>
            </a:r>
            <a:r>
              <a:rPr spc="-10" dirty="0"/>
              <a:t>intelligent </a:t>
            </a:r>
            <a:r>
              <a:rPr dirty="0"/>
              <a:t>transportation</a:t>
            </a:r>
            <a:r>
              <a:rPr spc="425" dirty="0"/>
              <a:t> </a:t>
            </a:r>
            <a:r>
              <a:rPr dirty="0"/>
              <a:t>systems,</a:t>
            </a:r>
            <a:r>
              <a:rPr spc="430" dirty="0"/>
              <a:t> </a:t>
            </a:r>
            <a:r>
              <a:rPr dirty="0"/>
              <a:t>contributing</a:t>
            </a:r>
            <a:r>
              <a:rPr spc="430" dirty="0"/>
              <a:t> </a:t>
            </a:r>
            <a:r>
              <a:rPr dirty="0"/>
              <a:t>to</a:t>
            </a:r>
            <a:r>
              <a:rPr spc="430" dirty="0"/>
              <a:t> </a:t>
            </a:r>
            <a:r>
              <a:rPr spc="-20" dirty="0"/>
              <a:t>more</a:t>
            </a:r>
            <a:r>
              <a:rPr dirty="0"/>
              <a:t> efficient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resilient</a:t>
            </a:r>
            <a:r>
              <a:rPr spc="-30" dirty="0"/>
              <a:t> </a:t>
            </a:r>
            <a:r>
              <a:rPr dirty="0"/>
              <a:t>railway</a:t>
            </a:r>
            <a:r>
              <a:rPr spc="-30" dirty="0"/>
              <a:t> </a:t>
            </a:r>
            <a:r>
              <a:rPr spc="-10" dirty="0"/>
              <a:t>networks.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00">
              <a:latin typeface="Times New Roman"/>
              <a:cs typeface="Times New Roman"/>
            </a:endParaRPr>
          </a:p>
          <a:p>
            <a:pPr marL="984250">
              <a:lnSpc>
                <a:spcPct val="100000"/>
              </a:lnSpc>
            </a:pPr>
            <a:r>
              <a:rPr sz="900" b="0" dirty="0">
                <a:latin typeface="Times New Roman"/>
                <a:cs typeface="Times New Roman"/>
              </a:rPr>
              <a:t>I.</a:t>
            </a:r>
            <a:r>
              <a:rPr sz="900" b="0" spc="20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INTRODUCTION</a:t>
            </a:r>
            <a:endParaRPr sz="9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4000"/>
              </a:lnSpc>
              <a:spcBef>
                <a:spcPts val="55"/>
              </a:spcBef>
            </a:pPr>
            <a:r>
              <a:rPr sz="900" b="0" dirty="0">
                <a:latin typeface="Times New Roman"/>
                <a:cs typeface="Times New Roman"/>
              </a:rPr>
              <a:t>Railway</a:t>
            </a:r>
            <a:r>
              <a:rPr sz="900" b="0" spc="27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transportation</a:t>
            </a:r>
            <a:r>
              <a:rPr sz="900" b="0" spc="2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is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</a:t>
            </a:r>
            <a:r>
              <a:rPr sz="900" b="0" spc="27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vital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component</a:t>
            </a:r>
            <a:r>
              <a:rPr sz="900" b="0" spc="25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of</a:t>
            </a:r>
            <a:r>
              <a:rPr sz="900" b="0" spc="265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modern </a:t>
            </a:r>
            <a:r>
              <a:rPr sz="900" b="0" dirty="0">
                <a:latin typeface="Times New Roman"/>
                <a:cs typeface="Times New Roman"/>
              </a:rPr>
              <a:t>mobility,</a:t>
            </a:r>
            <a:r>
              <a:rPr sz="900" b="0" spc="31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yet</a:t>
            </a:r>
            <a:r>
              <a:rPr sz="900" b="0" spc="33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train</a:t>
            </a:r>
            <a:r>
              <a:rPr sz="900" b="0" spc="32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delays</a:t>
            </a:r>
            <a:r>
              <a:rPr sz="900" b="0" spc="32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continue</a:t>
            </a:r>
            <a:r>
              <a:rPr sz="900" b="0" spc="33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to</a:t>
            </a:r>
            <a:r>
              <a:rPr sz="900" b="0" spc="32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pose</a:t>
            </a:r>
            <a:r>
              <a:rPr sz="900" b="0" spc="330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significant </a:t>
            </a:r>
            <a:r>
              <a:rPr sz="900" b="0" dirty="0">
                <a:latin typeface="Times New Roman"/>
                <a:cs typeface="Times New Roman"/>
              </a:rPr>
              <a:t>challenges,</a:t>
            </a:r>
            <a:r>
              <a:rPr sz="900" b="0" spc="4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affecting</a:t>
            </a:r>
            <a:r>
              <a:rPr sz="900" b="0" spc="47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operational</a:t>
            </a:r>
            <a:r>
              <a:rPr sz="900" b="0" spc="4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efficiency,</a:t>
            </a:r>
            <a:r>
              <a:rPr sz="900" b="0" spc="459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passenger </a:t>
            </a:r>
            <a:r>
              <a:rPr sz="900" b="0" dirty="0">
                <a:latin typeface="Times New Roman"/>
                <a:cs typeface="Times New Roman"/>
              </a:rPr>
              <a:t>satisfaction,</a:t>
            </a:r>
            <a:r>
              <a:rPr sz="900" b="0" spc="459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47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economic</a:t>
            </a:r>
            <a:r>
              <a:rPr sz="900" b="0" spc="4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productivity.</a:t>
            </a:r>
            <a:r>
              <a:rPr sz="900" b="0" spc="4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</a:t>
            </a:r>
            <a:r>
              <a:rPr sz="900" b="0" spc="450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predictive </a:t>
            </a:r>
            <a:r>
              <a:rPr sz="900" b="0" dirty="0">
                <a:latin typeface="Times New Roman"/>
                <a:cs typeface="Times New Roman"/>
              </a:rPr>
              <a:t>model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for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train</a:t>
            </a:r>
            <a:r>
              <a:rPr sz="900" b="0" spc="5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delays</a:t>
            </a:r>
            <a:r>
              <a:rPr sz="900" b="0" spc="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utilizes</a:t>
            </a:r>
            <a:r>
              <a:rPr sz="900" b="0" spc="4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historical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real-time</a:t>
            </a:r>
            <a:r>
              <a:rPr sz="900" b="0" spc="55" dirty="0">
                <a:latin typeface="Times New Roman"/>
                <a:cs typeface="Times New Roman"/>
              </a:rPr>
              <a:t> </a:t>
            </a:r>
            <a:r>
              <a:rPr sz="900" b="0" spc="-20" dirty="0">
                <a:latin typeface="Times New Roman"/>
                <a:cs typeface="Times New Roman"/>
              </a:rPr>
              <a:t>data </a:t>
            </a:r>
            <a:r>
              <a:rPr sz="900" b="0" dirty="0">
                <a:latin typeface="Times New Roman"/>
                <a:cs typeface="Times New Roman"/>
              </a:rPr>
              <a:t>to</a:t>
            </a:r>
            <a:r>
              <a:rPr sz="900" b="0" spc="16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forecast</a:t>
            </a:r>
            <a:r>
              <a:rPr sz="900" b="0" spc="160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disruptions,</a:t>
            </a:r>
            <a:r>
              <a:rPr sz="900" b="0" spc="16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enabling</a:t>
            </a:r>
            <a:r>
              <a:rPr sz="900" b="0" spc="170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proactive</a:t>
            </a:r>
            <a:r>
              <a:rPr sz="900" b="0" spc="155" dirty="0">
                <a:latin typeface="Times New Roman"/>
                <a:cs typeface="Times New Roman"/>
              </a:rPr>
              <a:t>  </a:t>
            </a:r>
            <a:r>
              <a:rPr sz="900" b="0" spc="-10" dirty="0">
                <a:latin typeface="Times New Roman"/>
                <a:cs typeface="Times New Roman"/>
              </a:rPr>
              <a:t>decision- </a:t>
            </a:r>
            <a:r>
              <a:rPr sz="900" b="0" dirty="0">
                <a:latin typeface="Times New Roman"/>
                <a:cs typeface="Times New Roman"/>
              </a:rPr>
              <a:t>making</a:t>
            </a:r>
            <a:r>
              <a:rPr sz="900" b="0" spc="254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enhanced</a:t>
            </a:r>
            <a:r>
              <a:rPr sz="900" b="0" spc="25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service</a:t>
            </a:r>
            <a:r>
              <a:rPr sz="900" b="0" spc="254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reliability.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By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leveraging </a:t>
            </a:r>
            <a:r>
              <a:rPr sz="900" b="0" dirty="0">
                <a:latin typeface="Times New Roman"/>
                <a:cs typeface="Times New Roman"/>
              </a:rPr>
              <a:t>machine</a:t>
            </a:r>
            <a:r>
              <a:rPr sz="900" b="0" spc="49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learning</a:t>
            </a:r>
            <a:r>
              <a:rPr sz="900" b="0" spc="140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algorithms,</a:t>
            </a:r>
            <a:r>
              <a:rPr sz="900" b="0" spc="49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statistical</a:t>
            </a:r>
            <a:r>
              <a:rPr sz="900" b="0" spc="49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analysis,</a:t>
            </a:r>
            <a:r>
              <a:rPr sz="900" b="0" spc="495" dirty="0">
                <a:latin typeface="Times New Roman"/>
                <a:cs typeface="Times New Roman"/>
              </a:rPr>
              <a:t> </a:t>
            </a:r>
            <a:r>
              <a:rPr sz="900" b="0" spc="-25" dirty="0">
                <a:latin typeface="Times New Roman"/>
                <a:cs typeface="Times New Roman"/>
              </a:rPr>
              <a:t>and</a:t>
            </a:r>
            <a:r>
              <a:rPr sz="900" b="0" dirty="0">
                <a:latin typeface="Times New Roman"/>
                <a:cs typeface="Times New Roman"/>
              </a:rPr>
              <a:t> artificial</a:t>
            </a:r>
            <a:r>
              <a:rPr sz="900" b="0" spc="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intelligence,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these</a:t>
            </a:r>
            <a:r>
              <a:rPr sz="900" b="0" spc="7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models</a:t>
            </a:r>
            <a:r>
              <a:rPr sz="900" b="0" spc="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analyse</a:t>
            </a:r>
            <a:r>
              <a:rPr sz="900" b="0" spc="6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various</a:t>
            </a:r>
            <a:r>
              <a:rPr sz="900" b="0" spc="55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factors </a:t>
            </a:r>
            <a:r>
              <a:rPr sz="900" b="0" dirty="0">
                <a:latin typeface="Times New Roman"/>
                <a:cs typeface="Times New Roman"/>
              </a:rPr>
              <a:t>contributing</a:t>
            </a:r>
            <a:r>
              <a:rPr sz="900" b="0" spc="360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to</a:t>
            </a:r>
            <a:r>
              <a:rPr sz="900" b="0" spc="35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delays,</a:t>
            </a:r>
            <a:r>
              <a:rPr sz="900" b="0" spc="36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identifying</a:t>
            </a:r>
            <a:r>
              <a:rPr sz="900" b="0" spc="35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patterns</a:t>
            </a:r>
            <a:r>
              <a:rPr sz="900" b="0" spc="355" dirty="0">
                <a:latin typeface="Times New Roman"/>
                <a:cs typeface="Times New Roman"/>
              </a:rPr>
              <a:t>  </a:t>
            </a:r>
            <a:r>
              <a:rPr sz="900" b="0" spc="-25" dirty="0">
                <a:latin typeface="Times New Roman"/>
                <a:cs typeface="Times New Roman"/>
              </a:rPr>
              <a:t>and</a:t>
            </a:r>
            <a:r>
              <a:rPr sz="900" b="0" dirty="0">
                <a:latin typeface="Times New Roman"/>
                <a:cs typeface="Times New Roman"/>
              </a:rPr>
              <a:t> correlations</a:t>
            </a:r>
            <a:r>
              <a:rPr sz="900" b="0" spc="18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within</a:t>
            </a:r>
            <a:r>
              <a:rPr sz="900" b="0" spc="19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large</a:t>
            </a:r>
            <a:r>
              <a:rPr sz="900" b="0" spc="180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datasets.</a:t>
            </a:r>
            <a:r>
              <a:rPr sz="900" b="0" spc="195" dirty="0">
                <a:latin typeface="Times New Roman"/>
                <a:cs typeface="Times New Roman"/>
              </a:rPr>
              <a:t>  </a:t>
            </a:r>
            <a:r>
              <a:rPr sz="900" b="0" dirty="0">
                <a:latin typeface="Times New Roman"/>
                <a:cs typeface="Times New Roman"/>
              </a:rPr>
              <a:t>Key</a:t>
            </a:r>
            <a:r>
              <a:rPr sz="900" b="0" spc="195" dirty="0">
                <a:latin typeface="Times New Roman"/>
                <a:cs typeface="Times New Roman"/>
              </a:rPr>
              <a:t>  </a:t>
            </a:r>
            <a:r>
              <a:rPr sz="900" b="0" spc="-10" dirty="0">
                <a:latin typeface="Times New Roman"/>
                <a:cs typeface="Times New Roman"/>
              </a:rPr>
              <a:t>components </a:t>
            </a:r>
            <a:r>
              <a:rPr sz="900" b="0" dirty="0">
                <a:latin typeface="Times New Roman"/>
                <a:cs typeface="Times New Roman"/>
              </a:rPr>
              <a:t>include</a:t>
            </a:r>
            <a:r>
              <a:rPr sz="900" b="0" spc="21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data</a:t>
            </a:r>
            <a:r>
              <a:rPr sz="900" b="0" spc="22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collection</a:t>
            </a:r>
            <a:r>
              <a:rPr sz="900" b="0" spc="22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historical</a:t>
            </a:r>
            <a:r>
              <a:rPr sz="900" b="0" spc="22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records,</a:t>
            </a:r>
            <a:r>
              <a:rPr sz="900" b="0" spc="21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real-time</a:t>
            </a:r>
            <a:r>
              <a:rPr sz="900" b="0" spc="215" dirty="0">
                <a:latin typeface="Times New Roman"/>
                <a:cs typeface="Times New Roman"/>
              </a:rPr>
              <a:t> </a:t>
            </a:r>
            <a:r>
              <a:rPr sz="900" b="0" spc="-25" dirty="0">
                <a:latin typeface="Times New Roman"/>
                <a:cs typeface="Times New Roman"/>
              </a:rPr>
              <a:t>GPS</a:t>
            </a:r>
            <a:r>
              <a:rPr sz="900" b="0" dirty="0">
                <a:latin typeface="Times New Roman"/>
                <a:cs typeface="Times New Roman"/>
              </a:rPr>
              <a:t> tracking,</a:t>
            </a:r>
            <a:r>
              <a:rPr sz="900" b="0" spc="34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signal</a:t>
            </a:r>
            <a:r>
              <a:rPr sz="900" b="0" spc="3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status,</a:t>
            </a:r>
            <a:r>
              <a:rPr sz="900" b="0" spc="3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congestion</a:t>
            </a:r>
            <a:r>
              <a:rPr sz="900" b="0" spc="3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levels,</a:t>
            </a:r>
            <a:r>
              <a:rPr sz="900" b="0" spc="3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345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external </a:t>
            </a:r>
            <a:r>
              <a:rPr sz="900" b="0" dirty="0">
                <a:latin typeface="Times New Roman"/>
                <a:cs typeface="Times New Roman"/>
              </a:rPr>
              <a:t>influences</a:t>
            </a:r>
            <a:r>
              <a:rPr sz="900" b="0" spc="8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such</a:t>
            </a:r>
            <a:r>
              <a:rPr sz="900" b="0" spc="10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as</a:t>
            </a:r>
            <a:r>
              <a:rPr sz="900" b="0" spc="8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weather</a:t>
            </a:r>
            <a:r>
              <a:rPr sz="900" b="0" spc="9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conditions</a:t>
            </a:r>
            <a:r>
              <a:rPr sz="900" b="0" spc="9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8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strikes.</a:t>
            </a:r>
            <a:r>
              <a:rPr sz="900" b="0" spc="95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Feature </a:t>
            </a:r>
            <a:r>
              <a:rPr sz="900" b="0" dirty="0">
                <a:latin typeface="Times New Roman"/>
                <a:cs typeface="Times New Roman"/>
              </a:rPr>
              <a:t>engineering</a:t>
            </a:r>
            <a:r>
              <a:rPr sz="900" b="0" spc="40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helps</a:t>
            </a:r>
            <a:r>
              <a:rPr sz="900" b="0" spc="40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identify</a:t>
            </a:r>
            <a:r>
              <a:rPr sz="900" b="0" spc="409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critical</a:t>
            </a:r>
            <a:r>
              <a:rPr sz="900" b="0" spc="40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variables</a:t>
            </a:r>
            <a:r>
              <a:rPr sz="900" b="0" spc="39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like</a:t>
            </a:r>
            <a:r>
              <a:rPr sz="900" b="0" spc="405" dirty="0">
                <a:latin typeface="Times New Roman"/>
                <a:cs typeface="Times New Roman"/>
              </a:rPr>
              <a:t> </a:t>
            </a:r>
            <a:r>
              <a:rPr sz="900" b="0" spc="-20" dirty="0">
                <a:latin typeface="Times New Roman"/>
                <a:cs typeface="Times New Roman"/>
              </a:rPr>
              <a:t>peak </a:t>
            </a:r>
            <a:r>
              <a:rPr sz="900" b="0" dirty="0">
                <a:latin typeface="Times New Roman"/>
                <a:cs typeface="Times New Roman"/>
              </a:rPr>
              <a:t>hours,</a:t>
            </a:r>
            <a:r>
              <a:rPr sz="900" b="0" spc="19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station</a:t>
            </a:r>
            <a:r>
              <a:rPr sz="900" b="0" spc="18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dwell</a:t>
            </a:r>
            <a:r>
              <a:rPr sz="900" b="0" spc="19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times,</a:t>
            </a:r>
            <a:r>
              <a:rPr sz="900" b="0" spc="19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20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infrastructure</a:t>
            </a:r>
            <a:r>
              <a:rPr sz="900" b="0" spc="195" dirty="0">
                <a:latin typeface="Times New Roman"/>
                <a:cs typeface="Times New Roman"/>
              </a:rPr>
              <a:t> </a:t>
            </a:r>
            <a:r>
              <a:rPr sz="900" b="0" spc="-10" dirty="0">
                <a:latin typeface="Times New Roman"/>
                <a:cs typeface="Times New Roman"/>
              </a:rPr>
              <a:t>conditions, </a:t>
            </a:r>
            <a:r>
              <a:rPr sz="900" b="0" dirty="0">
                <a:latin typeface="Times New Roman"/>
                <a:cs typeface="Times New Roman"/>
              </a:rPr>
              <a:t>Machine</a:t>
            </a:r>
            <a:r>
              <a:rPr sz="900" b="0" spc="254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learning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techniques,</a:t>
            </a:r>
            <a:r>
              <a:rPr sz="900" b="0" spc="24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including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regression,</a:t>
            </a:r>
            <a:r>
              <a:rPr sz="900" b="0" spc="260" dirty="0">
                <a:latin typeface="Times New Roman"/>
                <a:cs typeface="Times New Roman"/>
              </a:rPr>
              <a:t> </a:t>
            </a:r>
            <a:r>
              <a:rPr sz="900" b="0" spc="-20" dirty="0">
                <a:latin typeface="Times New Roman"/>
                <a:cs typeface="Times New Roman"/>
              </a:rPr>
              <a:t>time </a:t>
            </a:r>
            <a:r>
              <a:rPr sz="900" b="0" dirty="0">
                <a:latin typeface="Times New Roman"/>
                <a:cs typeface="Times New Roman"/>
              </a:rPr>
              <a:t>series,</a:t>
            </a:r>
            <a:r>
              <a:rPr sz="900" b="0" spc="15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and</a:t>
            </a:r>
            <a:r>
              <a:rPr sz="900" b="0" spc="1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classification</a:t>
            </a:r>
            <a:r>
              <a:rPr sz="900" b="0" spc="18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models,</a:t>
            </a:r>
            <a:r>
              <a:rPr sz="900" b="0" spc="1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aid</a:t>
            </a:r>
            <a:r>
              <a:rPr sz="900" b="0" spc="180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in</a:t>
            </a:r>
            <a:r>
              <a:rPr sz="900" b="0" spc="175" dirty="0">
                <a:latin typeface="Times New Roman"/>
                <a:cs typeface="Times New Roman"/>
              </a:rPr>
              <a:t> </a:t>
            </a:r>
            <a:r>
              <a:rPr sz="900" b="0" dirty="0">
                <a:latin typeface="Times New Roman"/>
                <a:cs typeface="Times New Roman"/>
              </a:rPr>
              <a:t>predicting</a:t>
            </a:r>
            <a:r>
              <a:rPr sz="900" b="0" spc="175" dirty="0">
                <a:latin typeface="Times New Roman"/>
                <a:cs typeface="Times New Roman"/>
              </a:rPr>
              <a:t> </a:t>
            </a:r>
            <a:r>
              <a:rPr sz="900" b="0" spc="-20" dirty="0">
                <a:latin typeface="Times New Roman"/>
                <a:cs typeface="Times New Roman"/>
              </a:rPr>
              <a:t>delay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9294" y="2683826"/>
            <a:ext cx="2792095" cy="651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 marR="6350" algn="just">
              <a:lnSpc>
                <a:spcPct val="104000"/>
              </a:lnSpc>
              <a:spcBef>
                <a:spcPts val="90"/>
              </a:spcBef>
            </a:pPr>
            <a:r>
              <a:rPr sz="900" dirty="0">
                <a:latin typeface="Times New Roman"/>
                <a:cs typeface="Times New Roman"/>
              </a:rPr>
              <a:t>durations,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categorizing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delays,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detecting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complex </a:t>
            </a:r>
            <a:r>
              <a:rPr sz="900" dirty="0">
                <a:latin typeface="Times New Roman"/>
                <a:cs typeface="Times New Roman"/>
              </a:rPr>
              <a:t>relationships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4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accurate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forecasting.</a:t>
            </a:r>
            <a:r>
              <a:rPr sz="900" spc="4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Real-</a:t>
            </a:r>
            <a:r>
              <a:rPr sz="900" spc="-20" dirty="0">
                <a:latin typeface="Times New Roman"/>
                <a:cs typeface="Times New Roman"/>
              </a:rPr>
              <a:t>time </a:t>
            </a:r>
            <a:r>
              <a:rPr sz="900" dirty="0">
                <a:latin typeface="Times New Roman"/>
                <a:cs typeface="Times New Roman"/>
              </a:rPr>
              <a:t>predictions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enable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continuous</a:t>
            </a:r>
            <a:r>
              <a:rPr sz="900" spc="1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monitoring,</a:t>
            </a:r>
            <a:r>
              <a:rPr sz="900" spc="17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automated </a:t>
            </a:r>
            <a:r>
              <a:rPr sz="900" dirty="0">
                <a:latin typeface="Times New Roman"/>
                <a:cs typeface="Times New Roman"/>
              </a:rPr>
              <a:t>alerts,</a:t>
            </a:r>
            <a:r>
              <a:rPr sz="900" spc="254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improved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decision-making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railway </a:t>
            </a:r>
            <a:r>
              <a:rPr sz="900" dirty="0">
                <a:latin typeface="Times New Roman"/>
                <a:cs typeface="Times New Roman"/>
              </a:rPr>
              <a:t>operators.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benefits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models </a:t>
            </a:r>
            <a:r>
              <a:rPr sz="900" dirty="0">
                <a:latin typeface="Times New Roman"/>
                <a:cs typeface="Times New Roman"/>
              </a:rPr>
              <a:t>include</a:t>
            </a:r>
            <a:r>
              <a:rPr sz="900" spc="4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enhanced</a:t>
            </a:r>
            <a:r>
              <a:rPr sz="900" spc="4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punctuality,</a:t>
            </a:r>
            <a:r>
              <a:rPr sz="900" spc="4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better</a:t>
            </a:r>
            <a:r>
              <a:rPr sz="900" spc="47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passenger </a:t>
            </a:r>
            <a:r>
              <a:rPr sz="900" dirty="0">
                <a:latin typeface="Times New Roman"/>
                <a:cs typeface="Times New Roman"/>
              </a:rPr>
              <a:t>communication,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optimized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resource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allocation,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reduced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financial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losses.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integrating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these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advanced </a:t>
            </a:r>
            <a:r>
              <a:rPr sz="900" dirty="0">
                <a:latin typeface="Times New Roman"/>
                <a:cs typeface="Times New Roman"/>
              </a:rPr>
              <a:t>technologies,</a:t>
            </a:r>
            <a:r>
              <a:rPr sz="900" spc="3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management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transform </a:t>
            </a:r>
            <a:r>
              <a:rPr sz="900" dirty="0">
                <a:latin typeface="Times New Roman"/>
                <a:cs typeface="Times New Roman"/>
              </a:rPr>
              <a:t>operations,</a:t>
            </a:r>
            <a:r>
              <a:rPr sz="900" spc="4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ensuring</a:t>
            </a:r>
            <a:r>
              <a:rPr sz="900" spc="4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greater</a:t>
            </a:r>
            <a:r>
              <a:rPr sz="900" spc="4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efficiency</a:t>
            </a:r>
            <a:r>
              <a:rPr sz="900" spc="4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reliability </a:t>
            </a:r>
            <a:r>
              <a:rPr sz="900" dirty="0">
                <a:latin typeface="Times New Roman"/>
                <a:cs typeface="Times New Roman"/>
              </a:rPr>
              <a:t>while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continually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improving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overall</a:t>
            </a:r>
            <a:r>
              <a:rPr sz="900" spc="229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passenger experience.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900">
              <a:latin typeface="Times New Roman"/>
              <a:cs typeface="Times New Roman"/>
            </a:endParaRPr>
          </a:p>
          <a:p>
            <a:pPr marL="155575">
              <a:lnSpc>
                <a:spcPct val="100000"/>
              </a:lnSpc>
            </a:pPr>
            <a:r>
              <a:rPr sz="900" dirty="0">
                <a:latin typeface="Times New Roman"/>
                <a:cs typeface="Times New Roman"/>
              </a:rPr>
              <a:t>II.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EXISTING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METHOD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4200"/>
              </a:lnSpc>
            </a:pPr>
            <a:r>
              <a:rPr sz="900" dirty="0">
                <a:latin typeface="Times New Roman"/>
                <a:cs typeface="Times New Roman"/>
              </a:rPr>
              <a:t>Traditional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statistical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methods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consider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operation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Decision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Tree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Algorithm,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SVM,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LSTM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Algorithms </a:t>
            </a:r>
            <a:r>
              <a:rPr sz="900" dirty="0">
                <a:latin typeface="Times New Roman"/>
                <a:cs typeface="Times New Roman"/>
              </a:rPr>
              <a:t>These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techniques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include:</a:t>
            </a:r>
            <a:endParaRPr sz="900">
              <a:latin typeface="Times New Roman"/>
              <a:cs typeface="Times New Roman"/>
            </a:endParaRPr>
          </a:p>
          <a:p>
            <a:pPr marL="452755" marR="41910" indent="-213995" algn="just">
              <a:lnSpc>
                <a:spcPct val="149100"/>
              </a:lnSpc>
              <a:spcBef>
                <a:spcPts val="805"/>
              </a:spcBef>
              <a:buFont typeface="Arial MT"/>
              <a:buChar char="•"/>
              <a:tabLst>
                <a:tab pos="454025" algn="l"/>
              </a:tabLst>
            </a:pPr>
            <a:r>
              <a:rPr sz="900" b="1" dirty="0">
                <a:latin typeface="Times New Roman"/>
                <a:cs typeface="Times New Roman"/>
              </a:rPr>
              <a:t>Regression</a:t>
            </a:r>
            <a:r>
              <a:rPr sz="900" b="1" spc="320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Models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3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Linear</a:t>
            </a:r>
            <a:r>
              <a:rPr sz="900" spc="30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0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logistic 	</a:t>
            </a: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key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factors 	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maintenance 	issues.</a:t>
            </a:r>
            <a:endParaRPr sz="900">
              <a:latin typeface="Times New Roman"/>
              <a:cs typeface="Times New Roman"/>
            </a:endParaRPr>
          </a:p>
          <a:p>
            <a:pPr marL="452755" marR="31115" indent="-213995" algn="just">
              <a:lnSpc>
                <a:spcPct val="150000"/>
              </a:lnSpc>
              <a:spcBef>
                <a:spcPts val="30"/>
              </a:spcBef>
              <a:buFont typeface="Arial MT"/>
              <a:buChar char="•"/>
              <a:tabLst>
                <a:tab pos="454025" algn="l"/>
              </a:tabLst>
            </a:pPr>
            <a:r>
              <a:rPr sz="900" b="1" dirty="0">
                <a:latin typeface="Times New Roman"/>
                <a:cs typeface="Times New Roman"/>
              </a:rPr>
              <a:t>SVM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classification-based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predictions, 	</a:t>
            </a:r>
            <a:r>
              <a:rPr sz="900" dirty="0">
                <a:latin typeface="Times New Roman"/>
                <a:cs typeface="Times New Roman"/>
              </a:rPr>
              <a:t>especially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categorizing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trains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into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‘on-</a:t>
            </a:r>
            <a:r>
              <a:rPr sz="900" spc="-10" dirty="0">
                <a:latin typeface="Times New Roman"/>
                <a:cs typeface="Times New Roman"/>
              </a:rPr>
              <a:t>time’ 	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‘delayed’</a:t>
            </a:r>
            <a:endParaRPr sz="900">
              <a:latin typeface="Times New Roman"/>
              <a:cs typeface="Times New Roman"/>
            </a:endParaRPr>
          </a:p>
          <a:p>
            <a:pPr marL="452755" marR="42545" indent="-213995" algn="just">
              <a:lnSpc>
                <a:spcPct val="149400"/>
              </a:lnSpc>
              <a:spcBef>
                <a:spcPts val="15"/>
              </a:spcBef>
              <a:buFont typeface="Arial MT"/>
              <a:buChar char="•"/>
              <a:tabLst>
                <a:tab pos="454025" algn="l"/>
              </a:tabLst>
            </a:pPr>
            <a:r>
              <a:rPr sz="900" b="1" dirty="0">
                <a:latin typeface="Times New Roman"/>
                <a:cs typeface="Times New Roman"/>
              </a:rPr>
              <a:t>LSTM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Deep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capture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complex 	</a:t>
            </a:r>
            <a:r>
              <a:rPr sz="900" dirty="0">
                <a:latin typeface="Times New Roman"/>
                <a:cs typeface="Times New Roman"/>
              </a:rPr>
              <a:t>non-linear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relationships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schedules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spc="-10" dirty="0">
                <a:latin typeface="Times New Roman"/>
                <a:cs typeface="Times New Roman"/>
              </a:rPr>
              <a:t> 	disruptions.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0"/>
              </a:spcBef>
              <a:buFont typeface="Arial MT"/>
              <a:buChar char="•"/>
            </a:pPr>
            <a:endParaRPr sz="900">
              <a:latin typeface="Times New Roman"/>
              <a:cs typeface="Times New Roman"/>
            </a:endParaRPr>
          </a:p>
          <a:p>
            <a:pPr marL="13970" algn="just">
              <a:lnSpc>
                <a:spcPct val="100000"/>
              </a:lnSpc>
            </a:pPr>
            <a:r>
              <a:rPr sz="900" b="1" dirty="0">
                <a:latin typeface="Times New Roman"/>
                <a:cs typeface="Times New Roman"/>
              </a:rPr>
              <a:t>Data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Quality</a:t>
            </a:r>
            <a:r>
              <a:rPr sz="900" b="1" spc="10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Metrics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9525" indent="-6350" algn="just">
              <a:lnSpc>
                <a:spcPct val="104500"/>
              </a:lnSpc>
            </a:pPr>
            <a:r>
              <a:rPr sz="900" dirty="0">
                <a:latin typeface="Times New Roman"/>
                <a:cs typeface="Times New Roman"/>
              </a:rPr>
              <a:t>Assess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reliability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spc="-10" dirty="0">
                <a:latin typeface="Times New Roman"/>
                <a:cs typeface="Times New Roman"/>
              </a:rPr>
              <a:t> testing.</a:t>
            </a:r>
            <a:endParaRPr sz="900">
              <a:latin typeface="Times New Roman"/>
              <a:cs typeface="Times New Roman"/>
            </a:endParaRPr>
          </a:p>
          <a:p>
            <a:pPr marL="452755" marR="40005" indent="-213995" algn="just">
              <a:lnSpc>
                <a:spcPts val="1130"/>
              </a:lnSpc>
              <a:spcBef>
                <a:spcPts val="35"/>
              </a:spcBef>
              <a:buFont typeface="Arial MT"/>
              <a:buChar char="•"/>
              <a:tabLst>
                <a:tab pos="454025" algn="l"/>
              </a:tabLst>
            </a:pPr>
            <a:r>
              <a:rPr sz="900" b="1" spc="10" dirty="0">
                <a:latin typeface="Times New Roman"/>
                <a:cs typeface="Times New Roman"/>
              </a:rPr>
              <a:t>Data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10" dirty="0">
                <a:latin typeface="Times New Roman"/>
                <a:cs typeface="Times New Roman"/>
              </a:rPr>
              <a:t>Completeness</a:t>
            </a:r>
            <a:r>
              <a:rPr sz="900" spc="10" dirty="0">
                <a:latin typeface="Times New Roman"/>
                <a:cs typeface="Times New Roman"/>
              </a:rPr>
              <a:t>: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Checks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for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missing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values 	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records.</a:t>
            </a:r>
            <a:endParaRPr sz="900">
              <a:latin typeface="Times New Roman"/>
              <a:cs typeface="Times New Roman"/>
            </a:endParaRPr>
          </a:p>
          <a:p>
            <a:pPr marL="452755" marR="43180" indent="-213995" algn="just">
              <a:lnSpc>
                <a:spcPct val="103600"/>
              </a:lnSpc>
              <a:spcBef>
                <a:spcPts val="525"/>
              </a:spcBef>
              <a:buFont typeface="Arial MT"/>
              <a:buChar char="•"/>
              <a:tabLst>
                <a:tab pos="454025" algn="l"/>
              </a:tabLst>
            </a:pPr>
            <a:r>
              <a:rPr sz="900" b="1" dirty="0">
                <a:latin typeface="Times New Roman"/>
                <a:cs typeface="Times New Roman"/>
              </a:rPr>
              <a:t>Data</a:t>
            </a:r>
            <a:r>
              <a:rPr sz="900" b="1" spc="2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Consistency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Ensures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uniformity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time 	</a:t>
            </a:r>
            <a:r>
              <a:rPr sz="900" dirty="0">
                <a:latin typeface="Times New Roman"/>
                <a:cs typeface="Times New Roman"/>
              </a:rPr>
              <a:t>formats,</a:t>
            </a:r>
            <a:r>
              <a:rPr sz="900" spc="4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identifiers</a:t>
            </a:r>
            <a:r>
              <a:rPr sz="900" spc="40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schedule 	timestamps.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219" y="5017015"/>
            <a:ext cx="2111566" cy="17332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9079" y="835892"/>
            <a:ext cx="2525395" cy="452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6060" marR="5080" indent="-213995" algn="just">
              <a:lnSpc>
                <a:spcPct val="103600"/>
              </a:lnSpc>
              <a:spcBef>
                <a:spcPts val="95"/>
              </a:spcBef>
              <a:buFont typeface="Arial MT"/>
              <a:buChar char="•"/>
              <a:tabLst>
                <a:tab pos="227329" algn="l"/>
              </a:tabLst>
            </a:pPr>
            <a:r>
              <a:rPr sz="900" b="1" dirty="0">
                <a:latin typeface="Times New Roman"/>
                <a:cs typeface="Times New Roman"/>
              </a:rPr>
              <a:t>Feature</a:t>
            </a:r>
            <a:r>
              <a:rPr sz="900" b="1" spc="325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Importance</a:t>
            </a:r>
            <a:r>
              <a:rPr sz="900" b="1" spc="325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Analysis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31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Evaluates 	</a:t>
            </a:r>
            <a:r>
              <a:rPr sz="900" dirty="0">
                <a:latin typeface="Times New Roman"/>
                <a:cs typeface="Times New Roman"/>
              </a:rPr>
              <a:t>which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(weather,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congestion,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past 	</a:t>
            </a:r>
            <a:r>
              <a:rPr sz="900" dirty="0">
                <a:latin typeface="Times New Roman"/>
                <a:cs typeface="Times New Roman"/>
              </a:rPr>
              <a:t>delays)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contribute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most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11" y="1575782"/>
            <a:ext cx="220408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dirty="0">
                <a:latin typeface="Times New Roman"/>
                <a:cs typeface="Times New Roman"/>
              </a:rPr>
              <a:t>Machine</a:t>
            </a:r>
            <a:r>
              <a:rPr sz="900" b="1" spc="1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Learning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(ML)-Based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Techniques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211" y="1946467"/>
            <a:ext cx="2741930" cy="4787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0300"/>
              </a:lnSpc>
              <a:spcBef>
                <a:spcPts val="85"/>
              </a:spcBef>
            </a:pP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play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crucial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role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predicting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analysing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real-</a:t>
            </a:r>
            <a:r>
              <a:rPr sz="900" spc="-20" dirty="0">
                <a:latin typeface="Times New Roman"/>
                <a:cs typeface="Times New Roman"/>
              </a:rPr>
              <a:t>time </a:t>
            </a:r>
            <a:r>
              <a:rPr sz="900" dirty="0">
                <a:latin typeface="Times New Roman"/>
                <a:cs typeface="Times New Roman"/>
              </a:rPr>
              <a:t>conditions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operational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factors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079" y="2568578"/>
            <a:ext cx="2530475" cy="188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060" marR="5715" indent="-213995" algn="just">
              <a:lnSpc>
                <a:spcPct val="150600"/>
              </a:lnSpc>
              <a:spcBef>
                <a:spcPts val="100"/>
              </a:spcBef>
              <a:buFont typeface="Arial MT"/>
              <a:buChar char="•"/>
              <a:tabLst>
                <a:tab pos="227329" algn="l"/>
              </a:tabLst>
            </a:pPr>
            <a:r>
              <a:rPr sz="900" b="1" dirty="0">
                <a:latin typeface="Times New Roman"/>
                <a:cs typeface="Times New Roman"/>
              </a:rPr>
              <a:t>Supervised</a:t>
            </a:r>
            <a:r>
              <a:rPr sz="900" b="1" spc="270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Learning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254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Predicts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54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delay 	</a:t>
            </a:r>
            <a:r>
              <a:rPr sz="900" dirty="0">
                <a:latin typeface="Times New Roman"/>
                <a:cs typeface="Times New Roman"/>
              </a:rPr>
              <a:t>duration</a:t>
            </a:r>
            <a:r>
              <a:rPr sz="900" spc="3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based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3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like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past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delays. 	</a:t>
            </a:r>
            <a:r>
              <a:rPr sz="900" dirty="0">
                <a:latin typeface="Times New Roman"/>
                <a:cs typeface="Times New Roman"/>
              </a:rPr>
              <a:t>Works</a:t>
            </a:r>
            <a:r>
              <a:rPr sz="900" spc="2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well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simple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relationships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but</a:t>
            </a:r>
            <a:r>
              <a:rPr sz="900" dirty="0">
                <a:latin typeface="Times New Roman"/>
                <a:cs typeface="Times New Roman"/>
              </a:rPr>
              <a:t> 	struggles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complex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interactions</a:t>
            </a:r>
            <a:endParaRPr sz="900">
              <a:latin typeface="Times New Roman"/>
              <a:cs typeface="Times New Roman"/>
            </a:endParaRPr>
          </a:p>
          <a:p>
            <a:pPr marL="226060" marR="5080" indent="-213995" algn="just">
              <a:lnSpc>
                <a:spcPct val="150200"/>
              </a:lnSpc>
              <a:spcBef>
                <a:spcPts val="5"/>
              </a:spcBef>
              <a:buFont typeface="Arial MT"/>
              <a:buChar char="•"/>
              <a:tabLst>
                <a:tab pos="227329" algn="l"/>
              </a:tabLst>
            </a:pPr>
            <a:r>
              <a:rPr sz="900" b="1" dirty="0">
                <a:latin typeface="Times New Roman"/>
                <a:cs typeface="Times New Roman"/>
              </a:rPr>
              <a:t>Deep</a:t>
            </a:r>
            <a:r>
              <a:rPr sz="900" b="1" spc="320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Learning</a:t>
            </a:r>
            <a:r>
              <a:rPr sz="900" dirty="0">
                <a:latin typeface="Times New Roman"/>
                <a:cs typeface="Times New Roman"/>
              </a:rPr>
              <a:t>: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Extracts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spatial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patterns 	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datasets.</a:t>
            </a:r>
            <a:r>
              <a:rPr sz="900" spc="22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Useful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when 	</a:t>
            </a:r>
            <a:r>
              <a:rPr sz="900" dirty="0">
                <a:latin typeface="Times New Roman"/>
                <a:cs typeface="Times New Roman"/>
              </a:rPr>
              <a:t>combined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geographical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network-</a:t>
            </a:r>
            <a:r>
              <a:rPr sz="900" spc="-10" dirty="0">
                <a:latin typeface="Times New Roman"/>
                <a:cs typeface="Times New Roman"/>
              </a:rPr>
              <a:t>based 	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analysis.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LSTM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excel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time-</a:t>
            </a:r>
            <a:r>
              <a:rPr sz="900" spc="-10" dirty="0">
                <a:latin typeface="Times New Roman"/>
                <a:cs typeface="Times New Roman"/>
              </a:rPr>
              <a:t>series 	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744" y="4733993"/>
            <a:ext cx="2810510" cy="2141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366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III.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PROPOSED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METHOD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3099"/>
              </a:lnSpc>
              <a:spcBef>
                <a:spcPts val="5"/>
              </a:spcBef>
            </a:pP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methods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widely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employed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develop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estimating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based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on</a:t>
            </a:r>
            <a:r>
              <a:rPr sz="900" dirty="0">
                <a:latin typeface="Times New Roman"/>
                <a:cs typeface="Times New Roman"/>
              </a:rPr>
              <a:t> various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influencing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factors.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one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simplest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most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interpretable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techniques.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relationship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between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dependent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variable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one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more </a:t>
            </a:r>
            <a:r>
              <a:rPr sz="900" dirty="0">
                <a:latin typeface="Times New Roman"/>
                <a:cs typeface="Times New Roman"/>
              </a:rPr>
              <a:t>independent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variables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(departure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time,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route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length,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conditions).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Despite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its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simplicity,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provide </a:t>
            </a:r>
            <a:r>
              <a:rPr sz="900" dirty="0">
                <a:latin typeface="Times New Roman"/>
                <a:cs typeface="Times New Roman"/>
              </a:rPr>
              <a:t>valuable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insights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relationship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between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inputs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delays.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Suitable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capturing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influence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diverse </a:t>
            </a:r>
            <a:r>
              <a:rPr sz="900" dirty="0">
                <a:latin typeface="Times New Roman"/>
                <a:cs typeface="Times New Roman"/>
              </a:rPr>
              <a:t>operational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factors</a:t>
            </a:r>
            <a:r>
              <a:rPr sz="900" spc="3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4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dwell</a:t>
            </a:r>
            <a:r>
              <a:rPr sz="900" spc="4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time,</a:t>
            </a:r>
            <a:r>
              <a:rPr sz="900" spc="3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traffic </a:t>
            </a:r>
            <a:r>
              <a:rPr sz="900" dirty="0">
                <a:latin typeface="Times New Roman"/>
                <a:cs typeface="Times New Roman"/>
              </a:rPr>
              <a:t>congestion,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speed,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track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conditions.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widely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used </a:t>
            </a:r>
            <a:r>
              <a:rPr sz="900" spc="10" dirty="0">
                <a:latin typeface="Times New Roman"/>
                <a:cs typeface="Times New Roman"/>
              </a:rPr>
              <a:t>due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to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its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balance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of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performance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and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10" dirty="0">
                <a:latin typeface="Times New Roman"/>
                <a:cs typeface="Times New Roman"/>
              </a:rPr>
              <a:t>interpretability.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SVR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478" y="6848547"/>
            <a:ext cx="28016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44475" algn="l"/>
                <a:tab pos="815340" algn="l"/>
                <a:tab pos="1107440" algn="l"/>
                <a:tab pos="1744980" algn="l"/>
                <a:tab pos="2337435" algn="l"/>
              </a:tabLst>
            </a:pPr>
            <a:r>
              <a:rPr sz="900" spc="-25" dirty="0">
                <a:latin typeface="Times New Roman"/>
                <a:cs typeface="Times New Roman"/>
              </a:rPr>
              <a:t>is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effective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for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modelling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complex,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nonlinear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478" y="6989381"/>
            <a:ext cx="2804795" cy="257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3099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relationships.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maps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input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into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high-</a:t>
            </a:r>
            <a:r>
              <a:rPr sz="900" spc="-10" dirty="0">
                <a:latin typeface="Times New Roman"/>
                <a:cs typeface="Times New Roman"/>
              </a:rPr>
              <a:t>dimensional </a:t>
            </a:r>
            <a:r>
              <a:rPr sz="900" dirty="0">
                <a:latin typeface="Times New Roman"/>
                <a:cs typeface="Times New Roman"/>
              </a:rPr>
              <a:t>space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kernels,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making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suitable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</a:t>
            </a:r>
            <a:r>
              <a:rPr sz="900" spc="-20" dirty="0">
                <a:latin typeface="Times New Roman"/>
                <a:cs typeface="Times New Roman"/>
              </a:rPr>
              <a:t>world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datasets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influenced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by</a:t>
            </a:r>
            <a:r>
              <a:rPr sz="900" dirty="0">
                <a:latin typeface="Times New Roman"/>
                <a:cs typeface="Times New Roman"/>
              </a:rPr>
              <a:t> nonlinear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interactions.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22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ensemble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method</a:t>
            </a:r>
            <a:r>
              <a:rPr sz="900" spc="240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uses </a:t>
            </a:r>
            <a:r>
              <a:rPr sz="900" dirty="0">
                <a:latin typeface="Times New Roman"/>
                <a:cs typeface="Times New Roman"/>
              </a:rPr>
              <a:t>multiple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decision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trees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accuracy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robustness.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complex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interactions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without </a:t>
            </a:r>
            <a:r>
              <a:rPr sz="900" dirty="0">
                <a:latin typeface="Times New Roman"/>
                <a:cs typeface="Times New Roman"/>
              </a:rPr>
              <a:t>requiring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prior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assumptions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about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distribution.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is</a:t>
            </a:r>
            <a:r>
              <a:rPr sz="900" dirty="0">
                <a:latin typeface="Times New Roman"/>
                <a:cs typeface="Times New Roman"/>
              </a:rPr>
              <a:t> particularly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useful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when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dealing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large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noisy </a:t>
            </a:r>
            <a:r>
              <a:rPr sz="900" dirty="0">
                <a:latin typeface="Times New Roman"/>
                <a:cs typeface="Times New Roman"/>
              </a:rPr>
              <a:t>datasets.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context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systems,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input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often </a:t>
            </a:r>
            <a:r>
              <a:rPr sz="900" dirty="0">
                <a:latin typeface="Times New Roman"/>
                <a:cs typeface="Times New Roman"/>
              </a:rPr>
              <a:t>includes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spatial-temporal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information</a:t>
            </a:r>
            <a:r>
              <a:rPr sz="900" spc="22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22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schedules,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locations,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track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usage,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data,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delays.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matrix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or</a:t>
            </a:r>
            <a:r>
              <a:rPr sz="900" dirty="0">
                <a:latin typeface="Times New Roman"/>
                <a:cs typeface="Times New Roman"/>
              </a:rPr>
              <a:t> grid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form,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each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“pixel”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may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represent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feature </a:t>
            </a:r>
            <a:r>
              <a:rPr sz="900" dirty="0">
                <a:latin typeface="Times New Roman"/>
                <a:cs typeface="Times New Roman"/>
              </a:rPr>
              <a:t>value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at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specific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location.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reduce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need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manual</a:t>
            </a:r>
            <a:r>
              <a:rPr sz="900" spc="4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</a:t>
            </a:r>
            <a:r>
              <a:rPr sz="900" spc="4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engineering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45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by</a:t>
            </a:r>
            <a:r>
              <a:rPr sz="900" dirty="0">
                <a:latin typeface="Times New Roman"/>
                <a:cs typeface="Times New Roman"/>
              </a:rPr>
              <a:t> learning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relevant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directly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data.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use</a:t>
            </a:r>
            <a:r>
              <a:rPr sz="900" dirty="0">
                <a:latin typeface="Times New Roman"/>
                <a:cs typeface="Times New Roman"/>
              </a:rPr>
              <a:t> layers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convolutional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filters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detect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like </a:t>
            </a:r>
            <a:r>
              <a:rPr sz="900" dirty="0">
                <a:latin typeface="Times New Roman"/>
                <a:cs typeface="Times New Roman"/>
              </a:rPr>
              <a:t>recurring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triggers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across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different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times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6461" y="835892"/>
            <a:ext cx="2806065" cy="3136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day.</a:t>
            </a:r>
            <a:r>
              <a:rPr sz="900" spc="1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Pooling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layers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reduce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dimensionality</a:t>
            </a:r>
            <a:r>
              <a:rPr sz="900" spc="16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while </a:t>
            </a:r>
            <a:r>
              <a:rPr sz="900" dirty="0">
                <a:latin typeface="Times New Roman"/>
                <a:cs typeface="Times New Roman"/>
              </a:rPr>
              <a:t>preserving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important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features,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fully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connected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layers </a:t>
            </a:r>
            <a:r>
              <a:rPr sz="900" dirty="0">
                <a:latin typeface="Times New Roman"/>
                <a:cs typeface="Times New Roman"/>
              </a:rPr>
              <a:t>at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end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output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predicted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delay.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handle </a:t>
            </a:r>
            <a:r>
              <a:rPr sz="900" dirty="0">
                <a:latin typeface="Times New Roman"/>
                <a:cs typeface="Times New Roman"/>
              </a:rPr>
              <a:t>large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datasets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complex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structures,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which</a:t>
            </a:r>
            <a:r>
              <a:rPr sz="900" spc="250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are</a:t>
            </a:r>
            <a:r>
              <a:rPr sz="900" dirty="0">
                <a:latin typeface="Times New Roman"/>
                <a:cs typeface="Times New Roman"/>
              </a:rPr>
              <a:t> commonly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networks.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Predicting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probability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duration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at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each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based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real- </a:t>
            </a:r>
            <a:r>
              <a:rPr sz="900" dirty="0">
                <a:latin typeface="Times New Roman"/>
                <a:cs typeface="Times New Roman"/>
              </a:rPr>
              <a:t>time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status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upstream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trains.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powerful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tool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predicting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delays,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especially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large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complex </a:t>
            </a:r>
            <a:r>
              <a:rPr sz="900" dirty="0">
                <a:latin typeface="Times New Roman"/>
                <a:cs typeface="Times New Roman"/>
              </a:rPr>
              <a:t>rail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depend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intricate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spatial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temporal</a:t>
            </a:r>
            <a:r>
              <a:rPr sz="900" spc="3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factors.</a:t>
            </a:r>
            <a:r>
              <a:rPr sz="900" spc="3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When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combined</a:t>
            </a:r>
            <a:r>
              <a:rPr sz="900" spc="3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35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domain </a:t>
            </a:r>
            <a:r>
              <a:rPr sz="900" dirty="0">
                <a:latin typeface="Times New Roman"/>
                <a:cs typeface="Times New Roman"/>
              </a:rPr>
              <a:t>knowledge,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CNNs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significantly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enhance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accuracy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support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smarter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railway </a:t>
            </a:r>
            <a:r>
              <a:rPr sz="900" dirty="0">
                <a:latin typeface="Times New Roman"/>
                <a:cs typeface="Times New Roman"/>
              </a:rPr>
              <a:t>operations.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Analysis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uses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past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to</a:t>
            </a:r>
            <a:r>
              <a:rPr sz="900" dirty="0">
                <a:latin typeface="Times New Roman"/>
                <a:cs typeface="Times New Roman"/>
              </a:rPr>
              <a:t> identify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recurring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average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under </a:t>
            </a:r>
            <a:r>
              <a:rPr sz="900" dirty="0">
                <a:latin typeface="Times New Roman"/>
                <a:cs typeface="Times New Roman"/>
              </a:rPr>
              <a:t>similar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conditions.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Simple</a:t>
            </a:r>
            <a:r>
              <a:rPr sz="900" spc="1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statistical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techniques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like </a:t>
            </a:r>
            <a:r>
              <a:rPr sz="900" dirty="0">
                <a:latin typeface="Times New Roman"/>
                <a:cs typeface="Times New Roman"/>
              </a:rPr>
              <a:t>moving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averages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benchmarks</a:t>
            </a:r>
            <a:r>
              <a:rPr sz="900" spc="4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often </a:t>
            </a:r>
            <a:r>
              <a:rPr sz="900" dirty="0">
                <a:latin typeface="Times New Roman"/>
                <a:cs typeface="Times New Roman"/>
              </a:rPr>
              <a:t>applied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short-term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predictions.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effectiveness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delay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depends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quality,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selection,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ability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handle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dynamic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interconnected </a:t>
            </a:r>
            <a:r>
              <a:rPr sz="900" dirty="0">
                <a:latin typeface="Times New Roman"/>
                <a:cs typeface="Times New Roman"/>
              </a:rPr>
              <a:t>factors.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While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transparency,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advanced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learning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deep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2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approaches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provide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higher</a:t>
            </a:r>
            <a:r>
              <a:rPr sz="900" spc="2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accuracy, </a:t>
            </a:r>
            <a:r>
              <a:rPr sz="900" dirty="0">
                <a:latin typeface="Times New Roman"/>
                <a:cs typeface="Times New Roman"/>
              </a:rPr>
              <a:t>especially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complex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networks.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6555" y="4619319"/>
            <a:ext cx="102616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IV.</a:t>
            </a:r>
            <a:r>
              <a:rPr sz="900" spc="-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METHODLOGY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0727" y="6926310"/>
            <a:ext cx="2496185" cy="31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8905">
              <a:lnSpc>
                <a:spcPct val="103499"/>
              </a:lnSpc>
              <a:spcBef>
                <a:spcPts val="100"/>
              </a:spcBef>
            </a:pPr>
            <a:r>
              <a:rPr sz="850" dirty="0">
                <a:latin typeface="Times New Roman"/>
                <a:cs typeface="Times New Roman"/>
              </a:rPr>
              <a:t>Fig.</a:t>
            </a:r>
            <a:r>
              <a:rPr sz="85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1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Block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Diagram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systems.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0727" y="7557020"/>
            <a:ext cx="281241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03099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above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block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diagram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illustrates</a:t>
            </a:r>
            <a:r>
              <a:rPr sz="900" spc="1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7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systematic </a:t>
            </a:r>
            <a:r>
              <a:rPr sz="900" dirty="0">
                <a:latin typeface="Times New Roman"/>
                <a:cs typeface="Times New Roman"/>
              </a:rPr>
              <a:t>workflow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designed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systems.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leverages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historical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estimate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potential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improve </a:t>
            </a:r>
            <a:r>
              <a:rPr sz="900" dirty="0">
                <a:latin typeface="Times New Roman"/>
                <a:cs typeface="Times New Roman"/>
              </a:rPr>
              <a:t>operational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efficiency.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After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preprocessing,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is</a:t>
            </a:r>
            <a:r>
              <a:rPr sz="900" dirty="0">
                <a:latin typeface="Times New Roman"/>
                <a:cs typeface="Times New Roman"/>
              </a:rPr>
              <a:t> categorised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into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two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primary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categories: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training</a:t>
            </a:r>
            <a:r>
              <a:rPr sz="900" b="1" spc="19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dataset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testing</a:t>
            </a:r>
            <a:r>
              <a:rPr sz="900" b="1" spc="29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dataset</a:t>
            </a:r>
            <a:r>
              <a:rPr sz="900" dirty="0">
                <a:latin typeface="Times New Roman"/>
                <a:cs typeface="Times New Roman"/>
              </a:rPr>
              <a:t>.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final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stage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involves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trained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delays.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model </a:t>
            </a:r>
            <a:r>
              <a:rPr sz="900" dirty="0">
                <a:latin typeface="Times New Roman"/>
                <a:cs typeface="Times New Roman"/>
              </a:rPr>
              <a:t>processes</a:t>
            </a:r>
            <a:r>
              <a:rPr sz="900" spc="4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new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45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provides</a:t>
            </a:r>
            <a:r>
              <a:rPr sz="900" spc="4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 </a:t>
            </a:r>
            <a:r>
              <a:rPr sz="900" dirty="0">
                <a:latin typeface="Times New Roman"/>
                <a:cs typeface="Times New Roman"/>
              </a:rPr>
              <a:t>estimates,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enabling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operators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take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proactive </a:t>
            </a:r>
            <a:r>
              <a:rPr sz="900" dirty="0">
                <a:latin typeface="Times New Roman"/>
                <a:cs typeface="Times New Roman"/>
              </a:rPr>
              <a:t>measures.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block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diagram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effectively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represents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structured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approach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developing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for</a:t>
            </a:r>
            <a:r>
              <a:rPr sz="900" dirty="0">
                <a:latin typeface="Times New Roman"/>
                <a:cs typeface="Times New Roman"/>
              </a:rPr>
              <a:t> train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delays.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systematically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progressing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through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data </a:t>
            </a:r>
            <a:r>
              <a:rPr sz="900" dirty="0">
                <a:latin typeface="Times New Roman"/>
                <a:cs typeface="Times New Roman"/>
              </a:rPr>
              <a:t>collection,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preprocessing,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training,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extraction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9478" y="835892"/>
            <a:ext cx="2802255" cy="449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2499"/>
              </a:lnSpc>
              <a:spcBef>
                <a:spcPts val="110"/>
              </a:spcBef>
            </a:pPr>
            <a:r>
              <a:rPr sz="900" dirty="0">
                <a:latin typeface="Times New Roman"/>
                <a:cs typeface="Times New Roman"/>
              </a:rPr>
              <a:t>regression-based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prediction,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aims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provide </a:t>
            </a:r>
            <a:r>
              <a:rPr sz="900" dirty="0">
                <a:latin typeface="Times New Roman"/>
                <a:cs typeface="Times New Roman"/>
              </a:rPr>
              <a:t>reliable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actionable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forecasts,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ultimately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enhancing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efficiency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reliability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operations.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1108" y="1750661"/>
            <a:ext cx="126365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V.</a:t>
            </a:r>
            <a:r>
              <a:rPr sz="900" spc="-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EXPERIMENTATION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911" y="2070316"/>
            <a:ext cx="1072515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A.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1000" i="1" dirty="0">
                <a:latin typeface="Times New Roman"/>
                <a:cs typeface="Times New Roman"/>
              </a:rPr>
              <a:t>Data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Collection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744" y="2408607"/>
            <a:ext cx="2808605" cy="188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03099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Gather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tracking,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conditions,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maintenance</a:t>
            </a:r>
            <a:r>
              <a:rPr sz="900" spc="2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logs,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8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traffic </a:t>
            </a:r>
            <a:r>
              <a:rPr sz="900" dirty="0">
                <a:latin typeface="Times New Roman"/>
                <a:cs typeface="Times New Roman"/>
              </a:rPr>
              <a:t>congestion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data.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accuracy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effectiveness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model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depend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quality,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variety,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volume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data </a:t>
            </a:r>
            <a:r>
              <a:rPr sz="900" dirty="0">
                <a:latin typeface="Times New Roman"/>
                <a:cs typeface="Times New Roman"/>
              </a:rPr>
              <a:t>collected.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includes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actual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arrival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departure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dwell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speeds,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which </a:t>
            </a:r>
            <a:r>
              <a:rPr sz="900" dirty="0">
                <a:latin typeface="Times New Roman"/>
                <a:cs typeface="Times New Roman"/>
              </a:rPr>
              <a:t>help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deviations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planned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operations.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Proper </a:t>
            </a:r>
            <a:r>
              <a:rPr sz="900" dirty="0">
                <a:latin typeface="Times New Roman"/>
                <a:cs typeface="Times New Roman"/>
              </a:rPr>
              <a:t>storage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cloud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databases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big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platforms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supports </a:t>
            </a:r>
            <a:r>
              <a:rPr sz="900" dirty="0">
                <a:latin typeface="Times New Roman"/>
                <a:cs typeface="Times New Roman"/>
              </a:rPr>
              <a:t>efficient</a:t>
            </a:r>
            <a:r>
              <a:rPr sz="900" spc="20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processing.</a:t>
            </a:r>
            <a:r>
              <a:rPr sz="900" spc="20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structured</a:t>
            </a:r>
            <a:r>
              <a:rPr sz="900" spc="204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20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collection </a:t>
            </a:r>
            <a:r>
              <a:rPr sz="900" dirty="0">
                <a:latin typeface="Times New Roman"/>
                <a:cs typeface="Times New Roman"/>
              </a:rPr>
              <a:t>process</a:t>
            </a:r>
            <a:r>
              <a:rPr sz="900" spc="2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enables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accurately </a:t>
            </a:r>
            <a:r>
              <a:rPr sz="900" dirty="0">
                <a:latin typeface="Times New Roman"/>
                <a:cs typeface="Times New Roman"/>
              </a:rPr>
              <a:t>predict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delays,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improving</a:t>
            </a:r>
            <a:r>
              <a:rPr sz="900" spc="3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3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efficiency</a:t>
            </a:r>
            <a:r>
              <a:rPr sz="900" spc="39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passenger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experience</a:t>
            </a:r>
            <a:endParaRPr sz="900">
              <a:latin typeface="Times New Roman"/>
              <a:cs typeface="Times New Roman"/>
            </a:endParaRPr>
          </a:p>
          <a:p>
            <a:pPr marL="19685" algn="just">
              <a:lnSpc>
                <a:spcPct val="100000"/>
              </a:lnSpc>
              <a:spcBef>
                <a:spcPts val="85"/>
              </a:spcBef>
            </a:pPr>
            <a:r>
              <a:rPr sz="900" dirty="0">
                <a:latin typeface="Times New Roman"/>
                <a:cs typeface="Times New Roman"/>
              </a:rPr>
              <a:t>B.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1000" i="1" spc="-10" dirty="0">
                <a:latin typeface="Times New Roman"/>
                <a:cs typeface="Times New Roman"/>
              </a:rPr>
              <a:t>Preprocessing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911" y="4417205"/>
            <a:ext cx="2811780" cy="1313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ensures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collected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accurate,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consistent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ready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analysis.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begins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cleaning,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missing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values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addressed.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Advanced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processing </a:t>
            </a:r>
            <a:r>
              <a:rPr sz="900" dirty="0">
                <a:latin typeface="Times New Roman"/>
                <a:cs typeface="Times New Roman"/>
              </a:rPr>
              <a:t>may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include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dimensionality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reduction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24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eliminate </a:t>
            </a:r>
            <a:r>
              <a:rPr sz="900" dirty="0">
                <a:latin typeface="Times New Roman"/>
                <a:cs typeface="Times New Roman"/>
              </a:rPr>
              <a:t>redundant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increase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computational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efficiency. </a:t>
            </a:r>
            <a:r>
              <a:rPr sz="900" dirty="0">
                <a:latin typeface="Times New Roman"/>
                <a:cs typeface="Times New Roman"/>
              </a:rPr>
              <a:t>Finally,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processed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split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into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testing </a:t>
            </a:r>
            <a:r>
              <a:rPr sz="900" dirty="0">
                <a:latin typeface="Times New Roman"/>
                <a:cs typeface="Times New Roman"/>
              </a:rPr>
              <a:t>sets,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ready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models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accurately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their </a:t>
            </a:r>
            <a:r>
              <a:rPr sz="900" dirty="0">
                <a:latin typeface="Times New Roman"/>
                <a:cs typeface="Times New Roman"/>
              </a:rPr>
              <a:t>potential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causes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744" y="5882413"/>
            <a:ext cx="2789555" cy="2995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C.</a:t>
            </a:r>
            <a:r>
              <a:rPr sz="900" spc="229" dirty="0">
                <a:latin typeface="Times New Roman"/>
                <a:cs typeface="Times New Roman"/>
              </a:rPr>
              <a:t>  </a:t>
            </a:r>
            <a:r>
              <a:rPr sz="1000" i="1" dirty="0">
                <a:latin typeface="Times New Roman"/>
                <a:cs typeface="Times New Roman"/>
              </a:rPr>
              <a:t>Feature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Selection</a:t>
            </a:r>
            <a:endParaRPr sz="10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3899"/>
              </a:lnSpc>
              <a:spcBef>
                <a:spcPts val="825"/>
              </a:spcBef>
            </a:pP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plays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critical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role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developing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accurate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efficient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systems.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To</a:t>
            </a:r>
            <a:r>
              <a:rPr sz="900" dirty="0">
                <a:latin typeface="Times New Roman"/>
                <a:cs typeface="Times New Roman"/>
              </a:rPr>
              <a:t> build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reliable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model,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essential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include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most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relevant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variables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influence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 </a:t>
            </a:r>
            <a:r>
              <a:rPr sz="900" dirty="0">
                <a:latin typeface="Times New Roman"/>
                <a:cs typeface="Times New Roman"/>
              </a:rPr>
              <a:t>patterns.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Common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include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scheduled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departure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arrival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actual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departure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arrival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actual </a:t>
            </a:r>
            <a:r>
              <a:rPr sz="900" dirty="0">
                <a:latin typeface="Times New Roman"/>
                <a:cs typeface="Times New Roman"/>
              </a:rPr>
              <a:t>departure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arrival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(such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as</a:t>
            </a:r>
            <a:r>
              <a:rPr sz="900" dirty="0">
                <a:latin typeface="Times New Roman"/>
                <a:cs typeface="Times New Roman"/>
              </a:rPr>
              <a:t> temperature,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rainfall,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visibility),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type,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route </a:t>
            </a:r>
            <a:r>
              <a:rPr sz="900" dirty="0">
                <a:latin typeface="Times New Roman"/>
                <a:cs typeface="Times New Roman"/>
              </a:rPr>
              <a:t>characteristics,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traffic</a:t>
            </a:r>
            <a:r>
              <a:rPr sz="900" spc="2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density,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maintenance </a:t>
            </a:r>
            <a:r>
              <a:rPr sz="900" dirty="0">
                <a:latin typeface="Times New Roman"/>
                <a:cs typeface="Times New Roman"/>
              </a:rPr>
              <a:t>records,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operational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like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signal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failures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track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obstructions.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Feature </a:t>
            </a:r>
            <a:r>
              <a:rPr sz="900" dirty="0">
                <a:latin typeface="Times New Roman"/>
                <a:cs typeface="Times New Roman"/>
              </a:rPr>
              <a:t>selection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techniques</a:t>
            </a:r>
            <a:r>
              <a:rPr sz="900" spc="2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correlation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analysis, </a:t>
            </a:r>
            <a:r>
              <a:rPr sz="900" dirty="0">
                <a:latin typeface="Times New Roman"/>
                <a:cs typeface="Times New Roman"/>
              </a:rPr>
              <a:t>recursive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elimination,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mutual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information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help </a:t>
            </a:r>
            <a:r>
              <a:rPr sz="900" dirty="0">
                <a:latin typeface="Times New Roman"/>
                <a:cs typeface="Times New Roman"/>
              </a:rPr>
              <a:t>eliminate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redundant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ir</a:t>
            </a:r>
            <a:r>
              <a:rPr sz="900" spc="4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irrelevant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attributes,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improving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performance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5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interpretability.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Incorporating </a:t>
            </a:r>
            <a:r>
              <a:rPr sz="900" dirty="0">
                <a:latin typeface="Times New Roman"/>
                <a:cs typeface="Times New Roman"/>
              </a:rPr>
              <a:t>domain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knowledge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operations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further </a:t>
            </a:r>
            <a:r>
              <a:rPr sz="900" dirty="0">
                <a:latin typeface="Times New Roman"/>
                <a:cs typeface="Times New Roman"/>
              </a:rPr>
              <a:t>refine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set,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ensuring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captures </a:t>
            </a:r>
            <a:r>
              <a:rPr sz="900" dirty="0">
                <a:latin typeface="Times New Roman"/>
                <a:cs typeface="Times New Roman"/>
              </a:rPr>
              <a:t>both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statistical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practical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factors</a:t>
            </a:r>
            <a:r>
              <a:rPr sz="900" spc="4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behind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train delays.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744" y="9192807"/>
            <a:ext cx="1043940" cy="184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D.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Model</a:t>
            </a:r>
            <a:r>
              <a:rPr sz="1000" i="1" spc="2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Selection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9294" y="835892"/>
            <a:ext cx="2792730" cy="130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 algn="just">
              <a:lnSpc>
                <a:spcPct val="103899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choice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depends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nature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complexity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patterns,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required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level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interpretability.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Commonly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include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linear </a:t>
            </a: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simple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predictions,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decision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trees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random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forests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capturing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non-linear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relationships,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gradient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boosting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methods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like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XGBoost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high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accuracy.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cases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involving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time-series</a:t>
            </a:r>
            <a:r>
              <a:rPr sz="900" spc="229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data,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LSTM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neural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networks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may</a:t>
            </a:r>
            <a:r>
              <a:rPr sz="900" spc="3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more </a:t>
            </a:r>
            <a:r>
              <a:rPr sz="900" dirty="0">
                <a:latin typeface="Times New Roman"/>
                <a:cs typeface="Times New Roman"/>
              </a:rPr>
              <a:t>appropriate.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selection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typically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involves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evaluating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5028" y="2117620"/>
            <a:ext cx="27838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84835" algn="l"/>
                <a:tab pos="1254760" algn="l"/>
                <a:tab pos="1673225" algn="l"/>
                <a:tab pos="2599055" algn="l"/>
              </a:tabLst>
            </a:pPr>
            <a:r>
              <a:rPr sz="900" spc="-10" dirty="0">
                <a:latin typeface="Times New Roman"/>
                <a:cs typeface="Times New Roman"/>
              </a:rPr>
              <a:t>different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algorithms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0" dirty="0">
                <a:latin typeface="Times New Roman"/>
                <a:cs typeface="Times New Roman"/>
              </a:rPr>
              <a:t>using</a:t>
            </a:r>
            <a:r>
              <a:rPr sz="900" dirty="0">
                <a:latin typeface="Times New Roman"/>
                <a:cs typeface="Times New Roman"/>
              </a:rPr>
              <a:t>	cross-</a:t>
            </a:r>
            <a:r>
              <a:rPr sz="900" spc="-10" dirty="0">
                <a:latin typeface="Times New Roman"/>
                <a:cs typeface="Times New Roman"/>
              </a:rPr>
              <a:t>validation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5028" y="2259530"/>
            <a:ext cx="278003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3585" algn="l"/>
                <a:tab pos="1221740" algn="l"/>
                <a:tab pos="1793875" algn="l"/>
                <a:tab pos="2275205" algn="l"/>
                <a:tab pos="2667000" algn="l"/>
              </a:tabLst>
            </a:pPr>
            <a:r>
              <a:rPr sz="900" spc="-10" dirty="0">
                <a:latin typeface="Times New Roman"/>
                <a:cs typeface="Times New Roman"/>
              </a:rPr>
              <a:t>performance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metrics</a:t>
            </a:r>
            <a:r>
              <a:rPr sz="900" dirty="0">
                <a:latin typeface="Times New Roman"/>
                <a:cs typeface="Times New Roman"/>
              </a:rPr>
              <a:t>	such</a:t>
            </a:r>
            <a:r>
              <a:rPr sz="900" spc="300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as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0" dirty="0">
                <a:latin typeface="Times New Roman"/>
                <a:cs typeface="Times New Roman"/>
              </a:rPr>
              <a:t>RMSE,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MAE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or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5028" y="2402873"/>
            <a:ext cx="654050" cy="31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100"/>
              </a:spcBef>
            </a:pPr>
            <a:r>
              <a:rPr sz="900" spc="-10" dirty="0">
                <a:latin typeface="Times New Roman"/>
                <a:cs typeface="Times New Roman"/>
              </a:rPr>
              <a:t>classification prediction).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0693" y="2402873"/>
            <a:ext cx="2080260" cy="31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03499"/>
              </a:lnSpc>
              <a:spcBef>
                <a:spcPts val="100"/>
              </a:spcBef>
              <a:tabLst>
                <a:tab pos="648335" algn="l"/>
                <a:tab pos="1097915" algn="l"/>
                <a:tab pos="1852295" algn="l"/>
              </a:tabLst>
            </a:pPr>
            <a:r>
              <a:rPr sz="900" dirty="0">
                <a:latin typeface="Times New Roman"/>
                <a:cs typeface="Times New Roman"/>
              </a:rPr>
              <a:t>accuracy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(in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case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delay/non-</a:t>
            </a:r>
            <a:r>
              <a:rPr sz="900" spc="-10" dirty="0">
                <a:latin typeface="Times New Roman"/>
                <a:cs typeface="Times New Roman"/>
              </a:rPr>
              <a:t>delay Balancing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model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performance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0" dirty="0">
                <a:latin typeface="Times New Roman"/>
                <a:cs typeface="Times New Roman"/>
              </a:rPr>
              <a:t>with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5028" y="2688126"/>
            <a:ext cx="278130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computational</a:t>
            </a:r>
            <a:r>
              <a:rPr sz="900" spc="3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efficiency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interpretability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3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crucial,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5028" y="2830036"/>
            <a:ext cx="2785745" cy="3124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85"/>
              </a:spcBef>
            </a:pPr>
            <a:r>
              <a:rPr sz="900" dirty="0">
                <a:latin typeface="Times New Roman"/>
                <a:cs typeface="Times New Roman"/>
              </a:rPr>
              <a:t>especially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applications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timely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explainable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essential.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6461" y="3452504"/>
            <a:ext cx="2782570" cy="26917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E.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Training</a:t>
            </a:r>
            <a:r>
              <a:rPr sz="900" i="1" spc="-1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and</a:t>
            </a:r>
            <a:r>
              <a:rPr sz="900" i="1" spc="15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Times New Roman"/>
                <a:cs typeface="Times New Roman"/>
              </a:rPr>
              <a:t>Evaluation</a:t>
            </a:r>
            <a:endParaRPr sz="9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899"/>
              </a:lnSpc>
              <a:spcBef>
                <a:spcPts val="785"/>
              </a:spcBef>
            </a:pPr>
            <a:r>
              <a:rPr sz="900" dirty="0">
                <a:latin typeface="Times New Roman"/>
                <a:cs typeface="Times New Roman"/>
              </a:rPr>
              <a:t>During</a:t>
            </a:r>
            <a:r>
              <a:rPr sz="900" spc="4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training,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historical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encompassing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like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scheduled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times,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weather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conditions,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types,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previous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fit</a:t>
            </a:r>
            <a:r>
              <a:rPr sz="900" spc="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selected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model, </a:t>
            </a:r>
            <a:r>
              <a:rPr sz="900" dirty="0">
                <a:latin typeface="Times New Roman"/>
                <a:cs typeface="Times New Roman"/>
              </a:rPr>
              <a:t>allowing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learn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relationships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spc="-20" dirty="0">
                <a:latin typeface="Times New Roman"/>
                <a:cs typeface="Times New Roman"/>
              </a:rPr>
              <a:t>that </a:t>
            </a:r>
            <a:r>
              <a:rPr sz="900" dirty="0">
                <a:latin typeface="Times New Roman"/>
                <a:cs typeface="Times New Roman"/>
              </a:rPr>
              <a:t>contribute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delays.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dataset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typically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split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into </a:t>
            </a:r>
            <a:r>
              <a:rPr sz="900" dirty="0">
                <a:latin typeface="Times New Roman"/>
                <a:cs typeface="Times New Roman"/>
              </a:rPr>
              <a:t>training,</a:t>
            </a:r>
            <a:r>
              <a:rPr sz="900" spc="1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validation,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testing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subsets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prevent </a:t>
            </a:r>
            <a:r>
              <a:rPr sz="900" dirty="0">
                <a:latin typeface="Times New Roman"/>
                <a:cs typeface="Times New Roman"/>
              </a:rPr>
              <a:t>overfitting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ensure</a:t>
            </a:r>
            <a:r>
              <a:rPr sz="900" spc="3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generalizability.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Cross-</a:t>
            </a:r>
            <a:r>
              <a:rPr sz="900" spc="-10" dirty="0">
                <a:latin typeface="Times New Roman"/>
                <a:cs typeface="Times New Roman"/>
              </a:rPr>
              <a:t>validation </a:t>
            </a:r>
            <a:r>
              <a:rPr sz="900" dirty="0">
                <a:latin typeface="Times New Roman"/>
                <a:cs typeface="Times New Roman"/>
              </a:rPr>
              <a:t>techniques</a:t>
            </a:r>
            <a:r>
              <a:rPr sz="900" spc="4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further</a:t>
            </a:r>
            <a:r>
              <a:rPr sz="900" spc="1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enhance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reliability</a:t>
            </a:r>
            <a:r>
              <a:rPr sz="900" spc="145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by</a:t>
            </a:r>
            <a:r>
              <a:rPr sz="900" dirty="0">
                <a:latin typeface="Times New Roman"/>
                <a:cs typeface="Times New Roman"/>
              </a:rPr>
              <a:t> evaluating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performance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across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different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splits. </a:t>
            </a:r>
            <a:r>
              <a:rPr sz="900" dirty="0">
                <a:latin typeface="Times New Roman"/>
                <a:cs typeface="Times New Roman"/>
              </a:rPr>
              <a:t>Evaluation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metrics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Mean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Absolute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Error,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Root </a:t>
            </a:r>
            <a:r>
              <a:rPr sz="900" dirty="0">
                <a:latin typeface="Times New Roman"/>
                <a:cs typeface="Times New Roman"/>
              </a:rPr>
              <a:t>Mean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Square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Error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assess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how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well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model </a:t>
            </a:r>
            <a:r>
              <a:rPr sz="900" dirty="0">
                <a:latin typeface="Times New Roman"/>
                <a:cs typeface="Times New Roman"/>
              </a:rPr>
              <a:t>predicts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unseen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data.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Additionally,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confusion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matrices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precision-recall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analysis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may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applied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classification </a:t>
            </a:r>
            <a:r>
              <a:rPr sz="900" dirty="0">
                <a:latin typeface="Times New Roman"/>
                <a:cs typeface="Times New Roman"/>
              </a:rPr>
              <a:t>scenarios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better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understand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performance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handling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vs</a:t>
            </a:r>
            <a:r>
              <a:rPr sz="900" spc="204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on-time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predictions.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Continuous </a:t>
            </a:r>
            <a:r>
              <a:rPr sz="900" dirty="0">
                <a:latin typeface="Times New Roman"/>
                <a:cs typeface="Times New Roman"/>
              </a:rPr>
              <a:t>monitoring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retraining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often</a:t>
            </a:r>
            <a:r>
              <a:rPr sz="900" spc="2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necessary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spc="-25" dirty="0">
                <a:latin typeface="Times New Roman"/>
                <a:cs typeface="Times New Roman"/>
              </a:rPr>
              <a:t>as</a:t>
            </a:r>
            <a:r>
              <a:rPr sz="900" dirty="0">
                <a:latin typeface="Times New Roman"/>
                <a:cs typeface="Times New Roman"/>
              </a:rPr>
              <a:t> operational conditions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evolve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over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time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6461" y="6454352"/>
            <a:ext cx="2826385" cy="23691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Times New Roman"/>
                <a:cs typeface="Times New Roman"/>
              </a:rPr>
              <a:t>E.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Deployment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8000"/>
              </a:lnSpc>
              <a:spcBef>
                <a:spcPts val="755"/>
              </a:spcBef>
            </a:pP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provide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actionable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insights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operators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passengers.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begins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setting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up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robust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pipeline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continuously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collects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processes </a:t>
            </a:r>
            <a:r>
              <a:rPr sz="900" dirty="0">
                <a:latin typeface="Times New Roman"/>
                <a:cs typeface="Times New Roman"/>
              </a:rPr>
              <a:t>relevant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inputs,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schedules,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weather </a:t>
            </a:r>
            <a:r>
              <a:rPr sz="900" dirty="0">
                <a:latin typeface="Times New Roman"/>
                <a:cs typeface="Times New Roman"/>
              </a:rPr>
              <a:t>conditions,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track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maintenance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logs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locations.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model,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typically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hosted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cloud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edge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computing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platform,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receives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outputs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forecasts.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These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predictions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then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fed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into </a:t>
            </a:r>
            <a:r>
              <a:rPr sz="900" dirty="0">
                <a:latin typeface="Times New Roman"/>
                <a:cs typeface="Times New Roman"/>
              </a:rPr>
              <a:t>decision-making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systems,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control</a:t>
            </a:r>
            <a:r>
              <a:rPr sz="900" spc="4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centres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passenger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information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systems,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support</a:t>
            </a:r>
            <a:r>
              <a:rPr sz="900" spc="21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dynamic </a:t>
            </a:r>
            <a:r>
              <a:rPr sz="900" dirty="0">
                <a:latin typeface="Times New Roman"/>
                <a:cs typeface="Times New Roman"/>
              </a:rPr>
              <a:t>rescheduling,</a:t>
            </a:r>
            <a:r>
              <a:rPr sz="900" spc="20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resource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allocation,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timely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alerts. </a:t>
            </a:r>
            <a:r>
              <a:rPr sz="900" dirty="0">
                <a:latin typeface="Times New Roman"/>
                <a:cs typeface="Times New Roman"/>
              </a:rPr>
              <a:t>Ensuring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scalable,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secure,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consistently </a:t>
            </a:r>
            <a:r>
              <a:rPr sz="900" dirty="0">
                <a:latin typeface="Times New Roman"/>
                <a:cs typeface="Times New Roman"/>
              </a:rPr>
              <a:t>monitored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accuracy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crucial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maintaining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reliability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live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operations</a:t>
            </a:r>
            <a:r>
              <a:rPr sz="1000" spc="-10" dirty="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4591" y="9141204"/>
            <a:ext cx="71945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VI.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RESULTS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107" y="2376512"/>
            <a:ext cx="2764734" cy="16753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7830" y="1192735"/>
            <a:ext cx="2829716" cy="15803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3744" y="835892"/>
            <a:ext cx="2748915" cy="130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03899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Fig.1</a:t>
            </a:r>
            <a:r>
              <a:rPr sz="900" b="1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represents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System.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Such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aim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estimate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based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historical </a:t>
            </a:r>
            <a:r>
              <a:rPr sz="900" dirty="0">
                <a:latin typeface="Times New Roman"/>
                <a:cs typeface="Times New Roman"/>
              </a:rPr>
              <a:t>data,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various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influencing</a:t>
            </a:r>
            <a:r>
              <a:rPr sz="900" spc="5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factors.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makes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interface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visually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engaging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while </a:t>
            </a:r>
            <a:r>
              <a:rPr sz="900" dirty="0">
                <a:latin typeface="Times New Roman"/>
                <a:cs typeface="Times New Roman"/>
              </a:rPr>
              <a:t>subtly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highlighting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external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conditions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like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snow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can</a:t>
            </a:r>
            <a:r>
              <a:rPr sz="900" dirty="0">
                <a:latin typeface="Times New Roman"/>
                <a:cs typeface="Times New Roman"/>
              </a:rPr>
              <a:t> impact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operations.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finally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helps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railway </a:t>
            </a:r>
            <a:r>
              <a:rPr sz="900" dirty="0">
                <a:latin typeface="Times New Roman"/>
                <a:cs typeface="Times New Roman"/>
              </a:rPr>
              <a:t>operators,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passengers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logistics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companies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minimize </a:t>
            </a:r>
            <a:r>
              <a:rPr sz="900" dirty="0">
                <a:latin typeface="Times New Roman"/>
                <a:cs typeface="Times New Roman"/>
              </a:rPr>
              <a:t>disruptions,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optimize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schedules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travel planning.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2779" y="4219391"/>
            <a:ext cx="26860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-10" dirty="0">
                <a:latin typeface="Times New Roman"/>
                <a:cs typeface="Times New Roman"/>
              </a:rPr>
              <a:t>Fig.1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744" y="4713926"/>
            <a:ext cx="2790190" cy="3305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 marR="5080" indent="-6350" algn="just">
              <a:lnSpc>
                <a:spcPct val="104000"/>
              </a:lnSpc>
              <a:spcBef>
                <a:spcPts val="90"/>
              </a:spcBef>
            </a:pPr>
            <a:r>
              <a:rPr sz="900" b="1" dirty="0">
                <a:latin typeface="Times New Roman"/>
                <a:cs typeface="Times New Roman"/>
              </a:rPr>
              <a:t>Table</a:t>
            </a:r>
            <a:r>
              <a:rPr sz="900" b="1" spc="1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1</a:t>
            </a:r>
            <a:r>
              <a:rPr sz="900" b="1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appears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related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Gold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Price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 </a:t>
            </a:r>
            <a:r>
              <a:rPr sz="900" dirty="0">
                <a:latin typeface="Times New Roman"/>
                <a:cs typeface="Times New Roman"/>
              </a:rPr>
              <a:t>system,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indicated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title.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However,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structure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the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suggests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may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also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represent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format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commonly </a:t>
            </a:r>
            <a:r>
              <a:rPr sz="900" dirty="0">
                <a:latin typeface="Times New Roman"/>
                <a:cs typeface="Times New Roman"/>
              </a:rPr>
              <a:t>used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(if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adapted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for</a:t>
            </a:r>
            <a:r>
              <a:rPr sz="900" dirty="0">
                <a:latin typeface="Times New Roman"/>
                <a:cs typeface="Times New Roman"/>
              </a:rPr>
              <a:t> that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purpose).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table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consists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multiple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columns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with </a:t>
            </a:r>
            <a:r>
              <a:rPr sz="900" dirty="0">
                <a:latin typeface="Times New Roman"/>
                <a:cs typeface="Times New Roman"/>
              </a:rPr>
              <a:t>numerical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categorical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values,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which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likely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represent </a:t>
            </a:r>
            <a:r>
              <a:rPr sz="900" dirty="0">
                <a:latin typeface="Times New Roman"/>
                <a:cs typeface="Times New Roman"/>
              </a:rPr>
              <a:t>different</a:t>
            </a:r>
            <a:r>
              <a:rPr sz="900" spc="3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features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3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model.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If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we</a:t>
            </a:r>
            <a:r>
              <a:rPr sz="900" dirty="0">
                <a:latin typeface="Times New Roman"/>
                <a:cs typeface="Times New Roman"/>
              </a:rPr>
              <a:t> assume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dataset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adapted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prediction,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columns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could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interpreted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Id: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Unique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identifier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each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entry.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Year,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Month,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Day: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Time-based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factors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help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seasonal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trends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recurring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patterns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delays.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Code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(SR,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ER,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NR,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etc.):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specific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network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zone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responsible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route. </a:t>
            </a:r>
            <a:r>
              <a:rPr sz="900" dirty="0">
                <a:latin typeface="Times New Roman"/>
                <a:cs typeface="Times New Roman"/>
              </a:rPr>
              <a:t>Departure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(EWR,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LGA,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JFK,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etc.):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station 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which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departs.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Arrival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(IAH,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MIA, </a:t>
            </a:r>
            <a:r>
              <a:rPr sz="900" dirty="0">
                <a:latin typeface="Times New Roman"/>
                <a:cs typeface="Times New Roman"/>
              </a:rPr>
              <a:t>BQN,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etc.):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where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supposed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to</a:t>
            </a:r>
            <a:r>
              <a:rPr sz="900" dirty="0">
                <a:latin typeface="Times New Roman"/>
                <a:cs typeface="Times New Roman"/>
              </a:rPr>
              <a:t> arrive.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Status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(0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1):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binary</a:t>
            </a:r>
            <a:r>
              <a:rPr sz="900" spc="2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label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indicating </a:t>
            </a:r>
            <a:r>
              <a:rPr sz="900" dirty="0">
                <a:latin typeface="Times New Roman"/>
                <a:cs typeface="Times New Roman"/>
              </a:rPr>
              <a:t>whether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was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delayed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(1)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or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(0).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Although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table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image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label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gold</a:t>
            </a:r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price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prediction,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structure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3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highly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relevant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3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 </a:t>
            </a:r>
            <a:r>
              <a:rPr sz="900" dirty="0">
                <a:latin typeface="Times New Roman"/>
                <a:cs typeface="Times New Roman"/>
              </a:rPr>
              <a:t>prediction.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If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modified,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it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could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serve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dataset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machine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that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forecasts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based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factors.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6929" y="2957970"/>
            <a:ext cx="1009015" cy="490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35"/>
              </a:spcBef>
            </a:pPr>
            <a:r>
              <a:rPr sz="900" spc="-10" dirty="0">
                <a:latin typeface="Times New Roman"/>
                <a:cs typeface="Times New Roman"/>
              </a:rPr>
              <a:t>Table.1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Times New Roman"/>
                <a:cs typeface="Times New Roman"/>
              </a:rPr>
              <a:t>VII.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CONCLUSION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00727" y="3571479"/>
            <a:ext cx="2814955" cy="3560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development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railway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systems</a:t>
            </a:r>
            <a:r>
              <a:rPr sz="900" spc="4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is</a:t>
            </a:r>
            <a:r>
              <a:rPr sz="900" spc="4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crucial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step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toward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enhancing </a:t>
            </a:r>
            <a:r>
              <a:rPr sz="900" dirty="0">
                <a:latin typeface="Times New Roman"/>
                <a:cs typeface="Times New Roman"/>
              </a:rPr>
              <a:t>operational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efficiency,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improving</a:t>
            </a:r>
            <a:r>
              <a:rPr sz="900" spc="3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passenger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satisfaction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0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optimizing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allocation.</a:t>
            </a:r>
            <a:r>
              <a:rPr sz="900" spc="40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40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409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advanced </a:t>
            </a:r>
            <a:r>
              <a:rPr sz="900" dirty="0">
                <a:latin typeface="Times New Roman"/>
                <a:cs typeface="Times New Roman"/>
              </a:rPr>
              <a:t>computational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techniques,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enable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2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operators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anticipate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take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proactive </a:t>
            </a:r>
            <a:r>
              <a:rPr sz="900" dirty="0">
                <a:latin typeface="Times New Roman"/>
                <a:cs typeface="Times New Roman"/>
              </a:rPr>
              <a:t>measures.</a:t>
            </a:r>
            <a:r>
              <a:rPr sz="900" spc="48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modelling</a:t>
            </a:r>
            <a:r>
              <a:rPr sz="900" spc="4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typically </a:t>
            </a:r>
            <a:r>
              <a:rPr sz="900" dirty="0">
                <a:latin typeface="Times New Roman"/>
                <a:cs typeface="Times New Roman"/>
              </a:rPr>
              <a:t>involves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various</a:t>
            </a:r>
            <a:r>
              <a:rPr sz="900" spc="43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machine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deep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learning </a:t>
            </a:r>
            <a:r>
              <a:rPr sz="900" dirty="0">
                <a:latin typeface="Times New Roman"/>
                <a:cs typeface="Times New Roman"/>
              </a:rPr>
              <a:t>methods,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including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regression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models,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decision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trees, </a:t>
            </a:r>
            <a:r>
              <a:rPr sz="900" dirty="0">
                <a:latin typeface="Times New Roman"/>
                <a:cs typeface="Times New Roman"/>
              </a:rPr>
              <a:t>SVMs</a:t>
            </a:r>
            <a:r>
              <a:rPr sz="900" spc="4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have</a:t>
            </a:r>
            <a:r>
              <a:rPr sz="900" spc="45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been</a:t>
            </a:r>
            <a:r>
              <a:rPr sz="900" spc="4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utilized</a:t>
            </a:r>
            <a:r>
              <a:rPr sz="900" spc="4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</a:t>
            </a:r>
            <a:r>
              <a:rPr sz="900" spc="4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accuracy.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r>
              <a:rPr sz="900" dirty="0">
                <a:latin typeface="Times New Roman"/>
                <a:cs typeface="Times New Roman"/>
              </a:rPr>
              <a:t> inclusion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external</a:t>
            </a:r>
            <a:r>
              <a:rPr sz="900" spc="19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factors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enhances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9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model’s </a:t>
            </a:r>
            <a:r>
              <a:rPr sz="900" dirty="0">
                <a:latin typeface="Times New Roman"/>
                <a:cs typeface="Times New Roman"/>
              </a:rPr>
              <a:t>robustness.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improved</a:t>
            </a:r>
            <a:r>
              <a:rPr sz="900" spc="2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predictions,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passengers </a:t>
            </a:r>
            <a:r>
              <a:rPr sz="900" dirty="0">
                <a:latin typeface="Times New Roman"/>
                <a:cs typeface="Times New Roman"/>
              </a:rPr>
              <a:t>receive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timely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reliable</a:t>
            </a:r>
            <a:r>
              <a:rPr sz="900" spc="20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updates,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reducing</a:t>
            </a:r>
            <a:r>
              <a:rPr sz="900" spc="2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uncertainty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dissatisfaction.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2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forecasting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helps</a:t>
            </a:r>
            <a:r>
              <a:rPr sz="900" spc="26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better</a:t>
            </a:r>
            <a:r>
              <a:rPr sz="900" spc="4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trip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planning,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thereby</a:t>
            </a:r>
            <a:r>
              <a:rPr sz="900" spc="4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increasing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confidence</a:t>
            </a:r>
            <a:r>
              <a:rPr sz="900" spc="45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in</a:t>
            </a:r>
            <a:r>
              <a:rPr sz="900" dirty="0">
                <a:latin typeface="Times New Roman"/>
                <a:cs typeface="Times New Roman"/>
              </a:rPr>
              <a:t> railway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transportation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systems.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Minimizing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reduces </a:t>
            </a:r>
            <a:r>
              <a:rPr sz="900" dirty="0">
                <a:latin typeface="Times New Roman"/>
                <a:cs typeface="Times New Roman"/>
              </a:rPr>
              <a:t>operational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costs</a:t>
            </a:r>
            <a:r>
              <a:rPr sz="900" spc="3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associated</a:t>
            </a:r>
            <a:r>
              <a:rPr sz="900" spc="3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compensation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claims, </a:t>
            </a:r>
            <a:r>
              <a:rPr sz="900" dirty="0">
                <a:latin typeface="Times New Roman"/>
                <a:cs typeface="Times New Roman"/>
              </a:rPr>
              <a:t>rescheduling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maintenance.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identifying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root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causes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frequent</a:t>
            </a:r>
            <a:r>
              <a:rPr sz="900" spc="3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delays,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authorities</a:t>
            </a:r>
            <a:r>
              <a:rPr sz="900" spc="4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implement </a:t>
            </a:r>
            <a:r>
              <a:rPr sz="900" dirty="0">
                <a:latin typeface="Times New Roman"/>
                <a:cs typeface="Times New Roman"/>
              </a:rPr>
              <a:t>targeted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improvements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infrastructure,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scheduling</a:t>
            </a:r>
            <a:r>
              <a:rPr sz="900" spc="33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resource</a:t>
            </a:r>
            <a:r>
              <a:rPr sz="900" spc="4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allocation.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4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modelling</a:t>
            </a:r>
            <a:r>
              <a:rPr sz="900" spc="4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409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train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represents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transformative</a:t>
            </a:r>
            <a:r>
              <a:rPr sz="900" spc="2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approach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2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modern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systems.</a:t>
            </a:r>
            <a:r>
              <a:rPr sz="900" spc="3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continuous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advancements</a:t>
            </a:r>
            <a:r>
              <a:rPr sz="900" spc="3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32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AI,</a:t>
            </a:r>
            <a:r>
              <a:rPr sz="900" dirty="0">
                <a:latin typeface="Times New Roman"/>
                <a:cs typeface="Times New Roman"/>
              </a:rPr>
              <a:t> machine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2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integration,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railway </a:t>
            </a:r>
            <a:r>
              <a:rPr sz="900" dirty="0">
                <a:latin typeface="Times New Roman"/>
                <a:cs typeface="Times New Roman"/>
              </a:rPr>
              <a:t>networks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achieve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higher</a:t>
            </a:r>
            <a:r>
              <a:rPr sz="900" spc="26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efficiency,</a:t>
            </a:r>
            <a:r>
              <a:rPr sz="900" spc="26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minimize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0727" y="7105489"/>
            <a:ext cx="28105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01040" algn="l"/>
                <a:tab pos="1030605" algn="l"/>
                <a:tab pos="1577340" algn="l"/>
                <a:tab pos="2205990" algn="l"/>
              </a:tabLst>
            </a:pPr>
            <a:r>
              <a:rPr sz="900" spc="-10" dirty="0">
                <a:latin typeface="Times New Roman"/>
                <a:cs typeface="Times New Roman"/>
              </a:rPr>
              <a:t>disruptions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enhance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passenger</a:t>
            </a:r>
            <a:r>
              <a:rPr sz="900" dirty="0">
                <a:latin typeface="Times New Roman"/>
                <a:cs typeface="Times New Roman"/>
              </a:rPr>
              <a:t>	</a:t>
            </a:r>
            <a:r>
              <a:rPr sz="900" spc="-10" dirty="0">
                <a:latin typeface="Times New Roman"/>
                <a:cs typeface="Times New Roman"/>
              </a:rPr>
              <a:t>experiences.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00727" y="7247399"/>
            <a:ext cx="2813685" cy="875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Developing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data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analytics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capabilities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enable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operators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respond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quickly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changing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minimize </a:t>
            </a:r>
            <a:r>
              <a:rPr sz="900" dirty="0">
                <a:latin typeface="Times New Roman"/>
                <a:cs typeface="Times New Roman"/>
              </a:rPr>
              <a:t>delays.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Exploring,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such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deep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learning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reinforcement </a:t>
            </a:r>
            <a:r>
              <a:rPr sz="900" dirty="0">
                <a:latin typeface="Times New Roman"/>
                <a:cs typeface="Times New Roman"/>
              </a:rPr>
              <a:t>learning,</a:t>
            </a:r>
            <a:r>
              <a:rPr sz="900" spc="4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can</a:t>
            </a:r>
            <a:r>
              <a:rPr sz="900" spc="48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lead</a:t>
            </a:r>
            <a:r>
              <a:rPr sz="900" spc="4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8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even</a:t>
            </a:r>
            <a:r>
              <a:rPr sz="900" spc="4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more</a:t>
            </a:r>
            <a:r>
              <a:rPr sz="900" spc="4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exxact</a:t>
            </a:r>
            <a:r>
              <a:rPr sz="900" spc="4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484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robust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models.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While</a:t>
            </a:r>
            <a:r>
              <a:rPr sz="900" spc="21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challenges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exist,</a:t>
            </a:r>
            <a:r>
              <a:rPr sz="900" spc="22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ongoing </a:t>
            </a:r>
            <a:r>
              <a:rPr sz="900" dirty="0">
                <a:latin typeface="Times New Roman"/>
                <a:cs typeface="Times New Roman"/>
              </a:rPr>
              <a:t>research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technological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improvements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will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drive</a:t>
            </a:r>
            <a:r>
              <a:rPr sz="900" spc="160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more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0727" y="8094558"/>
            <a:ext cx="2814320" cy="310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3499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accurate,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adaptive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intelligent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prediction </a:t>
            </a:r>
            <a:r>
              <a:rPr sz="900" dirty="0">
                <a:latin typeface="Times New Roman"/>
                <a:cs typeface="Times New Roman"/>
              </a:rPr>
              <a:t>systems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future.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744" y="1008143"/>
            <a:ext cx="2813685" cy="1911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40715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VIII.</a:t>
            </a:r>
            <a:r>
              <a:rPr sz="900" spc="-10" dirty="0">
                <a:latin typeface="Times New Roman"/>
                <a:cs typeface="Times New Roman"/>
              </a:rPr>
              <a:t> ACKNOWLEDGEMENT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9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900" dirty="0">
                <a:latin typeface="Times New Roman"/>
                <a:cs typeface="Times New Roman"/>
              </a:rPr>
              <a:t>We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wish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extend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our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heartfelt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thanking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our</a:t>
            </a:r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guide,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Sri.</a:t>
            </a:r>
            <a:endParaRPr sz="9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3099"/>
              </a:lnSpc>
              <a:spcBef>
                <a:spcPts val="5"/>
              </a:spcBef>
            </a:pPr>
            <a:r>
              <a:rPr sz="900" b="1" dirty="0">
                <a:latin typeface="Times New Roman"/>
                <a:cs typeface="Times New Roman"/>
              </a:rPr>
              <a:t>E.</a:t>
            </a:r>
            <a:r>
              <a:rPr sz="900" b="1" spc="150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Suresh</a:t>
            </a:r>
            <a:r>
              <a:rPr sz="900" b="1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Sir,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his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constant</a:t>
            </a:r>
            <a:r>
              <a:rPr sz="900" spc="13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support,</a:t>
            </a:r>
            <a:r>
              <a:rPr sz="900" spc="14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invaluable </a:t>
            </a:r>
            <a:r>
              <a:rPr sz="900" dirty="0">
                <a:latin typeface="Times New Roman"/>
                <a:cs typeface="Times New Roman"/>
              </a:rPr>
              <a:t>mentorship,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insightful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feedback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during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course</a:t>
            </a:r>
            <a:r>
              <a:rPr sz="900" spc="19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this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study.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His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skill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encouragement</a:t>
            </a:r>
            <a:r>
              <a:rPr sz="900" spc="15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engaged</a:t>
            </a:r>
            <a:r>
              <a:rPr sz="900" spc="160" dirty="0">
                <a:latin typeface="Times New Roman"/>
                <a:cs typeface="Times New Roman"/>
              </a:rPr>
              <a:t> 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significant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role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forming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success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study.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We</a:t>
            </a:r>
            <a:r>
              <a:rPr sz="900" dirty="0">
                <a:latin typeface="Times New Roman"/>
                <a:cs typeface="Times New Roman"/>
              </a:rPr>
              <a:t> also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wish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acknowledge</a:t>
            </a:r>
            <a:r>
              <a:rPr sz="900" spc="25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use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Google</a:t>
            </a:r>
            <a:r>
              <a:rPr sz="900" spc="2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Collab,</a:t>
            </a:r>
            <a:r>
              <a:rPr sz="900" spc="275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cloud-based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platform,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which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provided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easy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access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powerful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computing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resources,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making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training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and</a:t>
            </a:r>
            <a:r>
              <a:rPr sz="900" dirty="0">
                <a:latin typeface="Times New Roman"/>
                <a:cs typeface="Times New Roman"/>
              </a:rPr>
              <a:t> testing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our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models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seamless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efficient.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Without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these </a:t>
            </a:r>
            <a:r>
              <a:rPr sz="900" dirty="0">
                <a:latin typeface="Times New Roman"/>
                <a:cs typeface="Times New Roman"/>
              </a:rPr>
              <a:t>contributions,</a:t>
            </a:r>
            <a:r>
              <a:rPr sz="900" spc="19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the</a:t>
            </a:r>
            <a:endParaRPr sz="9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900" dirty="0">
                <a:latin typeface="Times New Roman"/>
                <a:cs typeface="Times New Roman"/>
              </a:rPr>
              <a:t>completion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this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research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would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not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have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been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possible.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744" y="3527043"/>
            <a:ext cx="2809875" cy="6015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1065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Times New Roman"/>
                <a:cs typeface="Times New Roman"/>
              </a:rPr>
              <a:t>IX. </a:t>
            </a:r>
            <a:r>
              <a:rPr sz="1000" spc="-10" dirty="0">
                <a:latin typeface="Times New Roman"/>
                <a:cs typeface="Times New Roman"/>
              </a:rPr>
              <a:t>REFERENCES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Times New Roman"/>
              <a:cs typeface="Times New Roman"/>
            </a:endParaRPr>
          </a:p>
          <a:p>
            <a:pPr marL="18415" marR="28575" indent="-6350" algn="just">
              <a:lnSpc>
                <a:spcPct val="103499"/>
              </a:lnSpc>
            </a:pPr>
            <a:r>
              <a:rPr sz="900" dirty="0">
                <a:latin typeface="Times New Roman"/>
                <a:cs typeface="Times New Roman"/>
              </a:rPr>
              <a:t>[1].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Chao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al.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“A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predictive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delays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line”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(2020)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88900" indent="-6350" algn="just">
              <a:lnSpc>
                <a:spcPct val="104200"/>
              </a:lnSpc>
            </a:pPr>
            <a:r>
              <a:rPr sz="900" dirty="0">
                <a:latin typeface="Times New Roman"/>
                <a:cs typeface="Times New Roman"/>
              </a:rPr>
              <a:t>[2].</a:t>
            </a:r>
            <a:r>
              <a:rPr sz="900" spc="3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Panukorn</a:t>
            </a:r>
            <a:r>
              <a:rPr sz="900" spc="3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Taleongpong</a:t>
            </a:r>
            <a:r>
              <a:rPr sz="900" spc="3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al.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“Machine</a:t>
            </a:r>
            <a:r>
              <a:rPr sz="900" spc="36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learning </a:t>
            </a:r>
            <a:r>
              <a:rPr sz="900" dirty="0">
                <a:latin typeface="Times New Roman"/>
                <a:cs typeface="Times New Roman"/>
              </a:rPr>
              <a:t>techniques</a:t>
            </a:r>
            <a:r>
              <a:rPr sz="900" spc="1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predict</a:t>
            </a:r>
            <a:r>
              <a:rPr sz="900" spc="1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reactionary</a:t>
            </a:r>
            <a:r>
              <a:rPr sz="900" spc="14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15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other </a:t>
            </a:r>
            <a:r>
              <a:rPr sz="900" dirty="0">
                <a:latin typeface="Times New Roman"/>
                <a:cs typeface="Times New Roman"/>
              </a:rPr>
              <a:t>associated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key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performance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indicators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British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railway network”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86995" indent="-6350" algn="just">
              <a:lnSpc>
                <a:spcPct val="102400"/>
              </a:lnSpc>
            </a:pPr>
            <a:r>
              <a:rPr sz="900" dirty="0">
                <a:latin typeface="Times New Roman"/>
                <a:cs typeface="Times New Roman"/>
              </a:rPr>
              <a:t>[3].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Rahul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Nair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et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al.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“An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ensemble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for</a:t>
            </a:r>
            <a:r>
              <a:rPr sz="900" dirty="0">
                <a:latin typeface="Times New Roman"/>
                <a:cs typeface="Times New Roman"/>
              </a:rPr>
              <a:t> train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delays”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3499"/>
              </a:lnSpc>
            </a:pPr>
            <a:r>
              <a:rPr sz="900" dirty="0">
                <a:latin typeface="Times New Roman"/>
                <a:cs typeface="Times New Roman"/>
              </a:rPr>
              <a:t>[4].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Weiwei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Mou,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“Predictive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Model</a:t>
            </a:r>
            <a:r>
              <a:rPr sz="900" spc="10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14" dirty="0">
                <a:latin typeface="Times New Roman"/>
                <a:cs typeface="Times New Roman"/>
              </a:rPr>
              <a:t> </a:t>
            </a:r>
            <a:r>
              <a:rPr sz="900" spc="-50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 Railway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System”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imes New Roman"/>
              <a:cs typeface="Times New Roman"/>
            </a:endParaRPr>
          </a:p>
          <a:p>
            <a:pPr marL="18415" marR="9525" indent="-6350" algn="just">
              <a:lnSpc>
                <a:spcPct val="103499"/>
              </a:lnSpc>
            </a:pPr>
            <a:r>
              <a:rPr sz="900" dirty="0">
                <a:latin typeface="Times New Roman"/>
                <a:cs typeface="Times New Roman"/>
              </a:rPr>
              <a:t>[5].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Francesco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C.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Pavle,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K.,2018.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Stochastic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prediction</a:t>
            </a:r>
            <a:r>
              <a:rPr sz="900" spc="140" dirty="0">
                <a:latin typeface="Times New Roman"/>
                <a:cs typeface="Times New Roman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of</a:t>
            </a:r>
            <a:r>
              <a:rPr sz="900" dirty="0">
                <a:latin typeface="Times New Roman"/>
                <a:cs typeface="Times New Roman"/>
              </a:rPr>
              <a:t> train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delays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real-time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Bayesian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networks.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900">
              <a:latin typeface="Times New Roman"/>
              <a:cs typeface="Times New Roman"/>
            </a:endParaRPr>
          </a:p>
          <a:p>
            <a:pPr marL="19685" marR="13970" algn="just">
              <a:lnSpc>
                <a:spcPct val="103099"/>
              </a:lnSpc>
            </a:pPr>
            <a:r>
              <a:rPr sz="900" dirty="0">
                <a:latin typeface="Times New Roman"/>
                <a:cs typeface="Times New Roman"/>
              </a:rPr>
              <a:t>[6].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Yuan,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J.,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Hansen,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I.A.,2007.</a:t>
            </a:r>
            <a:r>
              <a:rPr sz="900" spc="3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Optimizing</a:t>
            </a:r>
            <a:r>
              <a:rPr sz="900" spc="3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capacity </a:t>
            </a:r>
            <a:r>
              <a:rPr sz="900" dirty="0">
                <a:latin typeface="Times New Roman"/>
                <a:cs typeface="Times New Roman"/>
              </a:rPr>
              <a:t>utilization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stations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by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estimating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knock-on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delays. </a:t>
            </a:r>
            <a:r>
              <a:rPr sz="900" i="1" dirty="0">
                <a:latin typeface="Times New Roman"/>
                <a:cs typeface="Times New Roman"/>
              </a:rPr>
              <a:t>Transportation</a:t>
            </a:r>
            <a:r>
              <a:rPr sz="900" i="1" spc="370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Research</a:t>
            </a:r>
            <a:r>
              <a:rPr sz="900" i="1" spc="380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Part</a:t>
            </a:r>
            <a:r>
              <a:rPr sz="900" i="1" spc="370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B</a:t>
            </a:r>
            <a:r>
              <a:rPr sz="900" i="1" spc="375" dirty="0">
                <a:latin typeface="Times New Roman"/>
                <a:cs typeface="Times New Roman"/>
              </a:rPr>
              <a:t>  </a:t>
            </a:r>
            <a:r>
              <a:rPr sz="900" i="1" spc="-10" dirty="0">
                <a:latin typeface="Times New Roman"/>
                <a:cs typeface="Times New Roman"/>
              </a:rPr>
              <a:t>Methodological </a:t>
            </a:r>
            <a:r>
              <a:rPr sz="900" dirty="0">
                <a:latin typeface="Times New Roman"/>
                <a:cs typeface="Times New Roman"/>
              </a:rPr>
              <a:t>41(2):202-</a:t>
            </a:r>
            <a:r>
              <a:rPr sz="900" spc="-25" dirty="0">
                <a:latin typeface="Times New Roman"/>
                <a:cs typeface="Times New Roman"/>
              </a:rPr>
              <a:t>217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Times New Roman"/>
              <a:cs typeface="Times New Roman"/>
            </a:endParaRPr>
          </a:p>
          <a:p>
            <a:pPr marL="19685" marR="14604" algn="just">
              <a:lnSpc>
                <a:spcPct val="103099"/>
              </a:lnSpc>
            </a:pPr>
            <a:r>
              <a:rPr sz="900" dirty="0">
                <a:latin typeface="Times New Roman"/>
                <a:cs typeface="Times New Roman"/>
              </a:rPr>
              <a:t>[7].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Medeossi,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G.,</a:t>
            </a:r>
            <a:r>
              <a:rPr sz="900" spc="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Longo,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G.,Fabris,</a:t>
            </a:r>
            <a:r>
              <a:rPr sz="900" spc="9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S.D.,2011.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method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using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stochastic</a:t>
            </a:r>
            <a:r>
              <a:rPr sz="900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blocking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times</a:t>
            </a:r>
            <a:r>
              <a:rPr sz="900" spc="1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to</a:t>
            </a:r>
            <a:r>
              <a:rPr sz="900" spc="18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improve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timetable </a:t>
            </a:r>
            <a:r>
              <a:rPr sz="900" dirty="0">
                <a:latin typeface="Times New Roman"/>
                <a:cs typeface="Times New Roman"/>
              </a:rPr>
              <a:t>planning.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Journal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Rail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Transport</a:t>
            </a:r>
            <a:r>
              <a:rPr sz="900" spc="27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Planning</a:t>
            </a:r>
            <a:r>
              <a:rPr sz="900" spc="275" dirty="0">
                <a:latin typeface="Times New Roman"/>
                <a:cs typeface="Times New Roman"/>
              </a:rPr>
              <a:t>  </a:t>
            </a:r>
            <a:r>
              <a:rPr sz="900" spc="-50" dirty="0">
                <a:latin typeface="Times New Roman"/>
                <a:cs typeface="Times New Roman"/>
              </a:rPr>
              <a:t>&amp;</a:t>
            </a:r>
            <a:r>
              <a:rPr sz="900" dirty="0">
                <a:latin typeface="Times New Roman"/>
                <a:cs typeface="Times New Roman"/>
              </a:rPr>
              <a:t> Management</a:t>
            </a:r>
            <a:r>
              <a:rPr sz="900" spc="29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1(1):1-</a:t>
            </a:r>
            <a:r>
              <a:rPr sz="900" spc="-25" dirty="0">
                <a:latin typeface="Times New Roman"/>
                <a:cs typeface="Times New Roman"/>
              </a:rPr>
              <a:t>13.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900">
              <a:latin typeface="Times New Roman"/>
              <a:cs typeface="Times New Roman"/>
            </a:endParaRPr>
          </a:p>
          <a:p>
            <a:pPr marL="19685" marR="17780" algn="just">
              <a:lnSpc>
                <a:spcPct val="104000"/>
              </a:lnSpc>
            </a:pPr>
            <a:r>
              <a:rPr sz="900" dirty="0">
                <a:latin typeface="Times New Roman"/>
                <a:cs typeface="Times New Roman"/>
              </a:rPr>
              <a:t>[8].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Gorman,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M.F.,2009.</a:t>
            </a:r>
            <a:r>
              <a:rPr sz="900" spc="1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Statistical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estimation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of</a:t>
            </a:r>
            <a:r>
              <a:rPr sz="900" spc="15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railroad </a:t>
            </a:r>
            <a:r>
              <a:rPr sz="900" dirty="0">
                <a:latin typeface="Times New Roman"/>
                <a:cs typeface="Times New Roman"/>
              </a:rPr>
              <a:t>congestion</a:t>
            </a:r>
            <a:r>
              <a:rPr sz="900" spc="235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delay.</a:t>
            </a:r>
            <a:r>
              <a:rPr sz="900" i="1" spc="235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Transportation</a:t>
            </a:r>
            <a:r>
              <a:rPr sz="900" i="1" spc="240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Research</a:t>
            </a:r>
            <a:r>
              <a:rPr sz="900" i="1" spc="240" dirty="0">
                <a:latin typeface="Times New Roman"/>
                <a:cs typeface="Times New Roman"/>
              </a:rPr>
              <a:t>  </a:t>
            </a:r>
            <a:r>
              <a:rPr sz="900" i="1" dirty="0">
                <a:latin typeface="Times New Roman"/>
                <a:cs typeface="Times New Roman"/>
              </a:rPr>
              <a:t>Part</a:t>
            </a:r>
            <a:r>
              <a:rPr sz="900" i="1" spc="235" dirty="0">
                <a:latin typeface="Times New Roman"/>
                <a:cs typeface="Times New Roman"/>
              </a:rPr>
              <a:t>  </a:t>
            </a:r>
            <a:r>
              <a:rPr sz="900" i="1" spc="-50" dirty="0">
                <a:latin typeface="Times New Roman"/>
                <a:cs typeface="Times New Roman"/>
              </a:rPr>
              <a:t>E</a:t>
            </a:r>
            <a:r>
              <a:rPr sz="900" i="1" dirty="0">
                <a:latin typeface="Times New Roman"/>
                <a:cs typeface="Times New Roman"/>
              </a:rPr>
              <a:t> Logistics</a:t>
            </a:r>
            <a:r>
              <a:rPr sz="900" i="1" spc="12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&amp;</a:t>
            </a:r>
            <a:r>
              <a:rPr sz="900" i="1" spc="13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Transportation</a:t>
            </a:r>
            <a:r>
              <a:rPr sz="900" i="1" spc="45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Review</a:t>
            </a:r>
            <a:r>
              <a:rPr sz="900" i="1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45(3):446-</a:t>
            </a:r>
            <a:r>
              <a:rPr sz="900" spc="-20" dirty="0">
                <a:latin typeface="Times New Roman"/>
                <a:cs typeface="Times New Roman"/>
              </a:rPr>
              <a:t>456.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00">
              <a:latin typeface="Times New Roman"/>
              <a:cs typeface="Times New Roman"/>
            </a:endParaRPr>
          </a:p>
          <a:p>
            <a:pPr marL="19685" marR="12700" algn="just">
              <a:lnSpc>
                <a:spcPct val="103099"/>
              </a:lnSpc>
            </a:pPr>
            <a:r>
              <a:rPr sz="900" dirty="0">
                <a:latin typeface="Times New Roman"/>
                <a:cs typeface="Times New Roman"/>
              </a:rPr>
              <a:t>[9].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Kecman,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P.,Corman,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F.,Meng,</a:t>
            </a:r>
            <a:r>
              <a:rPr sz="900" spc="2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L.,2015.</a:t>
            </a:r>
            <a:r>
              <a:rPr sz="900" spc="2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2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delay </a:t>
            </a:r>
            <a:r>
              <a:rPr sz="900" dirty="0">
                <a:latin typeface="Times New Roman"/>
                <a:cs typeface="Times New Roman"/>
              </a:rPr>
              <a:t>evolution</a:t>
            </a:r>
            <a:r>
              <a:rPr sz="900" spc="6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stochastic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process.</a:t>
            </a:r>
            <a:r>
              <a:rPr sz="900" spc="7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International</a:t>
            </a:r>
            <a:r>
              <a:rPr sz="900" spc="7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Conference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Railway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Operations</a:t>
            </a:r>
            <a:r>
              <a:rPr sz="900" spc="35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Modelling</a:t>
            </a:r>
            <a:r>
              <a:rPr sz="900" spc="36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&amp;</a:t>
            </a:r>
            <a:r>
              <a:rPr sz="900" spc="355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Analysis- railtokyo,2015.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900">
              <a:latin typeface="Times New Roman"/>
              <a:cs typeface="Times New Roman"/>
            </a:endParaRPr>
          </a:p>
          <a:p>
            <a:pPr marL="19685" marR="15875" algn="just">
              <a:lnSpc>
                <a:spcPct val="102899"/>
              </a:lnSpc>
            </a:pPr>
            <a:r>
              <a:rPr sz="900" dirty="0">
                <a:latin typeface="Times New Roman"/>
                <a:cs typeface="Times New Roman"/>
              </a:rPr>
              <a:t>[10].</a:t>
            </a:r>
            <a:r>
              <a:rPr sz="900" spc="1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Olsson,</a:t>
            </a:r>
            <a:r>
              <a:rPr sz="900" spc="185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N.O.E.,Haugland,</a:t>
            </a:r>
            <a:r>
              <a:rPr sz="900" spc="180" dirty="0">
                <a:latin typeface="Times New Roman"/>
                <a:cs typeface="Times New Roman"/>
              </a:rPr>
              <a:t>  </a:t>
            </a:r>
            <a:r>
              <a:rPr sz="900" dirty="0">
                <a:latin typeface="Times New Roman"/>
                <a:cs typeface="Times New Roman"/>
              </a:rPr>
              <a:t>H.,2004.</a:t>
            </a:r>
            <a:r>
              <a:rPr sz="900" spc="180" dirty="0">
                <a:latin typeface="Times New Roman"/>
                <a:cs typeface="Times New Roman"/>
              </a:rPr>
              <a:t>  </a:t>
            </a:r>
            <a:r>
              <a:rPr sz="900" spc="-10" dirty="0">
                <a:latin typeface="Times New Roman"/>
                <a:cs typeface="Times New Roman"/>
              </a:rPr>
              <a:t>Influencing </a:t>
            </a:r>
            <a:r>
              <a:rPr sz="900" dirty="0">
                <a:latin typeface="Times New Roman"/>
                <a:cs typeface="Times New Roman"/>
              </a:rPr>
              <a:t>factors</a:t>
            </a:r>
            <a:r>
              <a:rPr sz="900" spc="1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train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punctuality-results</a:t>
            </a:r>
            <a:r>
              <a:rPr sz="900" spc="12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from</a:t>
            </a:r>
            <a:r>
              <a:rPr sz="900" spc="13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some</a:t>
            </a:r>
            <a:r>
              <a:rPr sz="900" spc="13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Norwegian </a:t>
            </a:r>
            <a:r>
              <a:rPr sz="900" dirty="0">
                <a:latin typeface="Times New Roman"/>
                <a:cs typeface="Times New Roman"/>
              </a:rPr>
              <a:t>studies.</a:t>
            </a:r>
            <a:r>
              <a:rPr sz="900" spc="170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Transport</a:t>
            </a:r>
            <a:r>
              <a:rPr sz="900" i="1" spc="15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Policy</a:t>
            </a:r>
            <a:r>
              <a:rPr sz="900" i="1" spc="17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11(4):387-</a:t>
            </a:r>
            <a:r>
              <a:rPr sz="900" spc="-25" dirty="0">
                <a:latin typeface="Times New Roman"/>
                <a:cs typeface="Times New Roman"/>
              </a:rPr>
              <a:t>397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972" y="617305"/>
            <a:ext cx="6191744" cy="6191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13169</Words>
  <Application>Microsoft Office PowerPoint</Application>
  <PresentationFormat>Custom</PresentationFormat>
  <Paragraphs>844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 Black</vt:lpstr>
      <vt:lpstr>Arial MT</vt:lpstr>
      <vt:lpstr>Calibri</vt:lpstr>
      <vt:lpstr>Symbol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PREDICTIVE MODEL OF TRAIN DELAYS IN RAILWAY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Tallapelly Ram</dc:creator>
  <cp:lastModifiedBy>Revathi</cp:lastModifiedBy>
  <cp:revision>3</cp:revision>
  <dcterms:created xsi:type="dcterms:W3CDTF">2025-04-15T11:58:14Z</dcterms:created>
  <dcterms:modified xsi:type="dcterms:W3CDTF">2025-04-15T12:35:42Z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2025-04-15T00:00:00Z</vt:filetime>
  </property>
  <property fmtid="{D5CDD505-2E9C-101B-9397-08002B2CF9AE}" pid="3" name="LastSaved">
    <vt:filetime>2025-04-15T00:00:00Z</vt:filetime>
  </property>
  <property fmtid="{D5CDD505-2E9C-101B-9397-08002B2CF9AE}" pid="4" name="Producer">
    <vt:lpwstr>iLovePDF</vt:lpwstr>
  </property>
</Properties>
</file>