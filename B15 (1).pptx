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5" r:id="rId1"/>
  </p:sldMasterIdLst>
  <p:notesMasterIdLst>
    <p:notesMasterId r:id="rId23"/>
  </p:notesMasterIdLst>
  <p:handoutMasterIdLst>
    <p:handoutMasterId r:id="rId24"/>
  </p:handoutMasterIdLst>
  <p:sldIdLst>
    <p:sldId id="257" r:id="rId2"/>
    <p:sldId id="259" r:id="rId3"/>
    <p:sldId id="275" r:id="rId4"/>
    <p:sldId id="278" r:id="rId5"/>
    <p:sldId id="279" r:id="rId6"/>
    <p:sldId id="304" r:id="rId7"/>
    <p:sldId id="297" r:id="rId8"/>
    <p:sldId id="309" r:id="rId9"/>
    <p:sldId id="310" r:id="rId10"/>
    <p:sldId id="305" r:id="rId11"/>
    <p:sldId id="300" r:id="rId12"/>
    <p:sldId id="294" r:id="rId13"/>
    <p:sldId id="308" r:id="rId14"/>
    <p:sldId id="311" r:id="rId15"/>
    <p:sldId id="312" r:id="rId16"/>
    <p:sldId id="313" r:id="rId17"/>
    <p:sldId id="292" r:id="rId18"/>
    <p:sldId id="284" r:id="rId19"/>
    <p:sldId id="285" r:id="rId20"/>
    <p:sldId id="299" r:id="rId21"/>
    <p:sldId id="28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EED9039-6CE6-4430-AF06-026165B31146}">
          <p14:sldIdLst>
            <p14:sldId id="257"/>
            <p14:sldId id="259"/>
            <p14:sldId id="275"/>
            <p14:sldId id="278"/>
            <p14:sldId id="279"/>
            <p14:sldId id="304"/>
            <p14:sldId id="297"/>
            <p14:sldId id="309"/>
            <p14:sldId id="310"/>
          </p14:sldIdLst>
        </p14:section>
        <p14:section name="Untitled Section" id="{0F807C0F-8B5A-4F41-BEFD-5483A1836499}">
          <p14:sldIdLst>
            <p14:sldId id="305"/>
            <p14:sldId id="300"/>
            <p14:sldId id="294"/>
            <p14:sldId id="308"/>
            <p14:sldId id="311"/>
            <p14:sldId id="312"/>
            <p14:sldId id="313"/>
            <p14:sldId id="292"/>
            <p14:sldId id="284"/>
            <p14:sldId id="285"/>
            <p14:sldId id="299"/>
            <p14:sldId id="28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CD8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65" autoAdjust="0"/>
    <p:restoredTop sz="94624" autoAdjust="0"/>
  </p:normalViewPr>
  <p:slideViewPr>
    <p:cSldViewPr>
      <p:cViewPr varScale="1">
        <p:scale>
          <a:sx n="74" d="100"/>
          <a:sy n="74" d="100"/>
        </p:scale>
        <p:origin x="240" y="67"/>
      </p:cViewPr>
      <p:guideLst>
        <p:guide orient="horz" pos="2160"/>
        <p:guide pos="3840"/>
      </p:guideLst>
    </p:cSldViewPr>
  </p:slideViewPr>
  <p:outlineViewPr>
    <p:cViewPr>
      <p:scale>
        <a:sx n="33" d="100"/>
        <a:sy n="33" d="100"/>
      </p:scale>
      <p:origin x="42"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ta Pranathi" userId="1a4a6fe25fbc0f07" providerId="LiveId" clId="{15560445-78B5-467C-AD8D-0570BBC8F438}"/>
    <pc:docChg chg="modSld">
      <pc:chgData name="Thota Pranathi" userId="1a4a6fe25fbc0f07" providerId="LiveId" clId="{15560445-78B5-467C-AD8D-0570BBC8F438}" dt="2025-03-22T05:01:53.189" v="3" actId="20577"/>
      <pc:docMkLst>
        <pc:docMk/>
      </pc:docMkLst>
      <pc:sldChg chg="modSp mod">
        <pc:chgData name="Thota Pranathi" userId="1a4a6fe25fbc0f07" providerId="LiveId" clId="{15560445-78B5-467C-AD8D-0570BBC8F438}" dt="2025-03-22T05:01:53.189" v="3" actId="20577"/>
        <pc:sldMkLst>
          <pc:docMk/>
          <pc:sldMk cId="0" sldId="257"/>
        </pc:sldMkLst>
        <pc:spChg chg="mod">
          <ac:chgData name="Thota Pranathi" userId="1a4a6fe25fbc0f07" providerId="LiveId" clId="{15560445-78B5-467C-AD8D-0570BBC8F438}" dt="2025-03-22T05:01:49.783" v="1" actId="20577"/>
          <ac:spMkLst>
            <pc:docMk/>
            <pc:sldMk cId="0" sldId="257"/>
            <ac:spMk id="16" creationId="{00000000-0000-0000-0000-000000000000}"/>
          </ac:spMkLst>
        </pc:spChg>
        <pc:spChg chg="mod">
          <ac:chgData name="Thota Pranathi" userId="1a4a6fe25fbc0f07" providerId="LiveId" clId="{15560445-78B5-467C-AD8D-0570BBC8F438}" dt="2025-03-22T05:01:53.189" v="3" actId="20577"/>
          <ac:spMkLst>
            <pc:docMk/>
            <pc:sldMk cId="0" sldId="257"/>
            <ac:spMk id="2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8399193-5133-43EF-B201-D80833652566}" type="datetimeFigureOut">
              <a:rPr lang="en-US" smtClean="0"/>
              <a:pPr/>
              <a:t>3/22/2025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61C5227-F552-416F-B6F9-8842300F6E5F}"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65470F-7679-4722-8B70-6CFCA3915583}" type="datetimeFigureOut">
              <a:rPr lang="en-US" smtClean="0"/>
              <a:pPr/>
              <a:t>3/22/2025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BCA488D-DB66-481A-8504-15EF22D845DD}" type="slidenum">
              <a:rPr lang="en-US" smtClean="0"/>
              <a:pPr/>
              <a:t>‹#›</a:t>
            </a:fld>
            <a:endParaRPr 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c6f9544c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c6f9544c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Slide Image Placeholder 1"/>
          <p:cNvSpPr>
            <a:spLocks noGrp="1" noRot="1" noChangeAspect="1"/>
          </p:cNvSpPr>
          <p:nvPr>
            <p:ph type="sldImg"/>
          </p:nvPr>
        </p:nvSpPr>
        <p:spPr>
          <a:xfrm>
            <a:off x="381000" y="685800"/>
            <a:ext cx="6096000" cy="3429000"/>
          </a:xfrm>
        </p:spPr>
      </p:sp>
      <p:sp>
        <p:nvSpPr>
          <p:cNvPr id="1048608"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52552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8949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3319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08564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112648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4AAF75E-284B-4345-89FE-F928E4196485}" type="datetime5">
              <a:rPr lang="en-US" smtClean="0"/>
              <a:pPr/>
              <a:t>22-Mar-25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B17EC044</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065296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62C8B2-93F7-4C22-BBF9-87924F2B8065}"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550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FDED7B-889A-4BCA-B61F-5E5110D824F8}"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898276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98751D-93C2-4F2C-AC80-668957BD4E96}" type="datetime5">
              <a:rPr lang="en-US" smtClean="0"/>
              <a:pPr/>
              <a:t>22-Mar-25</a:t>
            </a:fld>
            <a:endParaRPr lang="en-US" dirty="0"/>
          </a:p>
        </p:txBody>
      </p:sp>
      <p:sp>
        <p:nvSpPr>
          <p:cNvPr id="6" name="Footer Placeholder 5"/>
          <p:cNvSpPr>
            <a:spLocks noGrp="1"/>
          </p:cNvSpPr>
          <p:nvPr>
            <p:ph type="ftr" sz="quarter" idx="11"/>
          </p:nvPr>
        </p:nvSpPr>
        <p:spPr/>
        <p:txBody>
          <a:bodyPr/>
          <a:lstStyle/>
          <a:p>
            <a:r>
              <a:rPr lang="en-US"/>
              <a:t>B17EC044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5063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3CA2A2-E865-432F-A753-0E806FFED768}" type="datetime5">
              <a:rPr lang="en-US" smtClean="0"/>
              <a:pPr/>
              <a:t>22-Mar-25</a:t>
            </a:fld>
            <a:endParaRPr lang="en-US" dirty="0"/>
          </a:p>
        </p:txBody>
      </p:sp>
      <p:sp>
        <p:nvSpPr>
          <p:cNvPr id="8" name="Footer Placeholder 7"/>
          <p:cNvSpPr>
            <a:spLocks noGrp="1"/>
          </p:cNvSpPr>
          <p:nvPr>
            <p:ph type="ftr" sz="quarter" idx="11"/>
          </p:nvPr>
        </p:nvSpPr>
        <p:spPr/>
        <p:txBody>
          <a:bodyPr/>
          <a:lstStyle/>
          <a:p>
            <a:r>
              <a:rPr lang="en-US"/>
              <a:t>B17EC044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949922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BB98D9-2924-42B5-B2DE-16928BB853B6}" type="datetime5">
              <a:rPr lang="en-US" smtClean="0"/>
              <a:pPr/>
              <a:t>22-Mar-25</a:t>
            </a:fld>
            <a:endParaRPr lang="en-US" dirty="0"/>
          </a:p>
        </p:txBody>
      </p:sp>
      <p:sp>
        <p:nvSpPr>
          <p:cNvPr id="4" name="Footer Placeholder 3"/>
          <p:cNvSpPr>
            <a:spLocks noGrp="1"/>
          </p:cNvSpPr>
          <p:nvPr>
            <p:ph type="ftr" sz="quarter" idx="11"/>
          </p:nvPr>
        </p:nvSpPr>
        <p:spPr/>
        <p:txBody>
          <a:bodyPr/>
          <a:lstStyle/>
          <a:p>
            <a:r>
              <a:rPr lang="en-US"/>
              <a:t>B17EC044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82520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FAA6AD-E6CF-4FF8-9CA0-C7F93D76C875}" type="datetime5">
              <a:rPr lang="en-US" smtClean="0"/>
              <a:pPr/>
              <a:t>22-Mar-25</a:t>
            </a:fld>
            <a:endParaRPr lang="en-US" dirty="0"/>
          </a:p>
        </p:txBody>
      </p:sp>
      <p:sp>
        <p:nvSpPr>
          <p:cNvPr id="3" name="Footer Placeholder 2"/>
          <p:cNvSpPr>
            <a:spLocks noGrp="1"/>
          </p:cNvSpPr>
          <p:nvPr>
            <p:ph type="ftr" sz="quarter" idx="11"/>
          </p:nvPr>
        </p:nvSpPr>
        <p:spPr/>
        <p:txBody>
          <a:bodyPr/>
          <a:lstStyle/>
          <a:p>
            <a:r>
              <a:rPr lang="en-US"/>
              <a:t>B17EC044</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8909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50EA68-1B2F-481D-8DED-59F1403E00C6}" type="datetime5">
              <a:rPr lang="en-US" smtClean="0"/>
              <a:pPr/>
              <a:t>22-Mar-25</a:t>
            </a:fld>
            <a:endParaRPr lang="en-US" dirty="0"/>
          </a:p>
        </p:txBody>
      </p:sp>
      <p:sp>
        <p:nvSpPr>
          <p:cNvPr id="6" name="Footer Placeholder 5"/>
          <p:cNvSpPr>
            <a:spLocks noGrp="1"/>
          </p:cNvSpPr>
          <p:nvPr>
            <p:ph type="ftr" sz="quarter" idx="11"/>
          </p:nvPr>
        </p:nvSpPr>
        <p:spPr/>
        <p:txBody>
          <a:bodyPr/>
          <a:lstStyle/>
          <a:p>
            <a:r>
              <a:rPr lang="en-US"/>
              <a:t>B17EC044</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0453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56F7E8-32D4-4EC8-84CE-DFCE19158707}" type="datetime5">
              <a:rPr lang="en-US" smtClean="0"/>
              <a:pPr/>
              <a:t>22-Mar-25</a:t>
            </a:fld>
            <a:endParaRPr lang="en-US" dirty="0"/>
          </a:p>
        </p:txBody>
      </p:sp>
      <p:sp>
        <p:nvSpPr>
          <p:cNvPr id="6" name="Footer Placeholder 5"/>
          <p:cNvSpPr>
            <a:spLocks noGrp="1"/>
          </p:cNvSpPr>
          <p:nvPr>
            <p:ph type="ftr" sz="quarter" idx="11"/>
          </p:nvPr>
        </p:nvSpPr>
        <p:spPr/>
        <p:txBody>
          <a:bodyPr/>
          <a:lstStyle/>
          <a:p>
            <a:r>
              <a:rPr lang="en-US"/>
              <a:t>B17EC044</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540035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2797CD4-48E5-4CDA-B06C-679B3ABD2601}" type="datetime5">
              <a:rPr lang="en-US" smtClean="0"/>
              <a:pPr/>
              <a:t>22-Mar-25</a:t>
            </a:fld>
            <a:endParaRPr lang="en-US" dirty="0"/>
          </a:p>
        </p:txBody>
      </p:sp>
      <p:sp>
        <p:nvSpPr>
          <p:cNvPr id="6" name="Footer Placeholder 5"/>
          <p:cNvSpPr>
            <a:spLocks noGrp="1"/>
          </p:cNvSpPr>
          <p:nvPr>
            <p:ph type="ftr" sz="quarter" idx="11"/>
          </p:nvPr>
        </p:nvSpPr>
        <p:spPr/>
        <p:txBody>
          <a:bodyPr/>
          <a:lstStyle/>
          <a:p>
            <a:r>
              <a:rPr lang="en-US"/>
              <a:t>B17EC044</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555410626"/>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797CD4-48E5-4CDA-B06C-679B3ABD2601}"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74872072"/>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2797CD4-48E5-4CDA-B06C-679B3ABD2601}"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69082949"/>
      </p:ext>
    </p:extLst>
  </p:cSld>
  <p:clrMapOvr>
    <a:masterClrMapping/>
  </p:clrMapOvr>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797CD4-48E5-4CDA-B06C-679B3ABD2601}"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04965885"/>
      </p:ext>
    </p:extLst>
  </p:cSld>
  <p:clrMapOvr>
    <a:masterClrMapping/>
  </p:clrMapOvr>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797CD4-48E5-4CDA-B06C-679B3ABD2601}" type="datetime5">
              <a:rPr lang="en-US" smtClean="0"/>
              <a:pPr/>
              <a:t>22-Mar-25</a:t>
            </a:fld>
            <a:endParaRPr lang="en-US" dirty="0"/>
          </a:p>
        </p:txBody>
      </p:sp>
      <p:sp>
        <p:nvSpPr>
          <p:cNvPr id="8" name="Footer Placeholder 7"/>
          <p:cNvSpPr>
            <a:spLocks noGrp="1"/>
          </p:cNvSpPr>
          <p:nvPr>
            <p:ph type="ftr" sz="quarter" idx="11"/>
          </p:nvPr>
        </p:nvSpPr>
        <p:spPr/>
        <p:txBody>
          <a:bodyPr/>
          <a:lstStyle/>
          <a:p>
            <a:r>
              <a:rPr lang="en-US"/>
              <a:t>B17EC044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71027703"/>
      </p:ext>
    </p:extLst>
  </p:cSld>
  <p:clrMapOvr>
    <a:masterClrMapping/>
  </p:clrMapOvr>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2797CD4-48E5-4CDA-B06C-679B3ABD2601}" type="datetime5">
              <a:rPr lang="en-US" smtClean="0"/>
              <a:pPr/>
              <a:t>22-Mar-25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B17EC044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352069656"/>
      </p:ext>
    </p:extLst>
  </p:cSld>
  <p:clrMapOvr>
    <a:masterClrMapping/>
  </p:clrMapOvr>
  <p:hf sldNum="0"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5DB1EE6-0DD6-4A64-8EBC-A313C8F69C90}"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0652746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D18F7704-1642-49AC-A3C3-1312AFF607B6}" type="datetime5">
              <a:rPr lang="en-US" smtClean="0"/>
              <a:pPr/>
              <a:t>22-Mar-25</a:t>
            </a:fld>
            <a:endParaRPr lang="en-US" dirty="0"/>
          </a:p>
        </p:txBody>
      </p:sp>
      <p:sp>
        <p:nvSpPr>
          <p:cNvPr id="5" name="Footer Placeholder 4"/>
          <p:cNvSpPr>
            <a:spLocks noGrp="1"/>
          </p:cNvSpPr>
          <p:nvPr>
            <p:ph type="ftr" sz="quarter" idx="11"/>
          </p:nvPr>
        </p:nvSpPr>
        <p:spPr/>
        <p:txBody>
          <a:bodyPr/>
          <a:lstStyle/>
          <a:p>
            <a:r>
              <a:rPr lang="en-US"/>
              <a:t>B17EC044</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2282044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aption">
  <p:cSld name="Caption">
    <p:spTree>
      <p:nvGrpSpPr>
        <p:cNvPr id="1" name="Shape 99"/>
        <p:cNvGrpSpPr/>
        <p:nvPr/>
      </p:nvGrpSpPr>
      <p:grpSpPr>
        <a:xfrm>
          <a:off x="0" y="0"/>
          <a:ext cx="0" cy="0"/>
          <a:chOff x="0" y="0"/>
          <a:chExt cx="0" cy="0"/>
        </a:xfrm>
      </p:grpSpPr>
      <p:sp>
        <p:nvSpPr>
          <p:cNvPr id="103" name="Google Shape;103;p10"/>
          <p:cNvSpPr txBox="1">
            <a:spLocks noGrp="1"/>
          </p:cNvSpPr>
          <p:nvPr>
            <p:ph type="body" idx="1"/>
          </p:nvPr>
        </p:nvSpPr>
        <p:spPr>
          <a:xfrm>
            <a:off x="1083636" y="5740501"/>
            <a:ext cx="9248000" cy="698400"/>
          </a:xfrm>
          <a:prstGeom prst="rect">
            <a:avLst/>
          </a:prstGeom>
        </p:spPr>
        <p:txBody>
          <a:bodyPr spcFirstLastPara="1" wrap="square" lIns="91425" tIns="91425" rIns="91425" bIns="91425" anchor="ctr" anchorCtr="0">
            <a:noAutofit/>
          </a:bodyPr>
          <a:lstStyle>
            <a:lvl1pPr marL="457188" lvl="0" indent="-228832">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11296612" y="6217627"/>
            <a:ext cx="731600" cy="524801"/>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43261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20">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2797CD4-48E5-4CDA-B06C-679B3ABD2601}" type="datetime5">
              <a:rPr lang="en-US" smtClean="0"/>
              <a:pPr/>
              <a:t>22-Mar-25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B17EC044</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054726185"/>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 id="2147483791" r:id="rId16"/>
    <p:sldLayoutId id="2147483792" r:id="rId17"/>
    <p:sldLayoutId id="2147483793" r:id="rId18"/>
  </p:sldLayoutIdLst>
  <p:hf sldNum="0" hdr="0" ftr="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39"/>
        <p:cNvGrpSpPr/>
        <p:nvPr/>
      </p:nvGrpSpPr>
      <p:grpSpPr>
        <a:xfrm>
          <a:off x="0" y="0"/>
          <a:ext cx="0" cy="0"/>
          <a:chOff x="0" y="0"/>
          <a:chExt cx="0" cy="0"/>
        </a:xfrm>
      </p:grpSpPr>
      <p:pic>
        <p:nvPicPr>
          <p:cNvPr id="1025" name="Picture 1" descr="1bb1b448-eb7d-4cb3-9254-b7bb410aaaa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457200"/>
            <a:ext cx="1600200" cy="1524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p:cNvSpPr>
            <a:spLocks noChangeArrowheads="1"/>
          </p:cNvSpPr>
          <p:nvPr/>
        </p:nvSpPr>
        <p:spPr bwMode="auto">
          <a:xfrm>
            <a:off x="3886200" y="2057400"/>
            <a:ext cx="5057271" cy="369350"/>
          </a:xfrm>
          <a:prstGeom prst="rect">
            <a:avLst/>
          </a:prstGeom>
          <a:solidFill>
            <a:srgbClr val="FFC000"/>
          </a:solidFill>
          <a:ln>
            <a:noFill/>
          </a:ln>
          <a:effectLst/>
        </p:spPr>
        <p:txBody>
          <a:bodyPr vert="horz" wrap="square" lIns="91456" tIns="45729" rIns="91456" bIns="45729" numCol="1" anchor="ctr" anchorCtr="0" compatLnSpc="1">
            <a:spAutoFit/>
          </a:bodyPr>
          <a:lstStyle/>
          <a:p>
            <a:pPr algn="ctr" defTabSz="914376" eaLnBrk="0" fontAlgn="base" hangingPunct="0">
              <a:spcBef>
                <a:spcPct val="0"/>
              </a:spcBef>
              <a:spcAft>
                <a:spcPct val="0"/>
              </a:spcAft>
            </a:pPr>
            <a:r>
              <a:rPr lang="en-US" dirty="0">
                <a:latin typeface="Times New Roman" panose="02020603050405020304" pitchFamily="18" charset="0"/>
                <a:cs typeface="Times New Roman" panose="02020603050405020304" pitchFamily="18" charset="0"/>
              </a:rPr>
              <a:t>U18EC707 MAJOR PROJECT [AY 2024-25]</a:t>
            </a:r>
            <a:endParaRPr lang="en-US" altLang="en-US"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1981200" y="609600"/>
            <a:ext cx="9753600" cy="1331061"/>
          </a:xfrm>
          <a:prstGeom prst="rect">
            <a:avLst/>
          </a:prstGeom>
          <a:solidFill>
            <a:schemeClr val="accent5">
              <a:lumMod val="20000"/>
              <a:lumOff val="80000"/>
            </a:schemeClr>
          </a:solidFill>
        </p:spPr>
        <p:txBody>
          <a:bodyPr wrap="square" lIns="68509" tIns="34254" rIns="68509" bIns="34254" rtlCol="0" anchor="t">
            <a:spAutoFit/>
          </a:bodyPr>
          <a:lstStyle/>
          <a:p>
            <a:pPr algn="ctr"/>
            <a:r>
              <a:rPr lang="en-US" sz="2400" u="sng" dirty="0">
                <a:latin typeface="Times New Roman" panose="02020603050405020304" pitchFamily="18" charset="0"/>
                <a:cs typeface="Times New Roman" panose="02020603050405020304" pitchFamily="18" charset="0"/>
              </a:rPr>
              <a:t>KAKATIYA INSTITUTE OF TECHNOLOGY &amp; SCIENCE,WARANGAL</a:t>
            </a:r>
          </a:p>
          <a:p>
            <a:pPr algn="ctr"/>
            <a:r>
              <a:rPr lang="en-US" sz="1600" dirty="0">
                <a:latin typeface="Times New Roman" panose="02020603050405020304" pitchFamily="18" charset="0"/>
                <a:cs typeface="Times New Roman" panose="02020603050405020304" pitchFamily="18" charset="0"/>
              </a:rPr>
              <a:t>(</a:t>
            </a:r>
            <a:r>
              <a:rPr lang="en-US" sz="1600" i="1" dirty="0">
                <a:latin typeface="Times New Roman" panose="02020603050405020304" pitchFamily="18" charset="0"/>
                <a:cs typeface="Times New Roman" panose="02020603050405020304" pitchFamily="18" charset="0"/>
              </a:rPr>
              <a:t>An AUTONOMOUS Institute under </a:t>
            </a:r>
            <a:r>
              <a:rPr lang="en-US" sz="1600" dirty="0">
                <a:latin typeface="Times New Roman" panose="02020603050405020304" pitchFamily="18" charset="0"/>
                <a:cs typeface="Times New Roman" panose="02020603050405020304" pitchFamily="18" charset="0"/>
              </a:rPr>
              <a:t>KAKATIYA UNIVERSITY </a:t>
            </a:r>
            <a:r>
              <a:rPr lang="en-US" sz="1600" i="1" dirty="0">
                <a:latin typeface="Times New Roman" panose="02020603050405020304" pitchFamily="18" charset="0"/>
                <a:cs typeface="Times New Roman" panose="02020603050405020304" pitchFamily="18" charset="0"/>
              </a:rPr>
              <a:t>– Warangal</a:t>
            </a:r>
            <a:r>
              <a:rPr lang="en-US" sz="1600" dirty="0">
                <a:latin typeface="Times New Roman" panose="02020603050405020304" pitchFamily="18" charset="0"/>
                <a:cs typeface="Times New Roman" panose="02020603050405020304" pitchFamily="18" charset="0"/>
              </a:rPr>
              <a:t>)</a:t>
            </a:r>
          </a:p>
          <a:p>
            <a:pPr algn="ctr"/>
            <a:r>
              <a:rPr lang="en-US" sz="1200" dirty="0">
                <a:latin typeface="Times New Roman" panose="02020603050405020304" pitchFamily="18" charset="0"/>
                <a:cs typeface="Times New Roman" panose="02020603050405020304" pitchFamily="18" charset="0"/>
              </a:rPr>
              <a:t>Opp:Yeragattu Gutta, Hasanparthy(M),Warangal,Telangana-506015 (INDIA)</a:t>
            </a:r>
          </a:p>
          <a:p>
            <a:pPr algn="ctr"/>
            <a:endParaRPr lang="en-US" sz="1200" dirty="0">
              <a:latin typeface="Times New Roman" panose="02020603050405020304" pitchFamily="18" charset="0"/>
              <a:cs typeface="Times New Roman" panose="02020603050405020304" pitchFamily="18" charset="0"/>
            </a:endParaRPr>
          </a:p>
          <a:p>
            <a:pPr algn="ctr"/>
            <a:r>
              <a:rPr lang="en-US" b="1" dirty="0">
                <a:latin typeface="Times New Roman" panose="02020603050405020304"/>
                <a:cs typeface="Times New Roman" panose="02020603050405020304"/>
              </a:rPr>
              <a:t>DEPARTMENT OF ELECTRONICS &amp; COMMUNICATION ENGINEERING</a:t>
            </a:r>
            <a:endParaRPr lang="en-US" sz="1349" b="1" dirty="0">
              <a:latin typeface="Times New Roman" panose="02020603050405020304" pitchFamily="18" charset="0"/>
              <a:cs typeface="Times New Roman" panose="02020603050405020304" pitchFamily="18" charset="0"/>
            </a:endParaRPr>
          </a:p>
        </p:txBody>
      </p:sp>
      <p:cxnSp>
        <p:nvCxnSpPr>
          <p:cNvPr id="17" name="Straight Connector 16"/>
          <p:cNvCxnSpPr>
            <a:cxnSpLocks/>
          </p:cNvCxnSpPr>
          <p:nvPr/>
        </p:nvCxnSpPr>
        <p:spPr>
          <a:xfrm>
            <a:off x="457200" y="5410200"/>
            <a:ext cx="11506200" cy="1588"/>
          </a:xfrm>
          <a:prstGeom prst="line">
            <a:avLst/>
          </a:prstGeom>
        </p:spPr>
        <p:style>
          <a:lnRef idx="2">
            <a:schemeClr val="dk1"/>
          </a:lnRef>
          <a:fillRef idx="0">
            <a:schemeClr val="dk1"/>
          </a:fillRef>
          <a:effectRef idx="1">
            <a:schemeClr val="dk1"/>
          </a:effectRef>
          <a:fontRef idx="minor">
            <a:schemeClr val="tx1"/>
          </a:fontRef>
        </p:style>
      </p:cxnSp>
      <p:sp>
        <p:nvSpPr>
          <p:cNvPr id="19" name="TextBox 18"/>
          <p:cNvSpPr txBox="1"/>
          <p:nvPr/>
        </p:nvSpPr>
        <p:spPr>
          <a:xfrm>
            <a:off x="4648200" y="4114800"/>
            <a:ext cx="3200400" cy="915563"/>
          </a:xfrm>
          <a:prstGeom prst="rect">
            <a:avLst/>
          </a:prstGeom>
          <a:solidFill>
            <a:srgbClr val="FFC000"/>
          </a:solidFill>
        </p:spPr>
        <p:txBody>
          <a:bodyPr wrap="square" lIns="68509" tIns="34254" rIns="68509" bIns="34254" rtlCol="0" anchor="t">
            <a:spAutoFit/>
          </a:bodyPr>
          <a:lstStyle/>
          <a:p>
            <a:pPr algn="ctr"/>
            <a:r>
              <a:rPr lang="en-US" sz="2400" dirty="0">
                <a:latin typeface="Times New Roman" panose="02020603050405020304" pitchFamily="18" charset="0"/>
                <a:cs typeface="Times New Roman" panose="02020603050405020304" pitchFamily="18" charset="0"/>
              </a:rPr>
              <a:t>    </a:t>
            </a:r>
            <a:r>
              <a:rPr lang="en-US" sz="2000" u="sng" dirty="0">
                <a:latin typeface="Times New Roman" panose="02020603050405020304" pitchFamily="18" charset="0"/>
                <a:cs typeface="Times New Roman" panose="02020603050405020304" pitchFamily="18" charset="0"/>
              </a:rPr>
              <a:t>Major Project Supervisor</a:t>
            </a:r>
          </a:p>
          <a:p>
            <a:pPr algn="ctr"/>
            <a:r>
              <a:rPr lang="en-US" sz="2000" b="1" dirty="0">
                <a:latin typeface="Times New Roman" panose="02020603050405020304"/>
                <a:cs typeface="Times New Roman" panose="02020603050405020304"/>
              </a:rPr>
              <a:t>    SRI E.SURESH</a:t>
            </a:r>
            <a:endParaRPr lang="en-US" sz="2000" b="1" dirty="0">
              <a:latin typeface="Times New Roman" panose="02020603050405020304" pitchFamily="18" charset="0"/>
              <a:cs typeface="Times New Roman" panose="02020603050405020304" pitchFamily="18" charset="0"/>
            </a:endParaRPr>
          </a:p>
          <a:p>
            <a:pPr algn="ctr"/>
            <a:r>
              <a:rPr lang="en-US" sz="1100" dirty="0">
                <a:latin typeface="Times New Roman" panose="02020603050405020304"/>
                <a:cs typeface="Times New Roman" panose="02020603050405020304"/>
              </a:rPr>
              <a:t>    Assoc Prof-Dept of ECE</a:t>
            </a:r>
            <a:endParaRPr lang="en-IN" sz="1000" dirty="0">
              <a:latin typeface="Times New Roman" panose="02020603050405020304"/>
              <a:cs typeface="Times New Roman" panose="02020603050405020304"/>
            </a:endParaRPr>
          </a:p>
        </p:txBody>
      </p:sp>
      <p:sp>
        <p:nvSpPr>
          <p:cNvPr id="16" name="TextBox 15"/>
          <p:cNvSpPr txBox="1"/>
          <p:nvPr/>
        </p:nvSpPr>
        <p:spPr>
          <a:xfrm>
            <a:off x="476865" y="5764233"/>
            <a:ext cx="3657600" cy="892552"/>
          </a:xfrm>
          <a:prstGeom prst="rect">
            <a:avLst/>
          </a:prstGeom>
          <a:noFill/>
        </p:spPr>
        <p:txBody>
          <a:bodyPr wrap="square" rtlCol="0">
            <a:spAutoFit/>
          </a:bodyPr>
          <a:lstStyle/>
          <a:p>
            <a:pPr algn="ctr"/>
            <a:r>
              <a:rPr lang="en-US" sz="1491"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rPr>
              <a:t>Major Project Coordinator-8ECE3</a:t>
            </a:r>
          </a:p>
          <a:p>
            <a:pPr algn="ctr"/>
            <a:r>
              <a:rPr lang="en-US" b="1" dirty="0" err="1">
                <a:latin typeface="Times New Roman" panose="02020603050405020304" pitchFamily="18" charset="0"/>
                <a:cs typeface="Times New Roman" panose="02020603050405020304" pitchFamily="18" charset="0"/>
              </a:rPr>
              <a:t>Dr.R.Srikanth</a:t>
            </a:r>
            <a:endParaRPr lang="en-US" b="1"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Asst Prof-Dept of ECE</a:t>
            </a:r>
            <a:endParaRPr lang="en-IN" sz="1600" dirty="0">
              <a:latin typeface="Times New Roman" panose="02020603050405020304" pitchFamily="18" charset="0"/>
              <a:cs typeface="Times New Roman" panose="02020603050405020304" pitchFamily="18" charset="0"/>
            </a:endParaRPr>
          </a:p>
        </p:txBody>
      </p:sp>
      <p:sp>
        <p:nvSpPr>
          <p:cNvPr id="18" name="TextBox 17"/>
          <p:cNvSpPr txBox="1"/>
          <p:nvPr/>
        </p:nvSpPr>
        <p:spPr>
          <a:xfrm>
            <a:off x="4644614" y="5764233"/>
            <a:ext cx="3131371" cy="954107"/>
          </a:xfrm>
          <a:prstGeom prst="rect">
            <a:avLst/>
          </a:prstGeom>
          <a:noFill/>
        </p:spPr>
        <p:txBody>
          <a:bodyPr wrap="square" rtlCol="0">
            <a:spAutoFit/>
          </a:bodyPr>
          <a:lstStyle/>
          <a:p>
            <a:pPr algn="ctr"/>
            <a:r>
              <a:rPr lang="en-US" sz="2000" u="sng" dirty="0">
                <a:latin typeface="Times New Roman" panose="02020603050405020304" pitchFamily="18" charset="0"/>
                <a:cs typeface="Times New Roman" panose="02020603050405020304" pitchFamily="18" charset="0"/>
              </a:rPr>
              <a:t>Major Project Convenor</a:t>
            </a:r>
          </a:p>
          <a:p>
            <a:pPr algn="ctr"/>
            <a:r>
              <a:rPr lang="en-US" sz="2000"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A.Vijaya</a:t>
            </a:r>
            <a:endParaRPr lang="en-US" sz="2000" b="1"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Assoc</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Prof-Dept of ECE</a:t>
            </a:r>
            <a:endParaRPr lang="en-IN" sz="1600"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8763000" y="5791199"/>
            <a:ext cx="3065461" cy="900174"/>
          </a:xfrm>
          <a:prstGeom prst="rect">
            <a:avLst/>
          </a:prstGeom>
          <a:noFill/>
        </p:spPr>
        <p:txBody>
          <a:bodyPr wrap="square" lIns="68509" tIns="34254" rIns="68509" bIns="34254" rtlCol="0" anchor="t">
            <a:spAutoFit/>
          </a:bodyPr>
          <a:lstStyle/>
          <a:p>
            <a:pPr algn="ctr"/>
            <a:r>
              <a:rPr lang="en-US" sz="2000" u="sng" dirty="0">
                <a:latin typeface="Times New Roman" panose="02020603050405020304" pitchFamily="18" charset="0"/>
                <a:cs typeface="Times New Roman" panose="02020603050405020304" pitchFamily="18" charset="0"/>
              </a:rPr>
              <a:t>Head of the Department</a:t>
            </a:r>
          </a:p>
          <a:p>
            <a:pPr algn="ctr"/>
            <a:r>
              <a:rPr lang="en-US" b="1" dirty="0" err="1">
                <a:latin typeface="Times New Roman" panose="02020603050405020304"/>
                <a:cs typeface="Times New Roman" panose="02020603050405020304"/>
              </a:rPr>
              <a:t>Dr.V.Venkateshwar</a:t>
            </a:r>
            <a:r>
              <a:rPr lang="en-US" b="1" dirty="0">
                <a:latin typeface="Times New Roman" panose="02020603050405020304"/>
                <a:cs typeface="Times New Roman" panose="02020603050405020304"/>
              </a:rPr>
              <a:t> Reddy</a:t>
            </a:r>
            <a:endParaRPr lang="en-US" sz="1200" b="1"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a:cs typeface="Times New Roman" panose="02020603050405020304"/>
              </a:rPr>
              <a:t>Assoc Prof-Dept of ECE</a:t>
            </a:r>
            <a:endParaRPr lang="en-IN" sz="1000" dirty="0">
              <a:latin typeface="Times New Roman" panose="02020603050405020304"/>
              <a:cs typeface="Times New Roman" panose="02020603050405020304"/>
            </a:endParaRPr>
          </a:p>
        </p:txBody>
      </p:sp>
      <p:sp>
        <p:nvSpPr>
          <p:cNvPr id="4" name="TextBox 3"/>
          <p:cNvSpPr txBox="1"/>
          <p:nvPr/>
        </p:nvSpPr>
        <p:spPr>
          <a:xfrm>
            <a:off x="381000" y="2590800"/>
            <a:ext cx="11201400" cy="971988"/>
          </a:xfrm>
          <a:prstGeom prst="rect">
            <a:avLst/>
          </a:prstGeom>
          <a:solidFill>
            <a:schemeClr val="accent6">
              <a:lumMod val="20000"/>
              <a:lumOff val="80000"/>
            </a:schemeClr>
          </a:solidFill>
        </p:spPr>
        <p:txBody>
          <a:bodyPr wrap="square" lIns="68509" tIns="34254" rIns="68509" bIns="34254" rtlCol="0" anchor="t">
            <a:spAutoFit/>
          </a:bodyPr>
          <a:lstStyle/>
          <a:p>
            <a:pPr algn="ctr">
              <a:spcBef>
                <a:spcPts val="365"/>
              </a:spcBef>
            </a:pPr>
            <a:r>
              <a:rPr lang="en-US" dirty="0">
                <a:latin typeface="Times New Roman" panose="02020603050405020304"/>
                <a:cs typeface="Times New Roman" panose="02020603050405020304"/>
              </a:rPr>
              <a:t>Title:</a:t>
            </a:r>
            <a:r>
              <a:rPr lang="en-US" sz="1800" b="1" dirty="0">
                <a:latin typeface="Times New Roman" panose="02020603050405020304" pitchFamily="18" charset="0"/>
                <a:cs typeface="Times New Roman" panose="02020603050405020304" pitchFamily="18" charset="0"/>
              </a:rPr>
              <a:t> PREDICTIVE MODEL OF TRAIN DELAYS IN A RAILWAY SYSTEM</a:t>
            </a:r>
            <a:endParaRPr lang="en-US" dirty="0">
              <a:latin typeface="Times New Roman" panose="02020603050405020304"/>
              <a:cs typeface="Times New Roman" panose="02020603050405020304"/>
            </a:endParaRPr>
          </a:p>
          <a:p>
            <a:pPr algn="ctr">
              <a:spcBef>
                <a:spcPts val="365"/>
              </a:spcBef>
            </a:pPr>
            <a:r>
              <a:rPr lang="en-US" dirty="0">
                <a:latin typeface="Times New Roman" panose="02020603050405020304"/>
                <a:cs typeface="Times New Roman" panose="02020603050405020304"/>
              </a:rPr>
              <a:t>Research </a:t>
            </a:r>
            <a:r>
              <a:rPr lang="en-US" dirty="0" err="1">
                <a:latin typeface="Times New Roman" panose="02020603050405020304"/>
                <a:cs typeface="Times New Roman" panose="02020603050405020304"/>
              </a:rPr>
              <a:t>Group:Machine</a:t>
            </a:r>
            <a:r>
              <a:rPr lang="en-US" dirty="0">
                <a:latin typeface="Times New Roman" panose="02020603050405020304"/>
                <a:cs typeface="Times New Roman" panose="02020603050405020304"/>
              </a:rPr>
              <a:t> Learning using python</a:t>
            </a:r>
          </a:p>
          <a:p>
            <a:pPr algn="ctr">
              <a:spcBef>
                <a:spcPts val="365"/>
              </a:spcBef>
            </a:pPr>
            <a:r>
              <a:rPr lang="en-US" sz="1600" b="1" dirty="0">
                <a:latin typeface="Times New Roman" panose="02020603050405020304"/>
                <a:cs typeface="Times New Roman" panose="02020603050405020304"/>
              </a:rPr>
              <a:t>BATCH NO:15</a:t>
            </a:r>
            <a:endParaRPr lang="en-IN" sz="1349"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9600" y="3962400"/>
            <a:ext cx="3792793" cy="1300283"/>
          </a:xfrm>
          <a:prstGeom prst="rect">
            <a:avLst/>
          </a:prstGeom>
          <a:solidFill>
            <a:schemeClr val="tx2">
              <a:lumMod val="20000"/>
              <a:lumOff val="80000"/>
            </a:schemeClr>
          </a:solidFill>
        </p:spPr>
        <p:txBody>
          <a:bodyPr wrap="square" lIns="68509" tIns="34254" rIns="68509" bIns="34254" rtlCol="0" anchor="t">
            <a:spAutoFit/>
          </a:bodyPr>
          <a:lstStyle/>
          <a:p>
            <a:r>
              <a:rPr lang="en-US" sz="1600" dirty="0">
                <a:latin typeface="Times New Roman" panose="02020603050405020304" pitchFamily="18" charset="0"/>
                <a:cs typeface="Times New Roman" panose="02020603050405020304" pitchFamily="18" charset="0"/>
              </a:rPr>
              <a:t>Team members: </a:t>
            </a:r>
          </a:p>
          <a:p>
            <a:pPr marL="599435" lvl="1" indent="-256901">
              <a:buFont typeface="+mj-lt"/>
              <a:buAutoNum type="arabicPeriod"/>
            </a:pPr>
            <a:r>
              <a:rPr lang="en-US" sz="1600" dirty="0">
                <a:latin typeface="Times New Roman" panose="02020603050405020304"/>
                <a:cs typeface="Times New Roman" panose="02020603050405020304"/>
              </a:rPr>
              <a:t>B21EC154     T.PRANATHI</a:t>
            </a:r>
            <a:endParaRPr lang="en-US" sz="1600" dirty="0">
              <a:latin typeface="Times New Roman" panose="02020603050405020304" pitchFamily="18" charset="0"/>
              <a:cs typeface="Times New Roman" panose="02020603050405020304" pitchFamily="18" charset="0"/>
            </a:endParaRPr>
          </a:p>
          <a:p>
            <a:pPr marL="599435" lvl="1" indent="-256901">
              <a:buFont typeface="Calibri Light" panose="020F0302020204030204"/>
              <a:buAutoNum type="arabicPeriod"/>
            </a:pPr>
            <a:r>
              <a:rPr lang="en-US" sz="1600" dirty="0">
                <a:latin typeface="Times New Roman" panose="02020603050405020304"/>
                <a:cs typeface="Times New Roman" panose="02020603050405020304"/>
              </a:rPr>
              <a:t>B21EC182     U.SANJANA</a:t>
            </a:r>
            <a:endParaRPr lang="en-US" sz="1600" dirty="0">
              <a:latin typeface="Times New Roman" panose="02020603050405020304" pitchFamily="18" charset="0"/>
              <a:cs typeface="Times New Roman" panose="02020603050405020304" pitchFamily="18" charset="0"/>
            </a:endParaRPr>
          </a:p>
          <a:p>
            <a:pPr marL="599435" lvl="1" indent="-256901">
              <a:buFont typeface="+mj-lt"/>
              <a:buAutoNum type="arabicPeriod"/>
            </a:pPr>
            <a:r>
              <a:rPr lang="en-US" sz="1600" dirty="0">
                <a:latin typeface="Times New Roman" panose="02020603050405020304"/>
                <a:cs typeface="Times New Roman" panose="02020603050405020304"/>
              </a:rPr>
              <a:t>B21EC145     G.SINDHUSRI</a:t>
            </a:r>
          </a:p>
          <a:p>
            <a:pPr marL="599435" lvl="1" indent="-256901">
              <a:buFont typeface="+mj-lt"/>
              <a:buAutoNum type="arabicPeriod"/>
            </a:pPr>
            <a:r>
              <a:rPr lang="en-US" sz="1600" dirty="0">
                <a:latin typeface="Times New Roman" panose="02020603050405020304"/>
                <a:cs typeface="Times New Roman" panose="02020603050405020304"/>
              </a:rPr>
              <a:t>B21EC176     T.RAMCHARANTEJ</a:t>
            </a:r>
            <a:endParaRPr lang="en-US" sz="1600" dirty="0">
              <a:latin typeface="Times New Roman" panose="02020603050405020304" pitchFamily="18" charset="0"/>
              <a:cs typeface="Times New Roman" panose="02020603050405020304" pitchFamily="18" charset="0"/>
            </a:endParaRPr>
          </a:p>
        </p:txBody>
      </p:sp>
      <p:sp>
        <p:nvSpPr>
          <p:cNvPr id="22" name="TextBox 21"/>
          <p:cNvSpPr txBox="1"/>
          <p:nvPr/>
        </p:nvSpPr>
        <p:spPr>
          <a:xfrm>
            <a:off x="8094407" y="4245078"/>
            <a:ext cx="3505200" cy="769441"/>
          </a:xfrm>
          <a:prstGeom prst="rect">
            <a:avLst/>
          </a:prstGeom>
          <a:solidFill>
            <a:srgbClr val="92D050"/>
          </a:solid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Presentation no</a:t>
            </a:r>
            <a:r>
              <a:rPr lang="en-US" sz="2400">
                <a:latin typeface="Times New Roman" panose="02020603050405020304" pitchFamily="18" charset="0"/>
                <a:cs typeface="Times New Roman" panose="02020603050405020304" pitchFamily="18" charset="0"/>
              </a:rPr>
              <a:t>: 3</a:t>
            </a:r>
            <a:endParaRPr lang="en-US" sz="2400" dirty="0">
              <a:latin typeface="Times New Roman" panose="02020603050405020304" pitchFamily="18" charset="0"/>
              <a:cs typeface="Times New Roman" panose="02020603050405020304" pitchFamily="18" charset="0"/>
            </a:endParaRPr>
          </a:p>
          <a:p>
            <a:pPr algn="ctr"/>
            <a:r>
              <a:rPr lang="en-IN" sz="2000" dirty="0">
                <a:latin typeface="Times New Roman" panose="02020603050405020304" pitchFamily="18" charset="0"/>
                <a:cs typeface="Times New Roman" panose="02020603050405020304" pitchFamily="18" charset="0"/>
              </a:rPr>
              <a:t>(Registration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065B5C-0C13-CA33-34F1-2EB5BE0127B7}"/>
              </a:ext>
            </a:extLst>
          </p:cNvPr>
          <p:cNvSpPr>
            <a:spLocks noGrp="1"/>
          </p:cNvSpPr>
          <p:nvPr>
            <p:ph type="title"/>
          </p:nvPr>
        </p:nvSpPr>
        <p:spPr>
          <a:xfrm>
            <a:off x="1066800" y="288347"/>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PRESENTATION CONTENT</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048606" name="Content Placeholder 2"/>
          <p:cNvSpPr>
            <a:spLocks noGrp="1"/>
          </p:cNvSpPr>
          <p:nvPr>
            <p:ph idx="1"/>
          </p:nvPr>
        </p:nvSpPr>
        <p:spPr>
          <a:xfrm>
            <a:off x="812390" y="1371600"/>
            <a:ext cx="10567219" cy="4643949"/>
          </a:xfrm>
          <a:solidFill>
            <a:schemeClr val="bg1"/>
          </a:solidFill>
        </p:spPr>
        <p:txBody>
          <a:bodyPr>
            <a:normAutofit fontScale="51154" lnSpcReduction="20000"/>
          </a:bodyPr>
          <a:lstStyle/>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OBJECTIVE AND EXPECTED OUTCOME</a:t>
            </a:r>
            <a:endParaRPr lang="en-US" sz="3800" dirty="0">
              <a:solidFill>
                <a:schemeClr val="tx1"/>
              </a:solidFill>
              <a:latin typeface="Times New Roman" pitchFamily="18" charset="0"/>
              <a:cs typeface="Times New Roman" pitchFamily="18" charset="0"/>
            </a:endParaRP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INTRODUCTION</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EXISTING METHODS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DRAWBACK OF EXISTING METHODS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PROPOSED METHOD</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DELAY PARAMETERS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ADVANTAGES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BLOCK DIAGRAM</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RESULTS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APPLICATIONS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REQUIRED TOOLS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REFERENCES</a:t>
            </a:r>
          </a:p>
          <a:p>
            <a:pPr>
              <a:buClr>
                <a:schemeClr val="tx1"/>
              </a:buClr>
              <a:buFont typeface="Wingdings" pitchFamily="2" charset="2"/>
              <a:buChar char="Ø"/>
            </a:pPr>
            <a:r>
              <a:rPr lang="en-IN" sz="3800" dirty="0">
                <a:solidFill>
                  <a:schemeClr val="tx1"/>
                </a:solidFill>
                <a:latin typeface="Times New Roman" pitchFamily="18" charset="0"/>
                <a:cs typeface="Times New Roman" pitchFamily="18" charset="0"/>
              </a:rPr>
              <a:t>TIMELINE</a:t>
            </a:r>
            <a:endParaRPr lang="en-US" sz="3800" dirty="0">
              <a:solidFill>
                <a:schemeClr val="tx1"/>
              </a:solidFill>
              <a:latin typeface="Times New Roman" pitchFamily="18" charset="0"/>
              <a:cs typeface="Times New Roman" pitchFamily="18" charset="0"/>
            </a:endParaRPr>
          </a:p>
          <a:p>
            <a:pPr>
              <a:buClrTx/>
              <a:buFont typeface="Wingdings" pitchFamily="2" charset="2"/>
              <a:buChar char="Ø"/>
            </a:pPr>
            <a:endParaRPr lang="en-US" sz="2900" dirty="0"/>
          </a:p>
          <a:p>
            <a:endParaRPr lang="en-US" sz="2900" dirty="0"/>
          </a:p>
          <a:p>
            <a:endParaRPr lang="en-US" dirty="0"/>
          </a:p>
          <a:p>
            <a:endParaRPr lang="en-US" dirty="0"/>
          </a:p>
        </p:txBody>
      </p:sp>
      <p:sp>
        <p:nvSpPr>
          <p:cNvPr id="1048603" name="Date Placeholder 5"/>
          <p:cNvSpPr>
            <a:spLocks noGrp="1"/>
          </p:cNvSpPr>
          <p:nvPr>
            <p:ph type="dt" sz="half" idx="10"/>
          </p:nvPr>
        </p:nvSpPr>
        <p:spPr/>
        <p:txBody>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48606">
                                            <p:bg/>
                                          </p:spTgt>
                                        </p:tgtEl>
                                        <p:attrNameLst>
                                          <p:attrName>style.visibility</p:attrName>
                                        </p:attrNameLst>
                                      </p:cBhvr>
                                      <p:to>
                                        <p:strVal val="visible"/>
                                      </p:to>
                                    </p:set>
                                    <p:animEffect transition="in" filter="fade">
                                      <p:cBhvr>
                                        <p:cTn id="7" dur="1000"/>
                                        <p:tgtEl>
                                          <p:spTgt spid="1048606">
                                            <p:bg/>
                                          </p:spTgt>
                                        </p:tgtEl>
                                      </p:cBhvr>
                                    </p:animEffect>
                                    <p:anim calcmode="lin" valueType="num">
                                      <p:cBhvr>
                                        <p:cTn id="8" dur="1000" fill="hold"/>
                                        <p:tgtEl>
                                          <p:spTgt spid="1048606">
                                            <p:bg/>
                                          </p:spTgt>
                                        </p:tgtEl>
                                        <p:attrNameLst>
                                          <p:attrName>ppt_x</p:attrName>
                                        </p:attrNameLst>
                                      </p:cBhvr>
                                      <p:tavLst>
                                        <p:tav tm="0">
                                          <p:val>
                                            <p:strVal val="#ppt_x"/>
                                          </p:val>
                                        </p:tav>
                                        <p:tav tm="100000">
                                          <p:val>
                                            <p:strVal val="#ppt_x"/>
                                          </p:val>
                                        </p:tav>
                                      </p:tavLst>
                                    </p:anim>
                                    <p:anim calcmode="lin" valueType="num">
                                      <p:cBhvr>
                                        <p:cTn id="9" dur="1000" fill="hold"/>
                                        <p:tgtEl>
                                          <p:spTgt spid="1048606">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48606">
                                            <p:txEl>
                                              <p:pRg st="0" end="0"/>
                                            </p:txEl>
                                          </p:spTgt>
                                        </p:tgtEl>
                                        <p:attrNameLst>
                                          <p:attrName>style.visibility</p:attrName>
                                        </p:attrNameLst>
                                      </p:cBhvr>
                                      <p:to>
                                        <p:strVal val="visible"/>
                                      </p:to>
                                    </p:set>
                                    <p:animEffect transition="in" filter="fade">
                                      <p:cBhvr>
                                        <p:cTn id="14" dur="1000"/>
                                        <p:tgtEl>
                                          <p:spTgt spid="1048606">
                                            <p:txEl>
                                              <p:pRg st="0" end="0"/>
                                            </p:txEl>
                                          </p:spTgt>
                                        </p:tgtEl>
                                      </p:cBhvr>
                                    </p:animEffect>
                                    <p:anim calcmode="lin" valueType="num">
                                      <p:cBhvr>
                                        <p:cTn id="15" dur="1000" fill="hold"/>
                                        <p:tgtEl>
                                          <p:spTgt spid="104860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4860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48606">
                                            <p:txEl>
                                              <p:pRg st="1" end="1"/>
                                            </p:txEl>
                                          </p:spTgt>
                                        </p:tgtEl>
                                        <p:attrNameLst>
                                          <p:attrName>style.visibility</p:attrName>
                                        </p:attrNameLst>
                                      </p:cBhvr>
                                      <p:to>
                                        <p:strVal val="visible"/>
                                      </p:to>
                                    </p:set>
                                    <p:animEffect transition="in" filter="fade">
                                      <p:cBhvr>
                                        <p:cTn id="21" dur="1000"/>
                                        <p:tgtEl>
                                          <p:spTgt spid="1048606">
                                            <p:txEl>
                                              <p:pRg st="1" end="1"/>
                                            </p:txEl>
                                          </p:spTgt>
                                        </p:tgtEl>
                                      </p:cBhvr>
                                    </p:animEffect>
                                    <p:anim calcmode="lin" valueType="num">
                                      <p:cBhvr>
                                        <p:cTn id="22" dur="1000" fill="hold"/>
                                        <p:tgtEl>
                                          <p:spTgt spid="1048606">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04860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48606">
                                            <p:txEl>
                                              <p:pRg st="2" end="2"/>
                                            </p:txEl>
                                          </p:spTgt>
                                        </p:tgtEl>
                                        <p:attrNameLst>
                                          <p:attrName>style.visibility</p:attrName>
                                        </p:attrNameLst>
                                      </p:cBhvr>
                                      <p:to>
                                        <p:strVal val="visible"/>
                                      </p:to>
                                    </p:set>
                                    <p:animEffect transition="in" filter="fade">
                                      <p:cBhvr>
                                        <p:cTn id="28" dur="1000"/>
                                        <p:tgtEl>
                                          <p:spTgt spid="1048606">
                                            <p:txEl>
                                              <p:pRg st="2" end="2"/>
                                            </p:txEl>
                                          </p:spTgt>
                                        </p:tgtEl>
                                      </p:cBhvr>
                                    </p:animEffect>
                                    <p:anim calcmode="lin" valueType="num">
                                      <p:cBhvr>
                                        <p:cTn id="29" dur="1000" fill="hold"/>
                                        <p:tgtEl>
                                          <p:spTgt spid="1048606">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4860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48606">
                                            <p:txEl>
                                              <p:pRg st="3" end="3"/>
                                            </p:txEl>
                                          </p:spTgt>
                                        </p:tgtEl>
                                        <p:attrNameLst>
                                          <p:attrName>style.visibility</p:attrName>
                                        </p:attrNameLst>
                                      </p:cBhvr>
                                      <p:to>
                                        <p:strVal val="visible"/>
                                      </p:to>
                                    </p:set>
                                    <p:animEffect transition="in" filter="fade">
                                      <p:cBhvr>
                                        <p:cTn id="35" dur="1000"/>
                                        <p:tgtEl>
                                          <p:spTgt spid="1048606">
                                            <p:txEl>
                                              <p:pRg st="3" end="3"/>
                                            </p:txEl>
                                          </p:spTgt>
                                        </p:tgtEl>
                                      </p:cBhvr>
                                    </p:animEffect>
                                    <p:anim calcmode="lin" valueType="num">
                                      <p:cBhvr>
                                        <p:cTn id="36" dur="1000" fill="hold"/>
                                        <p:tgtEl>
                                          <p:spTgt spid="1048606">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04860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48606">
                                            <p:txEl>
                                              <p:pRg st="4" end="4"/>
                                            </p:txEl>
                                          </p:spTgt>
                                        </p:tgtEl>
                                        <p:attrNameLst>
                                          <p:attrName>style.visibility</p:attrName>
                                        </p:attrNameLst>
                                      </p:cBhvr>
                                      <p:to>
                                        <p:strVal val="visible"/>
                                      </p:to>
                                    </p:set>
                                    <p:animEffect transition="in" filter="fade">
                                      <p:cBhvr>
                                        <p:cTn id="42" dur="1000"/>
                                        <p:tgtEl>
                                          <p:spTgt spid="1048606">
                                            <p:txEl>
                                              <p:pRg st="4" end="4"/>
                                            </p:txEl>
                                          </p:spTgt>
                                        </p:tgtEl>
                                      </p:cBhvr>
                                    </p:animEffect>
                                    <p:anim calcmode="lin" valueType="num">
                                      <p:cBhvr>
                                        <p:cTn id="43" dur="1000" fill="hold"/>
                                        <p:tgtEl>
                                          <p:spTgt spid="1048606">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04860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48606">
                                            <p:txEl>
                                              <p:pRg st="5" end="5"/>
                                            </p:txEl>
                                          </p:spTgt>
                                        </p:tgtEl>
                                        <p:attrNameLst>
                                          <p:attrName>style.visibility</p:attrName>
                                        </p:attrNameLst>
                                      </p:cBhvr>
                                      <p:to>
                                        <p:strVal val="visible"/>
                                      </p:to>
                                    </p:set>
                                    <p:animEffect transition="in" filter="fade">
                                      <p:cBhvr>
                                        <p:cTn id="49" dur="1000"/>
                                        <p:tgtEl>
                                          <p:spTgt spid="1048606">
                                            <p:txEl>
                                              <p:pRg st="5" end="5"/>
                                            </p:txEl>
                                          </p:spTgt>
                                        </p:tgtEl>
                                      </p:cBhvr>
                                    </p:animEffect>
                                    <p:anim calcmode="lin" valueType="num">
                                      <p:cBhvr>
                                        <p:cTn id="50" dur="1000" fill="hold"/>
                                        <p:tgtEl>
                                          <p:spTgt spid="1048606">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04860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48606">
                                            <p:txEl>
                                              <p:pRg st="6" end="6"/>
                                            </p:txEl>
                                          </p:spTgt>
                                        </p:tgtEl>
                                        <p:attrNameLst>
                                          <p:attrName>style.visibility</p:attrName>
                                        </p:attrNameLst>
                                      </p:cBhvr>
                                      <p:to>
                                        <p:strVal val="visible"/>
                                      </p:to>
                                    </p:set>
                                    <p:animEffect transition="in" filter="fade">
                                      <p:cBhvr>
                                        <p:cTn id="56" dur="1000"/>
                                        <p:tgtEl>
                                          <p:spTgt spid="1048606">
                                            <p:txEl>
                                              <p:pRg st="6" end="6"/>
                                            </p:txEl>
                                          </p:spTgt>
                                        </p:tgtEl>
                                      </p:cBhvr>
                                    </p:animEffect>
                                    <p:anim calcmode="lin" valueType="num">
                                      <p:cBhvr>
                                        <p:cTn id="57" dur="1000" fill="hold"/>
                                        <p:tgtEl>
                                          <p:spTgt spid="1048606">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104860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48606">
                                            <p:txEl>
                                              <p:pRg st="7" end="7"/>
                                            </p:txEl>
                                          </p:spTgt>
                                        </p:tgtEl>
                                        <p:attrNameLst>
                                          <p:attrName>style.visibility</p:attrName>
                                        </p:attrNameLst>
                                      </p:cBhvr>
                                      <p:to>
                                        <p:strVal val="visible"/>
                                      </p:to>
                                    </p:set>
                                    <p:animEffect transition="in" filter="fade">
                                      <p:cBhvr>
                                        <p:cTn id="63" dur="1000"/>
                                        <p:tgtEl>
                                          <p:spTgt spid="1048606">
                                            <p:txEl>
                                              <p:pRg st="7" end="7"/>
                                            </p:txEl>
                                          </p:spTgt>
                                        </p:tgtEl>
                                      </p:cBhvr>
                                    </p:animEffect>
                                    <p:anim calcmode="lin" valueType="num">
                                      <p:cBhvr>
                                        <p:cTn id="64" dur="1000" fill="hold"/>
                                        <p:tgtEl>
                                          <p:spTgt spid="1048606">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104860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48606">
                                            <p:txEl>
                                              <p:pRg st="8" end="8"/>
                                            </p:txEl>
                                          </p:spTgt>
                                        </p:tgtEl>
                                        <p:attrNameLst>
                                          <p:attrName>style.visibility</p:attrName>
                                        </p:attrNameLst>
                                      </p:cBhvr>
                                      <p:to>
                                        <p:strVal val="visible"/>
                                      </p:to>
                                    </p:set>
                                    <p:animEffect transition="in" filter="fade">
                                      <p:cBhvr>
                                        <p:cTn id="70" dur="1000"/>
                                        <p:tgtEl>
                                          <p:spTgt spid="1048606">
                                            <p:txEl>
                                              <p:pRg st="8" end="8"/>
                                            </p:txEl>
                                          </p:spTgt>
                                        </p:tgtEl>
                                      </p:cBhvr>
                                    </p:animEffect>
                                    <p:anim calcmode="lin" valueType="num">
                                      <p:cBhvr>
                                        <p:cTn id="71" dur="1000" fill="hold"/>
                                        <p:tgtEl>
                                          <p:spTgt spid="1048606">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104860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48606">
                                            <p:txEl>
                                              <p:pRg st="9" end="9"/>
                                            </p:txEl>
                                          </p:spTgt>
                                        </p:tgtEl>
                                        <p:attrNameLst>
                                          <p:attrName>style.visibility</p:attrName>
                                        </p:attrNameLst>
                                      </p:cBhvr>
                                      <p:to>
                                        <p:strVal val="visible"/>
                                      </p:to>
                                    </p:set>
                                    <p:animEffect transition="in" filter="fade">
                                      <p:cBhvr>
                                        <p:cTn id="77" dur="1000"/>
                                        <p:tgtEl>
                                          <p:spTgt spid="1048606">
                                            <p:txEl>
                                              <p:pRg st="9" end="9"/>
                                            </p:txEl>
                                          </p:spTgt>
                                        </p:tgtEl>
                                      </p:cBhvr>
                                    </p:animEffect>
                                    <p:anim calcmode="lin" valueType="num">
                                      <p:cBhvr>
                                        <p:cTn id="78" dur="1000" fill="hold"/>
                                        <p:tgtEl>
                                          <p:spTgt spid="1048606">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104860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48606">
                                            <p:txEl>
                                              <p:pRg st="10" end="10"/>
                                            </p:txEl>
                                          </p:spTgt>
                                        </p:tgtEl>
                                        <p:attrNameLst>
                                          <p:attrName>style.visibility</p:attrName>
                                        </p:attrNameLst>
                                      </p:cBhvr>
                                      <p:to>
                                        <p:strVal val="visible"/>
                                      </p:to>
                                    </p:set>
                                    <p:animEffect transition="in" filter="fade">
                                      <p:cBhvr>
                                        <p:cTn id="84" dur="1000"/>
                                        <p:tgtEl>
                                          <p:spTgt spid="1048606">
                                            <p:txEl>
                                              <p:pRg st="10" end="10"/>
                                            </p:txEl>
                                          </p:spTgt>
                                        </p:tgtEl>
                                      </p:cBhvr>
                                    </p:animEffect>
                                    <p:anim calcmode="lin" valueType="num">
                                      <p:cBhvr>
                                        <p:cTn id="85" dur="1000" fill="hold"/>
                                        <p:tgtEl>
                                          <p:spTgt spid="1048606">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1048606">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48606">
                                            <p:txEl>
                                              <p:pRg st="11" end="11"/>
                                            </p:txEl>
                                          </p:spTgt>
                                        </p:tgtEl>
                                        <p:attrNameLst>
                                          <p:attrName>style.visibility</p:attrName>
                                        </p:attrNameLst>
                                      </p:cBhvr>
                                      <p:to>
                                        <p:strVal val="visible"/>
                                      </p:to>
                                    </p:set>
                                    <p:animEffect transition="in" filter="fade">
                                      <p:cBhvr>
                                        <p:cTn id="91" dur="1000"/>
                                        <p:tgtEl>
                                          <p:spTgt spid="1048606">
                                            <p:txEl>
                                              <p:pRg st="11" end="11"/>
                                            </p:txEl>
                                          </p:spTgt>
                                        </p:tgtEl>
                                      </p:cBhvr>
                                    </p:animEffect>
                                    <p:anim calcmode="lin" valueType="num">
                                      <p:cBhvr>
                                        <p:cTn id="92" dur="1000" fill="hold"/>
                                        <p:tgtEl>
                                          <p:spTgt spid="1048606">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1048606">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48606">
                                            <p:txEl>
                                              <p:pRg st="12" end="12"/>
                                            </p:txEl>
                                          </p:spTgt>
                                        </p:tgtEl>
                                        <p:attrNameLst>
                                          <p:attrName>style.visibility</p:attrName>
                                        </p:attrNameLst>
                                      </p:cBhvr>
                                      <p:to>
                                        <p:strVal val="visible"/>
                                      </p:to>
                                    </p:set>
                                    <p:animEffect transition="in" filter="fade">
                                      <p:cBhvr>
                                        <p:cTn id="98" dur="1000"/>
                                        <p:tgtEl>
                                          <p:spTgt spid="1048606">
                                            <p:txEl>
                                              <p:pRg st="12" end="12"/>
                                            </p:txEl>
                                          </p:spTgt>
                                        </p:tgtEl>
                                      </p:cBhvr>
                                    </p:animEffect>
                                    <p:anim calcmode="lin" valueType="num">
                                      <p:cBhvr>
                                        <p:cTn id="99" dur="1000" fill="hold"/>
                                        <p:tgtEl>
                                          <p:spTgt spid="1048606">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1048606">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6"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0"/>
            <a:ext cx="11430000" cy="4876799"/>
          </a:xfrm>
          <a:ln w="28575">
            <a:noFill/>
          </a:ln>
        </p:spPr>
        <p:txBody>
          <a:bodyPr>
            <a:normAutofit/>
          </a:bodyPr>
          <a:lstStyle/>
          <a:p>
            <a:pPr marL="469265" marR="5080" indent="-457200" algn="just">
              <a:lnSpc>
                <a:spcPct val="116000"/>
              </a:lnSpc>
              <a:spcBef>
                <a:spcPts val="95"/>
              </a:spcBef>
              <a:buFont typeface="Wingdings" panose="05000000000000000000" pitchFamily="2" charset="2"/>
              <a:buChar char="Ø"/>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r>
              <a:rPr lang="en-US" sz="2800" dirty="0">
                <a:solidFill>
                  <a:schemeClr val="tx1"/>
                </a:solidFill>
                <a:latin typeface="Times New Roman" panose="02020603050405020304" pitchFamily="18" charset="0"/>
                <a:cs typeface="Times New Roman" panose="02020603050405020304" pitchFamily="18" charset="0"/>
              </a:rPr>
              <a:t>The main objective of our project is to develop a machine learning-powered web application that allows users to input train-related data and predict whether a train will be delayed.</a:t>
            </a:r>
          </a:p>
          <a:p>
            <a:pPr marL="469265" marR="5080" indent="-457200" algn="just">
              <a:lnSpc>
                <a:spcPct val="116000"/>
              </a:lnSpc>
              <a:spcBef>
                <a:spcPts val="95"/>
              </a:spcBef>
              <a:buFont typeface="Wingdings" panose="05000000000000000000" pitchFamily="2" charset="2"/>
              <a:buChar char="Ø"/>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r>
              <a:rPr lang="en-US" sz="2800" dirty="0">
                <a:solidFill>
                  <a:schemeClr val="tx1"/>
                </a:solidFill>
                <a:latin typeface="Times New Roman" panose="02020603050405020304" pitchFamily="18" charset="0"/>
                <a:cs typeface="Times New Roman" panose="02020603050405020304" pitchFamily="18" charset="0"/>
              </a:rPr>
              <a:t>The project uses a trained machine learning model and a flask-based web interface to make real-time predictions.</a:t>
            </a:r>
          </a:p>
        </p:txBody>
      </p:sp>
      <p:sp>
        <p:nvSpPr>
          <p:cNvPr id="14" name="Date Placeholder 13"/>
          <p:cNvSpPr>
            <a:spLocks noGrp="1"/>
          </p:cNvSpPr>
          <p:nvPr>
            <p:ph type="dt" sz="half" idx="10"/>
          </p:nvPr>
        </p:nvSpPr>
        <p:spPr/>
        <p:txBody>
          <a:bodyPr/>
          <a:lstStyle/>
          <a:p>
            <a:fld id="{81CB67CA-86F4-4DAB-8F4B-74AD16BD6181}" type="datetime5">
              <a:rPr lang="en-US" smtClean="0"/>
              <a:pPr/>
              <a:t>22-Mar-25</a:t>
            </a:fld>
            <a:endParaRPr lang="en-US" dirty="0"/>
          </a:p>
        </p:txBody>
      </p:sp>
      <p:sp>
        <p:nvSpPr>
          <p:cNvPr id="5" name="Title 4">
            <a:extLst>
              <a:ext uri="{FF2B5EF4-FFF2-40B4-BE49-F238E27FC236}">
                <a16:creationId xmlns:a16="http://schemas.microsoft.com/office/drawing/2014/main" id="{F97C5328-706B-C145-52D4-C13997B13544}"/>
              </a:ext>
            </a:extLst>
          </p:cNvPr>
          <p:cNvSpPr>
            <a:spLocks noGrp="1"/>
          </p:cNvSpPr>
          <p:nvPr>
            <p:ph type="title"/>
          </p:nvPr>
        </p:nvSpPr>
        <p:spPr>
          <a:xfrm>
            <a:off x="7374" y="990600"/>
            <a:ext cx="12192000" cy="761999"/>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OBJECTIVE AND EXPECTED OUTCOMES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614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54720"/>
            <a:ext cx="11734800" cy="5124450"/>
          </a:xfrm>
          <a:noFill/>
          <a:ln w="28575">
            <a:noFill/>
          </a:ln>
        </p:spPr>
        <p:txBody>
          <a:bodyPr>
            <a:normAutofit/>
          </a:bodyPr>
          <a:lstStyle/>
          <a:p>
            <a:pPr marL="0" indent="0" algn="just">
              <a:buClr>
                <a:srgbClr val="002060"/>
              </a:buClr>
              <a:buNone/>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a:p>
            <a:pPr algn="just">
              <a:buClr>
                <a:srgbClr val="002060"/>
              </a:buClr>
              <a:buFont typeface="Arial" pitchFamily="34" charset="0"/>
              <a:buChar char="•"/>
            </a:pPr>
            <a:endParaRPr lang="en-US" sz="2400" dirty="0">
              <a:latin typeface="Arial" pitchFamily="34" charset="0"/>
              <a:cs typeface="Arial" pitchFamily="34" charset="0"/>
            </a:endParaRPr>
          </a:p>
        </p:txBody>
      </p:sp>
      <p:sp>
        <p:nvSpPr>
          <p:cNvPr id="5" name="Rectangle 4"/>
          <p:cNvSpPr/>
          <p:nvPr/>
        </p:nvSpPr>
        <p:spPr>
          <a:xfrm>
            <a:off x="533400" y="1244339"/>
            <a:ext cx="11201400" cy="3231719"/>
          </a:xfrm>
          <a:prstGeom prst="rect">
            <a:avLst/>
          </a:prstGeom>
        </p:spPr>
        <p:txBody>
          <a:bodyPr wrap="square" anchor="ctr">
            <a:spAutoFit/>
          </a:bodyPr>
          <a:lstStyle/>
          <a:p>
            <a:pPr marL="12065" marR="5080" algn="just">
              <a:lnSpc>
                <a:spcPct val="116000"/>
              </a:lnSpc>
              <a:spcBef>
                <a:spcPts val="95"/>
              </a:spcBef>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r>
              <a:rPr lang="en-US" sz="3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INTRODUCTION</a:t>
            </a:r>
          </a:p>
          <a:p>
            <a:pPr marL="12065" marR="5080" algn="just">
              <a:lnSpc>
                <a:spcPct val="116000"/>
              </a:lnSpc>
              <a:spcBef>
                <a:spcPts val="95"/>
              </a:spcBef>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endParaRPr lang="en-US" sz="2800" dirty="0">
              <a:latin typeface="Times New Roman" panose="02020603050405020304" pitchFamily="18" charset="0"/>
              <a:cs typeface="Times New Roman" panose="02020603050405020304" pitchFamily="18" charset="0"/>
            </a:endParaRPr>
          </a:p>
          <a:p>
            <a:pPr marL="469265" marR="5080" indent="-457200" algn="just">
              <a:lnSpc>
                <a:spcPct val="116000"/>
              </a:lnSpc>
              <a:spcBef>
                <a:spcPts val="95"/>
              </a:spcBef>
              <a:buFont typeface="Wingdings" panose="05000000000000000000" pitchFamily="2" charset="2"/>
              <a:buChar char="Ø"/>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r>
              <a:rPr lang="en-US" sz="2800" dirty="0">
                <a:latin typeface="Times New Roman" panose="02020603050405020304" pitchFamily="18" charset="0"/>
                <a:cs typeface="Times New Roman" panose="02020603050405020304" pitchFamily="18" charset="0"/>
              </a:rPr>
              <a:t>Train delay is a significant problem that negatively impacts the railway industry and costs billions of </a:t>
            </a:r>
            <a:r>
              <a:rPr lang="en-US" sz="2800" dirty="0" err="1">
                <a:latin typeface="Times New Roman" panose="02020603050405020304" pitchFamily="18" charset="0"/>
                <a:cs typeface="Times New Roman" panose="02020603050405020304" pitchFamily="18" charset="0"/>
              </a:rPr>
              <a:t>dollors</a:t>
            </a:r>
            <a:r>
              <a:rPr lang="en-US" sz="2800" dirty="0">
                <a:latin typeface="Times New Roman" panose="02020603050405020304" pitchFamily="18" charset="0"/>
                <a:cs typeface="Times New Roman" panose="02020603050405020304" pitchFamily="18" charset="0"/>
              </a:rPr>
              <a:t> for each year.</a:t>
            </a:r>
          </a:p>
          <a:p>
            <a:pPr marL="469265" marR="5080" indent="-457200" algn="just">
              <a:lnSpc>
                <a:spcPct val="116000"/>
              </a:lnSpc>
              <a:spcBef>
                <a:spcPts val="95"/>
              </a:spcBef>
              <a:buFont typeface="Wingdings" panose="05000000000000000000" pitchFamily="2" charset="2"/>
              <a:buChar char="Ø"/>
              <a:tabLst>
                <a:tab pos="369570" algn="l"/>
                <a:tab pos="2522855" algn="l"/>
                <a:tab pos="3048635" algn="l"/>
                <a:tab pos="3806190" algn="l"/>
                <a:tab pos="5516245" algn="l"/>
                <a:tab pos="6042025" algn="l"/>
                <a:tab pos="6869430" algn="l"/>
                <a:tab pos="7604125" algn="l"/>
                <a:tab pos="9359900" algn="l"/>
                <a:tab pos="10141585" algn="l"/>
                <a:tab pos="10641965" algn="l"/>
                <a:tab pos="11330940" algn="l"/>
                <a:tab pos="12901930" algn="l"/>
                <a:tab pos="14915515" algn="l"/>
              </a:tabLst>
            </a:pPr>
            <a:r>
              <a:rPr lang="en-US" sz="2800" dirty="0">
                <a:latin typeface="Times New Roman" panose="02020603050405020304" pitchFamily="18" charset="0"/>
                <a:cs typeface="Times New Roman" panose="02020603050405020304" pitchFamily="18" charset="0"/>
              </a:rPr>
              <a:t>In this project we have used Train delay dataset from IRTC to predict Train delays.</a:t>
            </a:r>
          </a:p>
        </p:txBody>
      </p:sp>
    </p:spTree>
    <p:extLst>
      <p:ext uri="{BB962C8B-B14F-4D97-AF65-F5344CB8AC3E}">
        <p14:creationId xmlns:p14="http://schemas.microsoft.com/office/powerpoint/2010/main" val="2733196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1000"/>
                                        <p:tgtEl>
                                          <p:spTgt spid="5">
                                            <p:txEl>
                                              <p:pRg st="3" end="3"/>
                                            </p:txEl>
                                          </p:spTgt>
                                        </p:tgtEl>
                                      </p:cBhvr>
                                    </p:animEffect>
                                    <p:anim calcmode="lin" valueType="num">
                                      <p:cBhvr>
                                        <p:cTn id="22"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881805"/>
            <a:ext cx="11226800" cy="1295400"/>
          </a:xfrm>
          <a:ln w="28575">
            <a:noFill/>
          </a:ln>
        </p:spPr>
        <p:txBody>
          <a:bodyPr>
            <a:normAutofit fontScale="25000" lnSpcReduction="20000"/>
          </a:bodyPr>
          <a:lstStyle/>
          <a:p>
            <a:pPr marL="0" indent="0" algn="just">
              <a:buClr>
                <a:srgbClr val="002060"/>
              </a:buClr>
              <a:buNone/>
            </a:pPr>
            <a:endParaRPr lang="en-US" sz="12800" dirty="0">
              <a:latin typeface="Times New Roman" pitchFamily="18" charset="0"/>
              <a:cs typeface="Times New Roman" pitchFamily="18" charset="0"/>
            </a:endParaRPr>
          </a:p>
          <a:p>
            <a:pPr marL="0" indent="0" algn="just">
              <a:buClr>
                <a:srgbClr val="002060"/>
              </a:buClr>
              <a:buNone/>
            </a:pPr>
            <a:endParaRPr lang="en-US" sz="12800" dirty="0">
              <a:latin typeface="Times New Roman" pitchFamily="18" charset="0"/>
              <a:cs typeface="Times New Roman" pitchFamily="18" charset="0"/>
            </a:endParaRPr>
          </a:p>
          <a:p>
            <a:pPr marL="0" indent="0" algn="just">
              <a:buClr>
                <a:srgbClr val="002060"/>
              </a:buClr>
              <a:buNone/>
            </a:pPr>
            <a:endParaRPr lang="en-US" sz="3200" dirty="0">
              <a:latin typeface="Arial" pitchFamily="34" charset="0"/>
              <a:cs typeface="Arial" pitchFamily="34" charset="0"/>
            </a:endParaRPr>
          </a:p>
          <a:p>
            <a:pPr marL="0" indent="0" algn="just">
              <a:buClr>
                <a:srgbClr val="002060"/>
              </a:buClr>
              <a:buNone/>
            </a:pPr>
            <a:r>
              <a:rPr lang="en-US" sz="3200" dirty="0">
                <a:latin typeface="Arial" pitchFamily="34" charset="0"/>
                <a:cs typeface="Arial" pitchFamily="34" charset="0"/>
              </a:rPr>
              <a:t>                                        </a:t>
            </a:r>
          </a:p>
        </p:txBody>
      </p:sp>
      <p:sp>
        <p:nvSpPr>
          <p:cNvPr id="14" name="Date Placeholder 13"/>
          <p:cNvSpPr>
            <a:spLocks noGrp="1"/>
          </p:cNvSpPr>
          <p:nvPr>
            <p:ph type="dt" sz="half" idx="10"/>
          </p:nvPr>
        </p:nvSpPr>
        <p:spPr/>
        <p:txBody>
          <a:bodyPr/>
          <a:lstStyle/>
          <a:p>
            <a:fld id="{C6163C7E-C3CF-456D-92DD-4AAC3E149145}" type="datetime5">
              <a:rPr lang="en-US" smtClean="0"/>
              <a:pPr/>
              <a:t>22-Mar-25</a:t>
            </a:fld>
            <a:endParaRPr lang="en-US" dirty="0"/>
          </a:p>
        </p:txBody>
      </p:sp>
      <p:sp>
        <p:nvSpPr>
          <p:cNvPr id="4" name="TextBox 3">
            <a:extLst>
              <a:ext uri="{FF2B5EF4-FFF2-40B4-BE49-F238E27FC236}">
                <a16:creationId xmlns:a16="http://schemas.microsoft.com/office/drawing/2014/main" id="{4AC6BE74-B817-AAF1-F813-56FE703C7EAC}"/>
              </a:ext>
            </a:extLst>
          </p:cNvPr>
          <p:cNvSpPr txBox="1"/>
          <p:nvPr/>
        </p:nvSpPr>
        <p:spPr>
          <a:xfrm>
            <a:off x="520700" y="1752600"/>
            <a:ext cx="11150600" cy="3108543"/>
          </a:xfrm>
          <a:prstGeom prst="rect">
            <a:avLst/>
          </a:prstGeom>
          <a:noFill/>
        </p:spPr>
        <p:txBody>
          <a:bodyPr wrap="square" rtlCol="0">
            <a:spAutoFit/>
          </a:bodyPr>
          <a:lstStyle/>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Traditional statistical machine learning methods consider train operation time features as model data to update algorithm structure and parameters in time such as delay prediction using Decision Tree Algorithm, SVM, LSTM Algorithms. </a:t>
            </a:r>
          </a:p>
          <a:p>
            <a:pPr algn="just"/>
            <a:endParaRPr lang="en-US" sz="28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actual delay data of the train should be updated in real time, But its Failed to Update on Real Time.</a:t>
            </a:r>
            <a:endParaRPr lang="en-IN" sz="2800" dirty="0">
              <a:latin typeface="Times New Roman" panose="02020603050405020304" pitchFamily="18" charset="0"/>
              <a:cs typeface="Times New Roman" panose="02020603050405020304" pitchFamily="18" charset="0"/>
            </a:endParaRPr>
          </a:p>
        </p:txBody>
      </p:sp>
      <p:sp>
        <p:nvSpPr>
          <p:cNvPr id="11" name="AutoShape 2" descr="My Journal PPT Backgrounds">
            <a:extLst>
              <a:ext uri="{FF2B5EF4-FFF2-40B4-BE49-F238E27FC236}">
                <a16:creationId xmlns:a16="http://schemas.microsoft.com/office/drawing/2014/main" id="{454FFD76-EA31-A22B-9CDB-114F5041B8C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Title 5">
            <a:extLst>
              <a:ext uri="{FF2B5EF4-FFF2-40B4-BE49-F238E27FC236}">
                <a16:creationId xmlns:a16="http://schemas.microsoft.com/office/drawing/2014/main" id="{4A4B82A7-3414-48CC-FC0E-C7270B8B0046}"/>
              </a:ext>
            </a:extLst>
          </p:cNvPr>
          <p:cNvSpPr>
            <a:spLocks noGrp="1"/>
          </p:cNvSpPr>
          <p:nvPr>
            <p:ph type="title"/>
          </p:nvPr>
        </p:nvSpPr>
        <p:spPr>
          <a:xfrm>
            <a:off x="1371600" y="528323"/>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EXISTING METHODS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42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6CE5-57FC-20D2-34B6-6E21E04E96E8}"/>
              </a:ext>
            </a:extLst>
          </p:cNvPr>
          <p:cNvSpPr>
            <a:spLocks noGrp="1"/>
          </p:cNvSpPr>
          <p:nvPr>
            <p:ph type="title"/>
          </p:nvPr>
        </p:nvSpPr>
        <p:spPr>
          <a:xfrm>
            <a:off x="1715293" y="685800"/>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DRAWBACKS OF EXISTING METHODS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663B441-8F15-F8DF-023E-43A15C032453}"/>
              </a:ext>
            </a:extLst>
          </p:cNvPr>
          <p:cNvSpPr>
            <a:spLocks noGrp="1"/>
          </p:cNvSpPr>
          <p:nvPr>
            <p:ph idx="1"/>
          </p:nvPr>
        </p:nvSpPr>
        <p:spPr>
          <a:xfrm>
            <a:off x="1066800" y="2149219"/>
            <a:ext cx="9817846" cy="4267200"/>
          </a:xfrm>
        </p:spPr>
        <p:txBody>
          <a:bodyPr>
            <a:normAutofit fontScale="55000" lnSpcReduction="20000"/>
          </a:bodyPr>
          <a:lstStyle/>
          <a:p>
            <a:pPr lvl="0" algn="just">
              <a:buFont typeface="Wingdings" panose="05000000000000000000" pitchFamily="2" charset="2"/>
              <a:buChar char="Ø"/>
            </a:pPr>
            <a:r>
              <a:rPr lang="en-US" sz="5900" dirty="0">
                <a:solidFill>
                  <a:schemeClr val="tx1"/>
                </a:solidFill>
                <a:latin typeface="Times New Roman" panose="02020603050405020304" pitchFamily="18" charset="0"/>
                <a:cs typeface="Times New Roman" panose="02020603050405020304" pitchFamily="18" charset="0"/>
              </a:rPr>
              <a:t>LSTM, SVM Algorithm cannot obtain precise results because of less features Considered.</a:t>
            </a:r>
          </a:p>
          <a:p>
            <a:pPr lvl="0" algn="just">
              <a:buFont typeface="Wingdings" panose="05000000000000000000" pitchFamily="2" charset="2"/>
              <a:buChar char="Ø"/>
            </a:pPr>
            <a:r>
              <a:rPr lang="en-US" sz="5900" dirty="0">
                <a:solidFill>
                  <a:schemeClr val="tx1"/>
                </a:solidFill>
                <a:latin typeface="Times New Roman" panose="02020603050405020304" pitchFamily="18" charset="0"/>
                <a:cs typeface="Times New Roman" panose="02020603050405020304" pitchFamily="18" charset="0"/>
              </a:rPr>
              <a:t>SVM are prone to errors.</a:t>
            </a:r>
          </a:p>
          <a:p>
            <a:pPr lvl="0" algn="just">
              <a:buFont typeface="Wingdings" panose="05000000000000000000" pitchFamily="2" charset="2"/>
              <a:buChar char="Ø"/>
            </a:pPr>
            <a:r>
              <a:rPr lang="en-US" sz="5900" dirty="0">
                <a:solidFill>
                  <a:schemeClr val="tx1"/>
                </a:solidFill>
                <a:latin typeface="Times New Roman" panose="02020603050405020304" pitchFamily="18" charset="0"/>
                <a:cs typeface="Times New Roman" panose="02020603050405020304" pitchFamily="18" charset="0"/>
              </a:rPr>
              <a:t>Some tree-based algorithms can require significant memory, especially when dealing with large datasets.</a:t>
            </a:r>
          </a:p>
          <a:p>
            <a:pPr lvl="0" algn="just">
              <a:buFont typeface="Wingdings" panose="05000000000000000000" pitchFamily="2" charset="2"/>
              <a:buChar char="Ø"/>
            </a:pPr>
            <a:r>
              <a:rPr lang="en-US" sz="5900" dirty="0">
                <a:solidFill>
                  <a:schemeClr val="tx1"/>
                </a:solidFill>
                <a:latin typeface="Times New Roman" panose="02020603050405020304" pitchFamily="18" charset="0"/>
                <a:cs typeface="Times New Roman" panose="02020603050405020304" pitchFamily="18" charset="0"/>
              </a:rPr>
              <a:t>Each of these algorithms has it’s strengths, but these drawbacks highlight the challenges associated with their use in certain scenarios.</a:t>
            </a:r>
          </a:p>
          <a:p>
            <a:pPr marL="0" lvl="0" indent="0" algn="just">
              <a:buNone/>
            </a:pPr>
            <a:endParaRPr lang="en-US" sz="5900" dirty="0">
              <a:solidFill>
                <a:schemeClr val="tx1"/>
              </a:solidFill>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endParaRPr lang="en-US" sz="28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8B26706-2F45-7F04-758B-B6BEBC41E9D1}"/>
              </a:ext>
            </a:extLst>
          </p:cNvPr>
          <p:cNvSpPr>
            <a:spLocks noGrp="1"/>
          </p:cNvSpPr>
          <p:nvPr>
            <p:ph type="dt" sz="half" idx="10"/>
          </p:nvPr>
        </p:nvSpPr>
        <p:spPr/>
        <p:txBody>
          <a:bodyPr/>
          <a:lstStyle/>
          <a:p>
            <a:fld id="{5862C8B2-93F7-4C22-BBF9-87924F2B8065}" type="datetime5">
              <a:rPr lang="en-US" smtClean="0"/>
              <a:pPr/>
              <a:t>22-Mar-25</a:t>
            </a:fld>
            <a:endParaRPr lang="en-US" dirty="0"/>
          </a:p>
        </p:txBody>
      </p:sp>
    </p:spTree>
    <p:extLst>
      <p:ext uri="{BB962C8B-B14F-4D97-AF65-F5344CB8AC3E}">
        <p14:creationId xmlns:p14="http://schemas.microsoft.com/office/powerpoint/2010/main" val="744570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0D540C-B0C4-55AD-4AD8-83A5B0FD6992}"/>
              </a:ext>
            </a:extLst>
          </p:cNvPr>
          <p:cNvSpPr>
            <a:spLocks noGrp="1"/>
          </p:cNvSpPr>
          <p:nvPr>
            <p:ph type="title"/>
          </p:nvPr>
        </p:nvSpPr>
        <p:spPr>
          <a:xfrm>
            <a:off x="1371600" y="457200"/>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PROPOSED METHODS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C6163C7E-C3CF-456D-92DD-4AAC3E149145}" type="datetime5">
              <a:rPr lang="en-US" smtClean="0"/>
              <a:pPr/>
              <a:t>22-Mar-25</a:t>
            </a:fld>
            <a:endParaRPr lang="en-US" dirty="0"/>
          </a:p>
        </p:txBody>
      </p:sp>
      <p:sp>
        <p:nvSpPr>
          <p:cNvPr id="4" name="Content Placeholder 3">
            <a:extLst>
              <a:ext uri="{FF2B5EF4-FFF2-40B4-BE49-F238E27FC236}">
                <a16:creationId xmlns:a16="http://schemas.microsoft.com/office/drawing/2014/main" id="{56FA3259-BCEF-A981-A978-8360D9035022}"/>
              </a:ext>
            </a:extLst>
          </p:cNvPr>
          <p:cNvSpPr txBox="1">
            <a:spLocks noGrp="1"/>
          </p:cNvSpPr>
          <p:nvPr>
            <p:ph idx="4294967295"/>
          </p:nvPr>
        </p:nvSpPr>
        <p:spPr>
          <a:xfrm>
            <a:off x="758825" y="1371600"/>
            <a:ext cx="10366375" cy="3795911"/>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Proposed Delay prediction is a process of estimating the probability of train delays at subsequent recording points based on train operation history data, and this is typically determined by arrival delays.</a:t>
            </a:r>
          </a:p>
          <a:p>
            <a:pPr algn="just"/>
            <a:r>
              <a:rPr lang="en-US" sz="2800" dirty="0">
                <a:latin typeface="Times New Roman" panose="02020603050405020304" pitchFamily="18" charset="0"/>
                <a:cs typeface="Times New Roman" panose="02020603050405020304" pitchFamily="18" charset="0"/>
              </a:rPr>
              <a:t>The train can be delayed due to various disturbances in the operation process.</a:t>
            </a:r>
          </a:p>
          <a:p>
            <a:pPr algn="just"/>
            <a:r>
              <a:rPr lang="en-US" sz="2800" dirty="0">
                <a:latin typeface="Times New Roman" panose="02020603050405020304" pitchFamily="18" charset="0"/>
                <a:cs typeface="Times New Roman" panose="02020603050405020304" pitchFamily="18" charset="0"/>
              </a:rPr>
              <a:t>Six parameters are selected after the analysis of the train arrival delays at the station to constitute the feature space (F).</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428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DFC23EE-ADA6-7E43-1BBA-FA240D08B6DE}"/>
              </a:ext>
            </a:extLst>
          </p:cNvPr>
          <p:cNvSpPr txBox="1">
            <a:spLocks/>
          </p:cNvSpPr>
          <p:nvPr/>
        </p:nvSpPr>
        <p:spPr>
          <a:xfrm>
            <a:off x="1715293" y="610559"/>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DELAY PARAMETERS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DCEC0A7-6C0B-051F-2E10-C01CA639204B}"/>
              </a:ext>
            </a:extLst>
          </p:cNvPr>
          <p:cNvSpPr txBox="1">
            <a:spLocks/>
          </p:cNvSpPr>
          <p:nvPr/>
        </p:nvSpPr>
        <p:spPr>
          <a:xfrm>
            <a:off x="685800" y="1507682"/>
            <a:ext cx="10366375" cy="4739759"/>
          </a:xfrm>
          <a:prstGeom prst="rect">
            <a:avLst/>
          </a:prstGeom>
          <a:noFill/>
        </p:spPr>
        <p:txBody>
          <a:bodyPr vert="horz" wrap="square" lIns="91440" tIns="45720" rIns="91440" bIns="45720" rtlCol="0">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gn="just"/>
            <a:r>
              <a:rPr lang="en-US" sz="2800" dirty="0">
                <a:latin typeface="Times New Roman" panose="02020603050405020304" pitchFamily="18" charset="0"/>
                <a:cs typeface="Times New Roman" panose="02020603050405020304" pitchFamily="18" charset="0"/>
              </a:rPr>
              <a:t>Train Characteristic(X1)</a:t>
            </a:r>
          </a:p>
          <a:p>
            <a:pPr algn="just"/>
            <a:r>
              <a:rPr lang="en-US" sz="2800" dirty="0">
                <a:latin typeface="Times New Roman" panose="02020603050405020304" pitchFamily="18" charset="0"/>
                <a:cs typeface="Times New Roman" panose="02020603050405020304" pitchFamily="18" charset="0"/>
              </a:rPr>
              <a:t>Which day of the week it was (</a:t>
            </a:r>
            <a:r>
              <a:rPr lang="en-US" sz="2800" dirty="0" err="1">
                <a:latin typeface="Times New Roman" panose="02020603050405020304" pitchFamily="18" charset="0"/>
                <a:cs typeface="Times New Roman" panose="02020603050405020304" pitchFamily="18" charset="0"/>
              </a:rPr>
              <a:t>Monday,Tuesday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etc.,one</a:t>
            </a:r>
            <a:r>
              <a:rPr lang="en-US" sz="2800" dirty="0">
                <a:latin typeface="Times New Roman" panose="02020603050405020304" pitchFamily="18" charset="0"/>
                <a:cs typeface="Times New Roman" panose="02020603050405020304" pitchFamily="18" charset="0"/>
              </a:rPr>
              <a:t> attribute for each)</a:t>
            </a:r>
          </a:p>
          <a:p>
            <a:pPr algn="just"/>
            <a:r>
              <a:rPr lang="en-US" sz="2800" dirty="0">
                <a:latin typeface="Times New Roman" panose="02020603050405020304" pitchFamily="18" charset="0"/>
                <a:cs typeface="Times New Roman" panose="02020603050405020304" pitchFamily="18" charset="0"/>
              </a:rPr>
              <a:t>Whether it was weekend(Saturday or Sunday),</a:t>
            </a:r>
          </a:p>
          <a:p>
            <a:pPr algn="just"/>
            <a:r>
              <a:rPr lang="en-US" sz="2800" dirty="0">
                <a:latin typeface="Times New Roman" panose="02020603050405020304" pitchFamily="18" charset="0"/>
                <a:cs typeface="Times New Roman" panose="02020603050405020304" pitchFamily="18" charset="0"/>
              </a:rPr>
              <a:t>Time of the day(one for morning/evening and one for day/night)</a:t>
            </a:r>
          </a:p>
          <a:p>
            <a:pPr>
              <a:lnSpc>
                <a:spcPct val="150000"/>
              </a:lnSpc>
            </a:pPr>
            <a:r>
              <a:rPr lang="en-US" sz="2800" dirty="0">
                <a:latin typeface="Times New Roman" panose="02020603050405020304" pitchFamily="18" charset="0"/>
                <a:cs typeface="Times New Roman" panose="02020603050405020304" pitchFamily="18" charset="0"/>
              </a:rPr>
              <a:t>Weather attributes (temperature, snow depth, wind speed, visibility), </a:t>
            </a:r>
          </a:p>
          <a:p>
            <a:pPr>
              <a:lnSpc>
                <a:spcPct val="150000"/>
              </a:lnSpc>
            </a:pPr>
            <a:r>
              <a:rPr lang="en-US" sz="2800" dirty="0">
                <a:latin typeface="Times New Roman" panose="02020603050405020304" pitchFamily="18" charset="0"/>
                <a:cs typeface="Times New Roman" panose="02020603050405020304" pitchFamily="18" charset="0"/>
              </a:rPr>
              <a:t>Train line the departure happened on (X0, X1, X3).</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40264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3">
            <a:extLst>
              <a:ext uri="{FF2B5EF4-FFF2-40B4-BE49-F238E27FC236}">
                <a16:creationId xmlns:a16="http://schemas.microsoft.com/office/drawing/2014/main" id="{C2842097-EF75-D3A8-06F6-86002713EDD4}"/>
              </a:ext>
            </a:extLst>
          </p:cNvPr>
          <p:cNvSpPr txBox="1">
            <a:spLocks/>
          </p:cNvSpPr>
          <p:nvPr/>
        </p:nvSpPr>
        <p:spPr>
          <a:xfrm>
            <a:off x="758825" y="1371600"/>
            <a:ext cx="10366375" cy="3503010"/>
          </a:xfrm>
          <a:prstGeom prst="rect">
            <a:avLst/>
          </a:prstGeom>
          <a:noFill/>
        </p:spPr>
        <p:txBody>
          <a:bodyPr vert="horz" wrap="square" lIns="91440" tIns="45720" rIns="91440" bIns="45720" rtlCol="0">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gn="just">
              <a:lnSpc>
                <a:spcPct val="150000"/>
              </a:lnSpc>
            </a:pPr>
            <a:r>
              <a:rPr lang="en-US" sz="2800" dirty="0">
                <a:latin typeface="Times New Roman" panose="02020603050405020304" pitchFamily="18" charset="0"/>
                <a:cs typeface="Times New Roman" panose="02020603050405020304" pitchFamily="18" charset="0"/>
              </a:rPr>
              <a:t>The training data was thereafter used to train the machine learning model to find connections between the inputs and train delays.</a:t>
            </a:r>
          </a:p>
          <a:p>
            <a:pPr algn="just">
              <a:lnSpc>
                <a:spcPct val="150000"/>
              </a:lnSpc>
            </a:pPr>
            <a:r>
              <a:rPr lang="en-US" sz="2800" dirty="0">
                <a:latin typeface="Times New Roman" panose="02020603050405020304" pitchFamily="18" charset="0"/>
                <a:cs typeface="Times New Roman" panose="02020603050405020304" pitchFamily="18" charset="0"/>
              </a:rPr>
              <a:t> In the second stage of the machine learning process, the model was tested by using the testing data to determine its accuracy.</a:t>
            </a:r>
          </a:p>
          <a:p>
            <a:pPr algn="just">
              <a:lnSpc>
                <a:spcPct val="150000"/>
              </a:lnSpc>
            </a:pPr>
            <a:r>
              <a:rPr lang="en-US" sz="2800" dirty="0">
                <a:latin typeface="Times New Roman" panose="02020603050405020304" pitchFamily="18" charset="0"/>
                <a:cs typeface="Times New Roman" panose="02020603050405020304" pitchFamily="18" charset="0"/>
              </a:rPr>
              <a:t> The chosen machine learning methods were Fast RCNN.</a:t>
            </a:r>
          </a:p>
        </p:txBody>
      </p:sp>
    </p:spTree>
    <p:extLst>
      <p:ext uri="{BB962C8B-B14F-4D97-AF65-F5344CB8AC3E}">
        <p14:creationId xmlns:p14="http://schemas.microsoft.com/office/powerpoint/2010/main" val="1252063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AB363-C1EE-D2B7-BBC0-B407F63CFFB6}"/>
              </a:ext>
            </a:extLst>
          </p:cNvPr>
          <p:cNvSpPr>
            <a:spLocks noGrp="1"/>
          </p:cNvSpPr>
          <p:nvPr>
            <p:ph type="title"/>
          </p:nvPr>
        </p:nvSpPr>
        <p:spPr>
          <a:xfrm>
            <a:off x="609600" y="838200"/>
            <a:ext cx="8761413" cy="706964"/>
          </a:xfrm>
        </p:spPr>
        <p:txBody>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ADVANTAGES</a:t>
            </a:r>
            <a:endParaRPr lang="en-IN"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A9819A7-0957-6F30-BDEE-A09A4D6E23DF}"/>
              </a:ext>
            </a:extLst>
          </p:cNvPr>
          <p:cNvSpPr>
            <a:spLocks noGrp="1"/>
          </p:cNvSpPr>
          <p:nvPr>
            <p:ph idx="1"/>
          </p:nvPr>
        </p:nvSpPr>
        <p:spPr>
          <a:xfrm>
            <a:off x="990600" y="1720850"/>
            <a:ext cx="9982200" cy="3416300"/>
          </a:xfrm>
        </p:spPr>
        <p:txBody>
          <a:bodyPr>
            <a:normAutofit/>
          </a:bodyPr>
          <a:lstStyle/>
          <a:p>
            <a:pPr lvl="0" algn="just">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Compared to SVM, the Fast R-CNN is more robust because it does have many Hidden Layers for better training Accuracy. </a:t>
            </a:r>
          </a:p>
          <a:p>
            <a:pPr lvl="0" algn="just">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Thus, we expect to obtain more precise results on Delay relation identification</a:t>
            </a:r>
          </a:p>
          <a:p>
            <a:pPr lvl="0" algn="just">
              <a:buFont typeface="Wingdings" panose="05000000000000000000" pitchFamily="2" charset="2"/>
              <a:buChar char="Ø"/>
            </a:pPr>
            <a:r>
              <a:rPr lang="en-US" sz="2800" dirty="0">
                <a:solidFill>
                  <a:schemeClr val="tx1"/>
                </a:solidFill>
                <a:latin typeface="Times New Roman" panose="02020603050405020304" pitchFamily="18" charset="0"/>
                <a:cs typeface="Times New Roman" panose="02020603050405020304" pitchFamily="18" charset="0"/>
              </a:rPr>
              <a:t>Can handle multiple input types that can be useful in predictive delay systems that need to process data from various sources.</a:t>
            </a:r>
          </a:p>
          <a:p>
            <a:pPr lvl="0" algn="just">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2FB48E4-353F-CFA2-1543-6C080D0533F8}"/>
              </a:ext>
            </a:extLst>
          </p:cNvPr>
          <p:cNvSpPr>
            <a:spLocks noGrp="1"/>
          </p:cNvSpPr>
          <p:nvPr>
            <p:ph type="dt" sz="half" idx="10"/>
          </p:nvPr>
        </p:nvSpPr>
        <p:spPr/>
        <p:txBody>
          <a:bodyPr/>
          <a:lstStyle/>
          <a:p>
            <a:fld id="{5862C8B2-93F7-4C22-BBF9-87924F2B8065}" type="datetime5">
              <a:rPr lang="en-US" smtClean="0"/>
              <a:pPr/>
              <a:t>22-Mar-25</a:t>
            </a:fld>
            <a:endParaRPr lang="en-US" dirty="0"/>
          </a:p>
        </p:txBody>
      </p:sp>
    </p:spTree>
    <p:extLst>
      <p:ext uri="{BB962C8B-B14F-4D97-AF65-F5344CB8AC3E}">
        <p14:creationId xmlns:p14="http://schemas.microsoft.com/office/powerpoint/2010/main" val="3434257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21DED-4F4A-FE07-5CCD-ABF9B2378B28}"/>
              </a:ext>
            </a:extLst>
          </p:cNvPr>
          <p:cNvSpPr>
            <a:spLocks noGrp="1"/>
          </p:cNvSpPr>
          <p:nvPr>
            <p:ph type="title"/>
          </p:nvPr>
        </p:nvSpPr>
        <p:spPr>
          <a:xfrm>
            <a:off x="1371600" y="41705"/>
            <a:ext cx="8761413" cy="706964"/>
          </a:xfrm>
        </p:spPr>
        <p:txBody>
          <a:bodyPr/>
          <a:lstStyle/>
          <a:p>
            <a:r>
              <a:rPr lang="en-US" dirty="0"/>
              <a:t>                  </a:t>
            </a:r>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BLOCK DIAGRAM </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059C3696-2790-AD13-8334-8AF917E79C58}"/>
              </a:ext>
            </a:extLst>
          </p:cNvPr>
          <p:cNvSpPr>
            <a:spLocks noGrp="1"/>
          </p:cNvSpPr>
          <p:nvPr>
            <p:ph type="dt" sz="half" idx="10"/>
          </p:nvPr>
        </p:nvSpPr>
        <p:spPr/>
        <p:txBody>
          <a:bodyPr/>
          <a:lstStyle/>
          <a:p>
            <a:fld id="{5862C8B2-93F7-4C22-BBF9-87924F2B8065}" type="datetime5">
              <a:rPr lang="en-US" smtClean="0"/>
              <a:pPr/>
              <a:t>22-Mar-25</a:t>
            </a:fld>
            <a:endParaRPr lang="en-US" dirty="0"/>
          </a:p>
        </p:txBody>
      </p:sp>
      <p:sp>
        <p:nvSpPr>
          <p:cNvPr id="4" name="Rectangle: Rounded Corners 3">
            <a:extLst>
              <a:ext uri="{FF2B5EF4-FFF2-40B4-BE49-F238E27FC236}">
                <a16:creationId xmlns:a16="http://schemas.microsoft.com/office/drawing/2014/main" id="{A935731B-C961-AE5F-C8E7-4212159FED63}"/>
              </a:ext>
            </a:extLst>
          </p:cNvPr>
          <p:cNvSpPr/>
          <p:nvPr/>
        </p:nvSpPr>
        <p:spPr>
          <a:xfrm>
            <a:off x="4997860" y="3877316"/>
            <a:ext cx="2667000" cy="4655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Prediction regression</a:t>
            </a:r>
          </a:p>
        </p:txBody>
      </p:sp>
      <p:sp>
        <p:nvSpPr>
          <p:cNvPr id="5" name="Rectangle: Rounded Corners 4">
            <a:extLst>
              <a:ext uri="{FF2B5EF4-FFF2-40B4-BE49-F238E27FC236}">
                <a16:creationId xmlns:a16="http://schemas.microsoft.com/office/drawing/2014/main" id="{AD501F9F-00EA-7FA0-B46F-0F165D062991}"/>
              </a:ext>
            </a:extLst>
          </p:cNvPr>
          <p:cNvSpPr/>
          <p:nvPr/>
        </p:nvSpPr>
        <p:spPr>
          <a:xfrm>
            <a:off x="4997860" y="919005"/>
            <a:ext cx="2667000" cy="465518"/>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Input data</a:t>
            </a:r>
          </a:p>
        </p:txBody>
      </p:sp>
      <p:sp>
        <p:nvSpPr>
          <p:cNvPr id="6" name="Rectangle: Rounded Corners 5">
            <a:extLst>
              <a:ext uri="{FF2B5EF4-FFF2-40B4-BE49-F238E27FC236}">
                <a16:creationId xmlns:a16="http://schemas.microsoft.com/office/drawing/2014/main" id="{EFA69A00-A862-1A49-F428-94D4C93A22FC}"/>
              </a:ext>
            </a:extLst>
          </p:cNvPr>
          <p:cNvSpPr/>
          <p:nvPr/>
        </p:nvSpPr>
        <p:spPr>
          <a:xfrm>
            <a:off x="4997860" y="1645927"/>
            <a:ext cx="2667000" cy="4655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Preprocessing</a:t>
            </a:r>
          </a:p>
        </p:txBody>
      </p:sp>
      <p:sp>
        <p:nvSpPr>
          <p:cNvPr id="7" name="Rectangle: Rounded Corners 6">
            <a:extLst>
              <a:ext uri="{FF2B5EF4-FFF2-40B4-BE49-F238E27FC236}">
                <a16:creationId xmlns:a16="http://schemas.microsoft.com/office/drawing/2014/main" id="{2089C632-83F4-33FC-7F39-821B74EF85D5}"/>
              </a:ext>
            </a:extLst>
          </p:cNvPr>
          <p:cNvSpPr/>
          <p:nvPr/>
        </p:nvSpPr>
        <p:spPr>
          <a:xfrm>
            <a:off x="4997860" y="2397491"/>
            <a:ext cx="2667000" cy="4655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Training dataset</a:t>
            </a:r>
          </a:p>
        </p:txBody>
      </p:sp>
      <p:sp>
        <p:nvSpPr>
          <p:cNvPr id="20" name="Rectangle: Rounded Corners 19">
            <a:extLst>
              <a:ext uri="{FF2B5EF4-FFF2-40B4-BE49-F238E27FC236}">
                <a16:creationId xmlns:a16="http://schemas.microsoft.com/office/drawing/2014/main" id="{C11B3264-CB60-C27F-6CD8-141DC70BAFE7}"/>
              </a:ext>
            </a:extLst>
          </p:cNvPr>
          <p:cNvSpPr/>
          <p:nvPr/>
        </p:nvSpPr>
        <p:spPr>
          <a:xfrm>
            <a:off x="4997860" y="3124413"/>
            <a:ext cx="2667000" cy="4668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Feature Extraction</a:t>
            </a:r>
          </a:p>
        </p:txBody>
      </p:sp>
      <p:sp>
        <p:nvSpPr>
          <p:cNvPr id="21" name="Rectangle: Rounded Corners 20">
            <a:extLst>
              <a:ext uri="{FF2B5EF4-FFF2-40B4-BE49-F238E27FC236}">
                <a16:creationId xmlns:a16="http://schemas.microsoft.com/office/drawing/2014/main" id="{9F9CA871-E899-32DD-85D2-3736E6D0346A}"/>
              </a:ext>
            </a:extLst>
          </p:cNvPr>
          <p:cNvSpPr/>
          <p:nvPr/>
        </p:nvSpPr>
        <p:spPr>
          <a:xfrm>
            <a:off x="5449529" y="5094398"/>
            <a:ext cx="1763661" cy="107780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Delay  Predict</a:t>
            </a:r>
          </a:p>
        </p:txBody>
      </p:sp>
      <p:sp>
        <p:nvSpPr>
          <p:cNvPr id="23" name="Rectangle: Rounded Corners 22">
            <a:extLst>
              <a:ext uri="{FF2B5EF4-FFF2-40B4-BE49-F238E27FC236}">
                <a16:creationId xmlns:a16="http://schemas.microsoft.com/office/drawing/2014/main" id="{0725E614-2C9C-214F-650C-C97BA35750DC}"/>
              </a:ext>
            </a:extLst>
          </p:cNvPr>
          <p:cNvSpPr/>
          <p:nvPr/>
        </p:nvSpPr>
        <p:spPr>
          <a:xfrm>
            <a:off x="8686800" y="3877316"/>
            <a:ext cx="2286000" cy="46551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Times New Roman" panose="02020603050405020304" pitchFamily="18" charset="0"/>
                <a:cs typeface="Times New Roman" panose="02020603050405020304" pitchFamily="18" charset="0"/>
              </a:rPr>
              <a:t>Testing  Data</a:t>
            </a:r>
          </a:p>
        </p:txBody>
      </p:sp>
      <p:cxnSp>
        <p:nvCxnSpPr>
          <p:cNvPr id="32" name="Straight Arrow Connector 31">
            <a:extLst>
              <a:ext uri="{FF2B5EF4-FFF2-40B4-BE49-F238E27FC236}">
                <a16:creationId xmlns:a16="http://schemas.microsoft.com/office/drawing/2014/main" id="{B5315EE9-02CB-44C2-A393-12D36C3E4CF9}"/>
              </a:ext>
            </a:extLst>
          </p:cNvPr>
          <p:cNvCxnSpPr>
            <a:cxnSpLocks/>
          </p:cNvCxnSpPr>
          <p:nvPr/>
        </p:nvCxnSpPr>
        <p:spPr>
          <a:xfrm>
            <a:off x="6331360" y="1295400"/>
            <a:ext cx="0" cy="261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95E459E-14E8-D768-6F04-242D56277654}"/>
              </a:ext>
            </a:extLst>
          </p:cNvPr>
          <p:cNvCxnSpPr>
            <a:cxnSpLocks/>
            <a:stCxn id="4" idx="2"/>
            <a:endCxn id="21" idx="0"/>
          </p:cNvCxnSpPr>
          <p:nvPr/>
        </p:nvCxnSpPr>
        <p:spPr>
          <a:xfrm>
            <a:off x="6331360" y="4342834"/>
            <a:ext cx="0" cy="751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46C4C7A-2038-584C-BB35-C31C72FA36DC}"/>
              </a:ext>
            </a:extLst>
          </p:cNvPr>
          <p:cNvCxnSpPr>
            <a:cxnSpLocks/>
            <a:stCxn id="20" idx="2"/>
            <a:endCxn id="4" idx="0"/>
          </p:cNvCxnSpPr>
          <p:nvPr/>
        </p:nvCxnSpPr>
        <p:spPr>
          <a:xfrm>
            <a:off x="6331360" y="3591270"/>
            <a:ext cx="0" cy="286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8E1CF630-DF9C-59E3-CDC4-2905085B2251}"/>
              </a:ext>
            </a:extLst>
          </p:cNvPr>
          <p:cNvCxnSpPr>
            <a:stCxn id="6" idx="2"/>
            <a:endCxn id="7" idx="0"/>
          </p:cNvCxnSpPr>
          <p:nvPr/>
        </p:nvCxnSpPr>
        <p:spPr>
          <a:xfrm>
            <a:off x="6331360" y="2111445"/>
            <a:ext cx="0" cy="2860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4B96958-0F2A-AE12-817B-1079BA3FC82B}"/>
              </a:ext>
            </a:extLst>
          </p:cNvPr>
          <p:cNvCxnSpPr>
            <a:stCxn id="7" idx="2"/>
            <a:endCxn id="20" idx="0"/>
          </p:cNvCxnSpPr>
          <p:nvPr/>
        </p:nvCxnSpPr>
        <p:spPr>
          <a:xfrm>
            <a:off x="6331360" y="2863009"/>
            <a:ext cx="0" cy="261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05AE15E-3C81-ADBB-0131-915FB96E42C1}"/>
              </a:ext>
            </a:extLst>
          </p:cNvPr>
          <p:cNvCxnSpPr>
            <a:cxnSpLocks/>
            <a:stCxn id="23" idx="1"/>
            <a:endCxn id="4" idx="3"/>
          </p:cNvCxnSpPr>
          <p:nvPr/>
        </p:nvCxnSpPr>
        <p:spPr>
          <a:xfrm flipH="1">
            <a:off x="7664860" y="4110075"/>
            <a:ext cx="10219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64658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1409700"/>
            <a:ext cx="11506200" cy="4038600"/>
          </a:xfrm>
          <a:ln w="28575">
            <a:noFill/>
          </a:ln>
        </p:spPr>
        <p:txBody>
          <a:bodyPr>
            <a:noAutofit/>
          </a:bodyPr>
          <a:lstStyle/>
          <a:p>
            <a:pPr marL="0" indent="0">
              <a:buNone/>
            </a:pPr>
            <a:r>
              <a:rPr lang="en-US" sz="2800" b="1"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MODULES:</a:t>
            </a:r>
            <a:endPar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Data collection Module</a:t>
            </a:r>
          </a:p>
          <a:p>
            <a:r>
              <a:rPr lang="en-US" sz="2800" dirty="0">
                <a:latin typeface="Times New Roman" panose="02020603050405020304" pitchFamily="18" charset="0"/>
                <a:cs typeface="Times New Roman" panose="02020603050405020304" pitchFamily="18" charset="0"/>
              </a:rPr>
              <a:t>Data preparation Module</a:t>
            </a:r>
          </a:p>
          <a:p>
            <a:r>
              <a:rPr lang="en-US" sz="2800" dirty="0">
                <a:latin typeface="Times New Roman" panose="02020603050405020304" pitchFamily="18" charset="0"/>
                <a:cs typeface="Times New Roman" panose="02020603050405020304" pitchFamily="18" charset="0"/>
              </a:rPr>
              <a:t>Splitting the data Module</a:t>
            </a:r>
          </a:p>
          <a:p>
            <a:r>
              <a:rPr lang="en-US" sz="2800" dirty="0">
                <a:latin typeface="Times New Roman" panose="02020603050405020304" pitchFamily="18" charset="0"/>
                <a:cs typeface="Times New Roman" panose="02020603050405020304" pitchFamily="18" charset="0"/>
              </a:rPr>
              <a:t>Training and Testing Module</a:t>
            </a:r>
          </a:p>
        </p:txBody>
      </p:sp>
      <p:sp>
        <p:nvSpPr>
          <p:cNvPr id="14" name="Date Placeholder 13"/>
          <p:cNvSpPr>
            <a:spLocks noGrp="1"/>
          </p:cNvSpPr>
          <p:nvPr>
            <p:ph type="dt" sz="half" idx="10"/>
          </p:nvPr>
        </p:nvSpPr>
        <p:spPr/>
        <p:txBody>
          <a:bodyPr/>
          <a:lstStyle/>
          <a:p>
            <a:fld id="{C6163C7E-C3CF-456D-92DD-4AAC3E149145}" type="datetime5">
              <a:rPr lang="en-US" smtClean="0"/>
              <a:pPr/>
              <a:t>22-Mar-25</a:t>
            </a:fld>
            <a:endParaRPr lang="en-US" dirty="0"/>
          </a:p>
        </p:txBody>
      </p:sp>
      <p:sp>
        <p:nvSpPr>
          <p:cNvPr id="5" name="Title 4">
            <a:extLst>
              <a:ext uri="{FF2B5EF4-FFF2-40B4-BE49-F238E27FC236}">
                <a16:creationId xmlns:a16="http://schemas.microsoft.com/office/drawing/2014/main" id="{61FD073E-9AD6-7249-C204-8E6EA9659535}"/>
              </a:ext>
            </a:extLst>
          </p:cNvPr>
          <p:cNvSpPr>
            <a:spLocks noGrp="1"/>
          </p:cNvSpPr>
          <p:nvPr>
            <p:ph type="title"/>
          </p:nvPr>
        </p:nvSpPr>
        <p:spPr>
          <a:xfrm>
            <a:off x="1143000" y="274433"/>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IMPLEMENTATION</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42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EA962-5156-A0C5-846B-F6370EBC3793}"/>
              </a:ext>
            </a:extLst>
          </p:cNvPr>
          <p:cNvSpPr>
            <a:spLocks noGrp="1"/>
          </p:cNvSpPr>
          <p:nvPr>
            <p:ph type="dt" sz="half" idx="10"/>
          </p:nvPr>
        </p:nvSpPr>
        <p:spPr/>
        <p:txBody>
          <a:bodyPr/>
          <a:lstStyle/>
          <a:p>
            <a:fld id="{5AFAA6AD-E6CF-4FF8-9CA0-C7F93D76C875}" type="datetime5">
              <a:rPr lang="en-US" smtClean="0"/>
              <a:pPr/>
              <a:t>22-Mar-25</a:t>
            </a:fld>
            <a:endParaRPr lang="en-US" dirty="0"/>
          </a:p>
        </p:txBody>
      </p:sp>
      <p:sp>
        <p:nvSpPr>
          <p:cNvPr id="3" name="TextBox 2">
            <a:extLst>
              <a:ext uri="{FF2B5EF4-FFF2-40B4-BE49-F238E27FC236}">
                <a16:creationId xmlns:a16="http://schemas.microsoft.com/office/drawing/2014/main" id="{02C9839C-D7E5-79C7-168F-573CBB6E4362}"/>
              </a:ext>
            </a:extLst>
          </p:cNvPr>
          <p:cNvSpPr txBox="1"/>
          <p:nvPr/>
        </p:nvSpPr>
        <p:spPr>
          <a:xfrm>
            <a:off x="457200" y="914400"/>
            <a:ext cx="10287000" cy="526297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1.IMPORTING LIBRARIES</a:t>
            </a:r>
          </a:p>
          <a:p>
            <a:r>
              <a:rPr lang="en-IN" sz="2400" dirty="0">
                <a:latin typeface="Times New Roman" panose="02020603050405020304" pitchFamily="18" charset="0"/>
                <a:cs typeface="Times New Roman" panose="02020603050405020304" pitchFamily="18" charset="0"/>
              </a:rPr>
              <a:t>Python from flask import Flask, request, </a:t>
            </a:r>
            <a:r>
              <a:rPr lang="en-IN" sz="2400" dirty="0" err="1">
                <a:latin typeface="Times New Roman" panose="02020603050405020304" pitchFamily="18" charset="0"/>
                <a:cs typeface="Times New Roman" panose="02020603050405020304" pitchFamily="18" charset="0"/>
              </a:rPr>
              <a:t>jsonify</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render_template</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url_for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import pickle</a:t>
            </a: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sklearn.preprocessing</a:t>
            </a:r>
            <a:r>
              <a:rPr lang="en-IN" sz="2400" dirty="0">
                <a:latin typeface="Times New Roman" panose="02020603050405020304" pitchFamily="18" charset="0"/>
                <a:cs typeface="Times New Roman" panose="02020603050405020304" pitchFamily="18" charset="0"/>
              </a:rPr>
              <a:t> import </a:t>
            </a:r>
            <a:r>
              <a:rPr lang="en-IN" sz="2400" dirty="0" err="1">
                <a:latin typeface="Times New Roman" panose="02020603050405020304" pitchFamily="18" charset="0"/>
                <a:cs typeface="Times New Roman" panose="02020603050405020304" pitchFamily="18" charset="0"/>
              </a:rPr>
              <a:t>LabelEncoder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from </a:t>
            </a:r>
            <a:r>
              <a:rPr lang="en-IN" sz="2400" dirty="0" err="1">
                <a:latin typeface="Times New Roman" panose="02020603050405020304" pitchFamily="18" charset="0"/>
                <a:cs typeface="Times New Roman" panose="02020603050405020304" pitchFamily="18" charset="0"/>
              </a:rPr>
              <a:t>sklearn.model_selection</a:t>
            </a: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import </a:t>
            </a:r>
            <a:r>
              <a:rPr lang="en-IN" sz="2400" dirty="0" err="1">
                <a:latin typeface="Times New Roman" panose="02020603050405020304" pitchFamily="18" charset="0"/>
                <a:cs typeface="Times New Roman" panose="02020603050405020304" pitchFamily="18" charset="0"/>
              </a:rPr>
              <a:t>train_test_split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import pandas as pd</a:t>
            </a:r>
          </a:p>
          <a:p>
            <a:r>
              <a:rPr lang="en-US" sz="2400" dirty="0">
                <a:latin typeface="Times New Roman" panose="02020603050405020304" pitchFamily="18" charset="0"/>
                <a:cs typeface="Times New Roman" panose="02020603050405020304" pitchFamily="18" charset="0"/>
              </a:rPr>
              <a:t>2. Loading and Preprocessing the Dataset</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3. Splitting the Dataset</a:t>
            </a:r>
          </a:p>
          <a:p>
            <a:r>
              <a:rPr lang="en-IN" sz="2400" dirty="0">
                <a:latin typeface="Times New Roman" panose="02020603050405020304" pitchFamily="18" charset="0"/>
                <a:cs typeface="Times New Roman" panose="02020603050405020304" pitchFamily="18" charset="0"/>
              </a:rPr>
              <a:t>4. Flask Application Setup</a:t>
            </a:r>
          </a:p>
          <a:p>
            <a:r>
              <a:rPr lang="en-IN" sz="2400" dirty="0">
                <a:latin typeface="Times New Roman" panose="02020603050405020304" pitchFamily="18" charset="0"/>
                <a:cs typeface="Times New Roman" panose="02020603050405020304" pitchFamily="18" charset="0"/>
              </a:rPr>
              <a:t>5. Defining Routes</a:t>
            </a:r>
          </a:p>
          <a:p>
            <a:r>
              <a:rPr lang="en-IN" sz="2400" dirty="0">
                <a:latin typeface="Times New Roman" panose="02020603050405020304" pitchFamily="18" charset="0"/>
                <a:cs typeface="Times New Roman" panose="02020603050405020304" pitchFamily="18" charset="0"/>
              </a:rPr>
              <a:t>6. Making Predictions</a:t>
            </a:r>
          </a:p>
          <a:p>
            <a:r>
              <a:rPr lang="en-US" sz="2400" dirty="0">
                <a:latin typeface="Times New Roman" panose="02020603050405020304" pitchFamily="18" charset="0"/>
                <a:cs typeface="Times New Roman" panose="02020603050405020304" pitchFamily="18" charset="0"/>
              </a:rPr>
              <a:t>7. Returning the Result to the User</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8. Running the Application</a:t>
            </a:r>
          </a:p>
        </p:txBody>
      </p:sp>
    </p:spTree>
    <p:extLst>
      <p:ext uri="{BB962C8B-B14F-4D97-AF65-F5344CB8AC3E}">
        <p14:creationId xmlns:p14="http://schemas.microsoft.com/office/powerpoint/2010/main" val="3296526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9FD9FF-5B3A-2F4A-3F2B-1E07D3A70011}"/>
              </a:ext>
            </a:extLst>
          </p:cNvPr>
          <p:cNvSpPr>
            <a:spLocks noGrp="1"/>
          </p:cNvSpPr>
          <p:nvPr>
            <p:ph type="dt" sz="half" idx="10"/>
          </p:nvPr>
        </p:nvSpPr>
        <p:spPr/>
        <p:txBody>
          <a:bodyPr/>
          <a:lstStyle/>
          <a:p>
            <a:fld id="{5AFAA6AD-E6CF-4FF8-9CA0-C7F93D76C875}" type="datetime5">
              <a:rPr lang="en-US" smtClean="0"/>
              <a:pPr/>
              <a:t>22-Mar-25</a:t>
            </a:fld>
            <a:endParaRPr lang="en-US" dirty="0"/>
          </a:p>
        </p:txBody>
      </p:sp>
      <p:sp>
        <p:nvSpPr>
          <p:cNvPr id="3" name="Title 4">
            <a:extLst>
              <a:ext uri="{FF2B5EF4-FFF2-40B4-BE49-F238E27FC236}">
                <a16:creationId xmlns:a16="http://schemas.microsoft.com/office/drawing/2014/main" id="{D142D1BA-7F4F-08F5-869F-6582F95EFA75}"/>
              </a:ext>
            </a:extLst>
          </p:cNvPr>
          <p:cNvSpPr txBox="1">
            <a:spLocks/>
          </p:cNvSpPr>
          <p:nvPr/>
        </p:nvSpPr>
        <p:spPr>
          <a:xfrm>
            <a:off x="2514600" y="533400"/>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RESULTS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7" name="Picture 6" descr="A screenshot of a computer&#10;&#10;AI-generated content may be incorrect.">
            <a:extLst>
              <a:ext uri="{FF2B5EF4-FFF2-40B4-BE49-F238E27FC236}">
                <a16:creationId xmlns:a16="http://schemas.microsoft.com/office/drawing/2014/main" id="{F66CB851-8A9E-7645-F888-98C166C010E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 y="2590800"/>
            <a:ext cx="5410200" cy="2868930"/>
          </a:xfrm>
          <a:prstGeom prst="rect">
            <a:avLst/>
          </a:prstGeom>
        </p:spPr>
      </p:pic>
      <p:pic>
        <p:nvPicPr>
          <p:cNvPr id="9" name="Picture 8" descr="A screenshot of a computer">
            <a:extLst>
              <a:ext uri="{FF2B5EF4-FFF2-40B4-BE49-F238E27FC236}">
                <a16:creationId xmlns:a16="http://schemas.microsoft.com/office/drawing/2014/main" id="{8583C354-F140-3231-C62B-D0BD364AEF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1" y="2590801"/>
            <a:ext cx="4951411" cy="2868930"/>
          </a:xfrm>
          <a:prstGeom prst="rect">
            <a:avLst/>
          </a:prstGeom>
        </p:spPr>
      </p:pic>
    </p:spTree>
    <p:extLst>
      <p:ext uri="{BB962C8B-B14F-4D97-AF65-F5344CB8AC3E}">
        <p14:creationId xmlns:p14="http://schemas.microsoft.com/office/powerpoint/2010/main" val="2717746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E2B0AF-A796-28A7-21C1-472430E27F17}"/>
              </a:ext>
            </a:extLst>
          </p:cNvPr>
          <p:cNvSpPr>
            <a:spLocks noGrp="1"/>
          </p:cNvSpPr>
          <p:nvPr>
            <p:ph type="dt" sz="half" idx="10"/>
          </p:nvPr>
        </p:nvSpPr>
        <p:spPr/>
        <p:txBody>
          <a:bodyPr/>
          <a:lstStyle/>
          <a:p>
            <a:fld id="{5AFAA6AD-E6CF-4FF8-9CA0-C7F93D76C875}" type="datetime5">
              <a:rPr lang="en-US" smtClean="0"/>
              <a:pPr/>
              <a:t>22-Mar-25</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0D57F1EC-2F81-61DC-A05C-841EE2856B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 y="1981200"/>
            <a:ext cx="5105400" cy="32766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C1EBC0B6-30A7-73CA-6684-19395ED4181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24602" y="1981200"/>
            <a:ext cx="5547703" cy="3276600"/>
          </a:xfrm>
          <a:prstGeom prst="rect">
            <a:avLst/>
          </a:prstGeom>
        </p:spPr>
      </p:pic>
    </p:spTree>
    <p:extLst>
      <p:ext uri="{BB962C8B-B14F-4D97-AF65-F5344CB8AC3E}">
        <p14:creationId xmlns:p14="http://schemas.microsoft.com/office/powerpoint/2010/main" val="4212668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DAC75E-1740-F32B-F6A3-CA603F3C5701}"/>
              </a:ext>
            </a:extLst>
          </p:cNvPr>
          <p:cNvSpPr>
            <a:spLocks noGrp="1"/>
          </p:cNvSpPr>
          <p:nvPr>
            <p:ph type="dt" sz="half" idx="10"/>
          </p:nvPr>
        </p:nvSpPr>
        <p:spPr/>
        <p:txBody>
          <a:bodyPr/>
          <a:lstStyle/>
          <a:p>
            <a:fld id="{5AFAA6AD-E6CF-4FF8-9CA0-C7F93D76C875}" type="datetime5">
              <a:rPr lang="en-US" smtClean="0"/>
              <a:pPr/>
              <a:t>22-Mar-25</a:t>
            </a:fld>
            <a:endParaRPr lang="en-US" dirty="0"/>
          </a:p>
        </p:txBody>
      </p:sp>
      <p:pic>
        <p:nvPicPr>
          <p:cNvPr id="4" name="Picture 3" descr="A screenshot of a computer&#10;&#10;AI-generated content may be incorrect.">
            <a:extLst>
              <a:ext uri="{FF2B5EF4-FFF2-40B4-BE49-F238E27FC236}">
                <a16:creationId xmlns:a16="http://schemas.microsoft.com/office/drawing/2014/main" id="{E3667B73-40B4-772C-3C93-0BEEA7549F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3676" y="3429000"/>
            <a:ext cx="4126524" cy="274320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8A3B2806-7EFB-C7E6-59CC-91583B48A4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424627"/>
            <a:ext cx="4114800" cy="269957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F82109C-CE81-C6FD-A7FE-44F4EB3DD7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3505200"/>
            <a:ext cx="4419600" cy="2667000"/>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59F30CA9-D577-DE03-786B-48FADAFF1C2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96000" y="424627"/>
            <a:ext cx="4419600" cy="2699573"/>
          </a:xfrm>
          <a:prstGeom prst="rect">
            <a:avLst/>
          </a:prstGeom>
        </p:spPr>
      </p:pic>
    </p:spTree>
    <p:extLst>
      <p:ext uri="{BB962C8B-B14F-4D97-AF65-F5344CB8AC3E}">
        <p14:creationId xmlns:p14="http://schemas.microsoft.com/office/powerpoint/2010/main" val="12389261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1200" y="1346726"/>
            <a:ext cx="10769600" cy="4310608"/>
          </a:xfrm>
          <a:ln w="28575">
            <a:noFill/>
          </a:ln>
        </p:spPr>
        <p:txBody>
          <a:bodyPr>
            <a:normAutofit/>
          </a:bodyPr>
          <a:lstStyle/>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Safety Improvement</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Capacity Management</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Schedule Optimization</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Incident Management</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Environmental Impact Reduction</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Passenger Information Systems</a:t>
            </a:r>
          </a:p>
          <a:p>
            <a:pPr algn="just">
              <a:buClr>
                <a:srgbClr val="002060"/>
              </a:buClr>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Cost Reduction</a:t>
            </a:r>
          </a:p>
          <a:p>
            <a:pPr algn="just">
              <a:buClr>
                <a:srgbClr val="002060"/>
              </a:buClr>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lgn="just">
              <a:buClr>
                <a:srgbClr val="002060"/>
              </a:buClr>
              <a:buFont typeface="Wingdings" panose="05000000000000000000" pitchFamily="2" charset="2"/>
              <a:buChar char="Ø"/>
            </a:pPr>
            <a:endParaRPr lang="en-IN" sz="2800" dirty="0">
              <a:latin typeface="Times New Roman" panose="02020603050405020304" pitchFamily="18" charset="0"/>
              <a:cs typeface="Times New Roman" panose="02020603050405020304" pitchFamily="18" charset="0"/>
            </a:endParaRPr>
          </a:p>
          <a:p>
            <a:pPr algn="just">
              <a:buClr>
                <a:srgbClr val="002060"/>
              </a:buClr>
              <a:buFont typeface="Wingdings" panose="05000000000000000000" pitchFamily="2" charset="2"/>
              <a:buChar char="Ø"/>
            </a:pPr>
            <a:endParaRPr lang="en-US" sz="2400" dirty="0">
              <a:latin typeface="Times New Roman" pitchFamily="18" charset="0"/>
              <a:cs typeface="Times New Roman" pitchFamily="18" charset="0"/>
            </a:endParaRPr>
          </a:p>
        </p:txBody>
      </p:sp>
      <p:sp>
        <p:nvSpPr>
          <p:cNvPr id="14" name="Date Placeholder 13"/>
          <p:cNvSpPr>
            <a:spLocks noGrp="1"/>
          </p:cNvSpPr>
          <p:nvPr>
            <p:ph type="dt" sz="half" idx="10"/>
          </p:nvPr>
        </p:nvSpPr>
        <p:spPr/>
        <p:txBody>
          <a:bodyPr/>
          <a:lstStyle/>
          <a:p>
            <a:fld id="{3E918A0B-0987-4C44-9290-BA7920D68FCC}" type="datetime5">
              <a:rPr lang="en-US" smtClean="0"/>
              <a:pPr/>
              <a:t>22-Mar-25</a:t>
            </a:fld>
            <a:endParaRPr lang="en-US" dirty="0"/>
          </a:p>
        </p:txBody>
      </p:sp>
      <p:sp>
        <p:nvSpPr>
          <p:cNvPr id="5" name="Title 4">
            <a:extLst>
              <a:ext uri="{FF2B5EF4-FFF2-40B4-BE49-F238E27FC236}">
                <a16:creationId xmlns:a16="http://schemas.microsoft.com/office/drawing/2014/main" id="{7BE36E2C-78CF-954F-3E80-477E5AAC7538}"/>
              </a:ext>
            </a:extLst>
          </p:cNvPr>
          <p:cNvSpPr>
            <a:spLocks noGrp="1"/>
          </p:cNvSpPr>
          <p:nvPr>
            <p:ph type="title"/>
          </p:nvPr>
        </p:nvSpPr>
        <p:spPr>
          <a:xfrm>
            <a:off x="1143000" y="381000"/>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APPLICATIONS</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8323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337574" y="967680"/>
            <a:ext cx="11353800" cy="723900"/>
          </a:xfrm>
        </p:spPr>
        <p:txBody>
          <a:bodyPr/>
          <a:lstStyle/>
          <a:p>
            <a:pPr>
              <a:buFont typeface="Wingdings" panose="05000000000000000000" pitchFamily="2" charset="2"/>
              <a:buChar char="Ø"/>
              <a:defRPr/>
            </a:pPr>
            <a:r>
              <a:rPr lang="en-IN" sz="2800" spc="8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Software</a:t>
            </a:r>
            <a:r>
              <a:rPr lang="en-IN" sz="2800" spc="19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sz="2800" spc="7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Requirements</a:t>
            </a:r>
            <a:r>
              <a:rPr lang="en-IN" sz="2800" spc="70" dirty="0">
                <a:latin typeface="Times New Roman" panose="02020603050405020304" pitchFamily="18" charset="0"/>
                <a:cs typeface="Times New Roman" panose="02020603050405020304" pitchFamily="18" charset="0"/>
              </a:rPr>
              <a:t>:</a:t>
            </a:r>
            <a:r>
              <a:rPr lang="en-US" sz="3600" dirty="0">
                <a:latin typeface="Times New Roman" panose="02020603050405020304" pitchFamily="18" charset="0"/>
                <a:cs typeface="Times New Roman" panose="02020603050405020304" pitchFamily="18" charset="0"/>
              </a:rPr>
              <a:t>	</a:t>
            </a:r>
          </a:p>
          <a:p>
            <a:pPr marL="0" indent="0">
              <a:buNone/>
              <a:defRPr/>
            </a:pPr>
            <a:endParaRPr lang="en-US" altLang="en-US" sz="3600" dirty="0">
              <a:latin typeface="Times New Roman" panose="02020603050405020304" pitchFamily="18" charset="0"/>
              <a:cs typeface="Times New Roman" panose="02020603050405020304" pitchFamily="18" charset="0"/>
            </a:endParaRPr>
          </a:p>
          <a:p>
            <a:pPr marL="0" indent="0">
              <a:buNone/>
              <a:defRPr/>
            </a:pPr>
            <a:endParaRPr lang="en-US" altLang="en-US" sz="3600" dirty="0">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B5084348-7CBB-453E-9AE1-DBFA94ABC093}" type="datetime5">
              <a:rPr lang="en-US" smtClean="0"/>
              <a:pPr/>
              <a:t>22-Mar-25</a:t>
            </a:fld>
            <a:endParaRPr lang="en-US" dirty="0"/>
          </a:p>
        </p:txBody>
      </p:sp>
      <p:sp>
        <p:nvSpPr>
          <p:cNvPr id="3" name="TextBox 2">
            <a:extLst>
              <a:ext uri="{FF2B5EF4-FFF2-40B4-BE49-F238E27FC236}">
                <a16:creationId xmlns:a16="http://schemas.microsoft.com/office/drawing/2014/main" id="{10C01967-E478-6CD6-D293-E9370A56664D}"/>
              </a:ext>
            </a:extLst>
          </p:cNvPr>
          <p:cNvSpPr txBox="1"/>
          <p:nvPr/>
        </p:nvSpPr>
        <p:spPr>
          <a:xfrm>
            <a:off x="838200" y="3733800"/>
            <a:ext cx="9448800" cy="2677656"/>
          </a:xfrm>
          <a:prstGeom prst="rect">
            <a:avLst/>
          </a:prstGeom>
          <a:noFill/>
        </p:spPr>
        <p:txBody>
          <a:bodyPr wrap="square" rtlCol="0">
            <a:spAutoFit/>
          </a:bodyPr>
          <a:lstStyle/>
          <a:p>
            <a:pPr algn="just"/>
            <a:r>
              <a:rPr lang="en-GB" sz="2400" dirty="0">
                <a:latin typeface="Times New Roman" panose="02020603050405020304" pitchFamily="18" charset="0"/>
                <a:cs typeface="Times New Roman" panose="02020603050405020304" pitchFamily="18" charset="0"/>
              </a:rPr>
              <a:t>Processor  		:    </a:t>
            </a:r>
            <a:r>
              <a:rPr lang="en-US" sz="2400" dirty="0">
                <a:latin typeface="Times New Roman" panose="02020603050405020304" pitchFamily="18" charset="0"/>
                <a:cs typeface="Times New Roman" panose="02020603050405020304" pitchFamily="18" charset="0"/>
              </a:rPr>
              <a:t>I3 Above</a:t>
            </a:r>
          </a:p>
          <a:p>
            <a:pPr lvl="0" algn="just"/>
            <a:r>
              <a:rPr lang="en-GB" sz="2400" dirty="0">
                <a:latin typeface="Times New Roman" panose="02020603050405020304" pitchFamily="18" charset="0"/>
                <a:cs typeface="Times New Roman" panose="02020603050405020304" pitchFamily="18" charset="0"/>
              </a:rPr>
              <a:t>Speed      		:    2.4 </a:t>
            </a:r>
            <a:r>
              <a:rPr lang="en-GB" sz="2400" dirty="0" err="1">
                <a:latin typeface="Times New Roman" panose="02020603050405020304" pitchFamily="18" charset="0"/>
                <a:cs typeface="Times New Roman" panose="02020603050405020304" pitchFamily="18" charset="0"/>
              </a:rPr>
              <a:t>Ghz</a:t>
            </a:r>
            <a:r>
              <a:rPr lang="en-US" sz="2400" dirty="0">
                <a:latin typeface="Times New Roman" panose="02020603050405020304" pitchFamily="18" charset="0"/>
                <a:cs typeface="Times New Roman" panose="02020603050405020304" pitchFamily="18" charset="0"/>
              </a:rPr>
              <a:t> </a:t>
            </a:r>
          </a:p>
          <a:p>
            <a:pPr lvl="0" algn="just"/>
            <a:r>
              <a:rPr lang="en-GB" sz="2400" dirty="0">
                <a:latin typeface="Times New Roman" panose="02020603050405020304" pitchFamily="18" charset="0"/>
                <a:cs typeface="Times New Roman" panose="02020603050405020304" pitchFamily="18" charset="0"/>
              </a:rPr>
              <a:t>RAM      	      :    4 Gb (min)</a:t>
            </a:r>
            <a:r>
              <a:rPr lang="en-US" sz="2400" dirty="0">
                <a:latin typeface="Times New Roman" panose="02020603050405020304" pitchFamily="18" charset="0"/>
                <a:cs typeface="Times New Roman" panose="02020603050405020304" pitchFamily="18" charset="0"/>
              </a:rPr>
              <a:t> </a:t>
            </a:r>
          </a:p>
          <a:p>
            <a:pPr lvl="0" algn="just"/>
            <a:r>
              <a:rPr lang="en-GB" sz="2400" dirty="0">
                <a:latin typeface="Times New Roman" panose="02020603050405020304" pitchFamily="18" charset="0"/>
                <a:cs typeface="Times New Roman" panose="02020603050405020304" pitchFamily="18" charset="0"/>
              </a:rPr>
              <a:t>Hard Disk	 	:    500 Gb</a:t>
            </a:r>
          </a:p>
          <a:p>
            <a:pPr lvl="0" algn="just"/>
            <a:r>
              <a:rPr lang="en-GB" sz="2400" dirty="0">
                <a:latin typeface="Times New Roman" panose="02020603050405020304" pitchFamily="18" charset="0"/>
                <a:cs typeface="Times New Roman" panose="02020603050405020304" pitchFamily="18" charset="0"/>
              </a:rPr>
              <a:t>Key Board       :    Standard Windows Keyboard</a:t>
            </a:r>
            <a:r>
              <a:rPr lang="en-US" sz="2400" dirty="0">
                <a:latin typeface="Times New Roman" panose="02020603050405020304" pitchFamily="18" charset="0"/>
                <a:cs typeface="Times New Roman" panose="02020603050405020304" pitchFamily="18" charset="0"/>
              </a:rPr>
              <a:t> </a:t>
            </a:r>
          </a:p>
          <a:p>
            <a:pPr lvl="0" algn="just"/>
            <a:r>
              <a:rPr lang="en-GB" sz="2400" dirty="0">
                <a:latin typeface="Times New Roman" panose="02020603050405020304" pitchFamily="18" charset="0"/>
                <a:cs typeface="Times New Roman" panose="02020603050405020304" pitchFamily="18" charset="0"/>
              </a:rPr>
              <a:t>Mouse 		      </a:t>
            </a:r>
            <a:r>
              <a:rPr lang="en-GB" sz="2400">
                <a:latin typeface="Times New Roman" panose="02020603050405020304" pitchFamily="18" charset="0"/>
                <a:cs typeface="Times New Roman" panose="02020603050405020304" pitchFamily="18" charset="0"/>
              </a:rPr>
              <a:t>:    Two </a:t>
            </a:r>
            <a:r>
              <a:rPr lang="en-GB" sz="2400" dirty="0">
                <a:latin typeface="Times New Roman" panose="02020603050405020304" pitchFamily="18" charset="0"/>
                <a:cs typeface="Times New Roman" panose="02020603050405020304" pitchFamily="18" charset="0"/>
              </a:rPr>
              <a:t>or Three Button Mouse</a:t>
            </a:r>
            <a:endParaRPr lang="en-US" sz="2400" dirty="0">
              <a:latin typeface="Times New Roman" panose="02020603050405020304" pitchFamily="18" charset="0"/>
              <a:cs typeface="Times New Roman" panose="02020603050405020304" pitchFamily="18" charset="0"/>
            </a:endParaRPr>
          </a:p>
          <a:p>
            <a:pPr lvl="0" algn="just"/>
            <a:endParaRPr lang="en-IN"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C984752-A323-5894-1F5B-4B325B824787}"/>
              </a:ext>
            </a:extLst>
          </p:cNvPr>
          <p:cNvSpPr txBox="1"/>
          <p:nvPr/>
        </p:nvSpPr>
        <p:spPr>
          <a:xfrm>
            <a:off x="369529" y="3167390"/>
            <a:ext cx="6248400" cy="523220"/>
          </a:xfrm>
          <a:prstGeom prst="rect">
            <a:avLst/>
          </a:prstGeom>
          <a:noFill/>
        </p:spPr>
        <p:txBody>
          <a:bodyPr wrap="square" rtlCol="0">
            <a:spAutoFit/>
          </a:bodyPr>
          <a:lstStyle/>
          <a:p>
            <a:pPr marL="285750" indent="-285750">
              <a:buFont typeface="Wingdings" panose="05000000000000000000" pitchFamily="2" charset="2"/>
              <a:buChar char="Ø"/>
            </a:pPr>
            <a:r>
              <a:rPr lang="en-IN" sz="28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Hardware Requirements:</a:t>
            </a:r>
          </a:p>
        </p:txBody>
      </p:sp>
      <p:sp>
        <p:nvSpPr>
          <p:cNvPr id="8" name="Title 7">
            <a:extLst>
              <a:ext uri="{FF2B5EF4-FFF2-40B4-BE49-F238E27FC236}">
                <a16:creationId xmlns:a16="http://schemas.microsoft.com/office/drawing/2014/main" id="{F0D8D679-34E2-D1D9-4CB2-880153C8644A}"/>
              </a:ext>
            </a:extLst>
          </p:cNvPr>
          <p:cNvSpPr>
            <a:spLocks noGrp="1"/>
          </p:cNvSpPr>
          <p:nvPr>
            <p:ph type="title"/>
          </p:nvPr>
        </p:nvSpPr>
        <p:spPr>
          <a:xfrm>
            <a:off x="1144587" y="206746"/>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REQUIREMENTS FOR PROJECT</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C9E3395-DC75-A319-2D88-58F9DF9127F0}"/>
              </a:ext>
            </a:extLst>
          </p:cNvPr>
          <p:cNvSpPr txBox="1"/>
          <p:nvPr/>
        </p:nvSpPr>
        <p:spPr>
          <a:xfrm>
            <a:off x="838200" y="1613927"/>
            <a:ext cx="9448800" cy="1938992"/>
          </a:xfrm>
          <a:prstGeom prst="rect">
            <a:avLst/>
          </a:prstGeom>
          <a:noFill/>
        </p:spPr>
        <p:txBody>
          <a:bodyPr wrap="square" rtlCol="0">
            <a:spAutoFit/>
          </a:bodyPr>
          <a:lstStyle/>
          <a:p>
            <a:pPr lvl="0" algn="just"/>
            <a:r>
              <a:rPr lang="en-GB" sz="2400" dirty="0">
                <a:latin typeface="Times New Roman" panose="02020603050405020304" pitchFamily="18" charset="0"/>
                <a:cs typeface="Times New Roman" panose="02020603050405020304" pitchFamily="18" charset="0"/>
              </a:rPr>
              <a:t>Operating System          		:   Windows </a:t>
            </a:r>
            <a:endParaRPr lang="en-US" sz="2400" dirty="0">
              <a:latin typeface="Times New Roman" panose="02020603050405020304" pitchFamily="18" charset="0"/>
              <a:cs typeface="Times New Roman" panose="02020603050405020304" pitchFamily="18" charset="0"/>
            </a:endParaRPr>
          </a:p>
          <a:p>
            <a:pPr lvl="0" algn="just"/>
            <a:r>
              <a:rPr lang="en-GB" sz="2400" dirty="0">
                <a:latin typeface="Times New Roman" panose="02020603050405020304" pitchFamily="18" charset="0"/>
                <a:cs typeface="Times New Roman" panose="02020603050405020304" pitchFamily="18" charset="0"/>
              </a:rPr>
              <a:t>Front End                        		:   </a:t>
            </a:r>
            <a:r>
              <a:rPr lang="en-US" sz="2400" dirty="0">
                <a:latin typeface="Times New Roman" panose="02020603050405020304" pitchFamily="18" charset="0"/>
                <a:cs typeface="Times New Roman" panose="02020603050405020304" pitchFamily="18" charset="0"/>
              </a:rPr>
              <a:t>Anaconda Navigator</a:t>
            </a:r>
          </a:p>
          <a:p>
            <a:pPr lvl="0" algn="just"/>
            <a:r>
              <a:rPr lang="en-GB" sz="2400" dirty="0">
                <a:latin typeface="Times New Roman" panose="02020603050405020304" pitchFamily="18" charset="0"/>
                <a:cs typeface="Times New Roman" panose="02020603050405020304" pitchFamily="18" charset="0"/>
              </a:rPr>
              <a:t>Database                         	 	:   </a:t>
            </a:r>
            <a:r>
              <a:rPr lang="en-US" sz="2400" dirty="0">
                <a:latin typeface="Times New Roman" panose="02020603050405020304" pitchFamily="18" charset="0"/>
                <a:cs typeface="Times New Roman" panose="02020603050405020304" pitchFamily="18" charset="0"/>
              </a:rPr>
              <a:t>CSV             </a:t>
            </a:r>
            <a:r>
              <a:rPr lang="en-GB" sz="2400" dirty="0">
                <a:latin typeface="Times New Roman" panose="02020603050405020304" pitchFamily="18" charset="0"/>
                <a:cs typeface="Times New Roman" panose="02020603050405020304" pitchFamily="18" charset="0"/>
              </a:rPr>
              <a:t>                         	 	:   Language                                :   </a:t>
            </a:r>
            <a:r>
              <a:rPr lang="en-GB" sz="2400" dirty="0" err="1">
                <a:latin typeface="Times New Roman" panose="02020603050405020304" pitchFamily="18" charset="0"/>
                <a:cs typeface="Times New Roman" panose="02020603050405020304" pitchFamily="18" charset="0"/>
              </a:rPr>
              <a:t>Python,HTML</a:t>
            </a:r>
            <a:r>
              <a:rPr lang="en-GB"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22149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4473B-3DF9-C865-25B5-FF389E82D5CD}"/>
              </a:ext>
            </a:extLst>
          </p:cNvPr>
          <p:cNvSpPr>
            <a:spLocks noGrp="1"/>
          </p:cNvSpPr>
          <p:nvPr>
            <p:ph type="title"/>
          </p:nvPr>
        </p:nvSpPr>
        <p:spPr>
          <a:xfrm>
            <a:off x="1143000" y="228600"/>
            <a:ext cx="8761413" cy="706964"/>
          </a:xfrm>
        </p:spPr>
        <p:txBody>
          <a:bodyPr/>
          <a:lstStyle/>
          <a:p>
            <a:r>
              <a:rPr lang="en-US" dirty="0"/>
              <a:t>                    </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REFERENCES</a:t>
            </a:r>
            <a:endParaRPr lang="en-IN"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Date Placeholder 13"/>
          <p:cNvSpPr>
            <a:spLocks noGrp="1"/>
          </p:cNvSpPr>
          <p:nvPr>
            <p:ph type="dt" sz="half" idx="10"/>
          </p:nvPr>
        </p:nvSpPr>
        <p:spPr/>
        <p:txBody>
          <a:bodyPr/>
          <a:lstStyle/>
          <a:p>
            <a:fld id="{6D86261E-DE3E-41D4-9619-02F889D7EFA7}" type="datetime5">
              <a:rPr lang="en-US" smtClean="0"/>
              <a:pPr/>
              <a:t>22-Mar-25</a:t>
            </a:fld>
            <a:endParaRPr lang="en-US" dirty="0"/>
          </a:p>
        </p:txBody>
      </p:sp>
      <p:sp>
        <p:nvSpPr>
          <p:cNvPr id="8" name="Content Placeholder 2"/>
          <p:cNvSpPr>
            <a:spLocks noGrp="1"/>
          </p:cNvSpPr>
          <p:nvPr>
            <p:ph idx="4294967295"/>
          </p:nvPr>
        </p:nvSpPr>
        <p:spPr>
          <a:xfrm>
            <a:off x="914400" y="1214438"/>
            <a:ext cx="11277600" cy="4805362"/>
          </a:xfrm>
          <a:noFill/>
          <a:ln>
            <a:noFill/>
          </a:ln>
        </p:spPr>
        <p:style>
          <a:lnRef idx="2">
            <a:schemeClr val="dk1"/>
          </a:lnRef>
          <a:fillRef idx="1">
            <a:schemeClr val="lt1"/>
          </a:fillRef>
          <a:effectRef idx="0">
            <a:schemeClr val="dk1"/>
          </a:effectRef>
          <a:fontRef idx="minor">
            <a:schemeClr val="dk1"/>
          </a:fontRef>
        </p:style>
        <p:txBody>
          <a:bodyPr>
            <a:normAutofit/>
          </a:bodyPr>
          <a:lstStyle/>
          <a:p>
            <a:pPr marL="0" indent="0" algn="just">
              <a:buNone/>
            </a:pPr>
            <a:r>
              <a:rPr lang="en-US" sz="2800" dirty="0">
                <a:latin typeface="Times New Roman" panose="02020603050405020304" pitchFamily="18" charset="0"/>
                <a:cs typeface="Times New Roman" panose="02020603050405020304" pitchFamily="18" charset="0"/>
              </a:rPr>
              <a:t>[1] Chao Wen et al. “A predictive model of train delays on a railway line” (2020) </a:t>
            </a:r>
          </a:p>
          <a:p>
            <a:pPr marL="0" indent="0" algn="just">
              <a:buNone/>
            </a:pPr>
            <a:r>
              <a:rPr lang="en-US" sz="2800" dirty="0">
                <a:latin typeface="Times New Roman" panose="02020603050405020304" pitchFamily="18" charset="0"/>
                <a:cs typeface="Times New Roman" panose="02020603050405020304" pitchFamily="18" charset="0"/>
              </a:rPr>
              <a:t>[2] </a:t>
            </a:r>
            <a:r>
              <a:rPr lang="en-US" sz="2800" dirty="0" err="1">
                <a:latin typeface="Times New Roman" panose="02020603050405020304" pitchFamily="18" charset="0"/>
                <a:cs typeface="Times New Roman" panose="02020603050405020304" pitchFamily="18" charset="0"/>
              </a:rPr>
              <a:t>Panukorn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Taleongpong</a:t>
            </a:r>
            <a:r>
              <a:rPr lang="en-US" sz="2800" dirty="0">
                <a:latin typeface="Times New Roman" panose="02020603050405020304" pitchFamily="18" charset="0"/>
                <a:cs typeface="Times New Roman" panose="02020603050405020304" pitchFamily="18" charset="0"/>
              </a:rPr>
              <a:t> et al. “Machine learning tech </a:t>
            </a:r>
            <a:r>
              <a:rPr lang="en-US" sz="2800" dirty="0" err="1">
                <a:latin typeface="Times New Roman" panose="02020603050405020304" pitchFamily="18" charset="0"/>
                <a:cs typeface="Times New Roman" panose="02020603050405020304" pitchFamily="18" charset="0"/>
              </a:rPr>
              <a:t>niques</a:t>
            </a:r>
            <a:r>
              <a:rPr lang="en-US" sz="2800" dirty="0">
                <a:latin typeface="Times New Roman" panose="02020603050405020304" pitchFamily="18" charset="0"/>
                <a:cs typeface="Times New Roman" panose="02020603050405020304" pitchFamily="18" charset="0"/>
              </a:rPr>
              <a:t> to predict reactionary delays and other </a:t>
            </a:r>
            <a:r>
              <a:rPr lang="en-US" sz="2800" dirty="0" err="1">
                <a:latin typeface="Times New Roman" panose="02020603050405020304" pitchFamily="18" charset="0"/>
                <a:cs typeface="Times New Roman" panose="02020603050405020304" pitchFamily="18" charset="0"/>
              </a:rPr>
              <a:t>asso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ciated</a:t>
            </a:r>
            <a:r>
              <a:rPr lang="en-US" sz="2800" dirty="0">
                <a:latin typeface="Times New Roman" panose="02020603050405020304" pitchFamily="18" charset="0"/>
                <a:cs typeface="Times New Roman" panose="02020603050405020304" pitchFamily="18" charset="0"/>
              </a:rPr>
              <a:t> key performance indicators on British railway network”.</a:t>
            </a:r>
          </a:p>
          <a:p>
            <a:pPr marL="0" indent="0" algn="just">
              <a:buNone/>
            </a:pPr>
            <a:r>
              <a:rPr lang="en-US" sz="2800" dirty="0">
                <a:latin typeface="Times New Roman" panose="02020603050405020304" pitchFamily="18" charset="0"/>
                <a:cs typeface="Times New Roman" panose="02020603050405020304" pitchFamily="18" charset="0"/>
              </a:rPr>
              <a:t>[3] </a:t>
            </a:r>
            <a:r>
              <a:rPr lang="fr-FR" sz="2800" dirty="0">
                <a:latin typeface="Times New Roman" panose="02020603050405020304" pitchFamily="18" charset="0"/>
                <a:cs typeface="Times New Roman" panose="02020603050405020304" pitchFamily="18" charset="0"/>
              </a:rPr>
              <a:t>Rahul Nair et al. “An ensemble </a:t>
            </a:r>
            <a:r>
              <a:rPr lang="fr-FR" sz="2800" dirty="0" err="1">
                <a:latin typeface="Times New Roman" panose="02020603050405020304" pitchFamily="18" charset="0"/>
                <a:cs typeface="Times New Roman" panose="02020603050405020304" pitchFamily="18" charset="0"/>
              </a:rPr>
              <a:t>prediction</a:t>
            </a:r>
            <a:r>
              <a:rPr lang="fr-FR" sz="2800" dirty="0">
                <a:latin typeface="Times New Roman" panose="02020603050405020304" pitchFamily="18" charset="0"/>
                <a:cs typeface="Times New Roman" panose="02020603050405020304" pitchFamily="18" charset="0"/>
              </a:rPr>
              <a:t> model for train </a:t>
            </a:r>
            <a:r>
              <a:rPr lang="fr-FR" sz="2800" dirty="0" err="1">
                <a:latin typeface="Times New Roman" panose="02020603050405020304" pitchFamily="18" charset="0"/>
                <a:cs typeface="Times New Roman" panose="02020603050405020304" pitchFamily="18" charset="0"/>
              </a:rPr>
              <a:t>delays</a:t>
            </a:r>
            <a:r>
              <a:rPr lang="fr-FR" sz="2800" dirty="0">
                <a:latin typeface="Times New Roman" panose="02020603050405020304" pitchFamily="18" charset="0"/>
                <a:cs typeface="Times New Roman" panose="02020603050405020304" pitchFamily="18" charset="0"/>
              </a:rPr>
              <a:t>”. </a:t>
            </a:r>
          </a:p>
          <a:p>
            <a:pPr marL="0" indent="0" algn="just">
              <a:buNone/>
            </a:pPr>
            <a:r>
              <a:rPr lang="en-US" sz="2800" dirty="0">
                <a:latin typeface="Times New Roman" panose="02020603050405020304" pitchFamily="18" charset="0"/>
                <a:cs typeface="Times New Roman" panose="02020603050405020304" pitchFamily="18" charset="0"/>
              </a:rPr>
              <a:t>[4] </a:t>
            </a:r>
            <a:r>
              <a:rPr lang="en-IN" sz="2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Weiwei Mou , “</a:t>
            </a:r>
            <a:r>
              <a:rPr lang="en-IN" sz="28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Predictive Model of Train Delays in a Railway System”.</a:t>
            </a:r>
            <a:endParaRPr lang="en-US" sz="28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sz="28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[5] </a:t>
            </a:r>
            <a:r>
              <a:rPr lang="en-IN" sz="2800" dirty="0">
                <a:solidFill>
                  <a:srgbClr val="000000"/>
                </a:solidFill>
                <a:latin typeface="Times New Roman" panose="02020603050405020304" pitchFamily="18" charset="0"/>
                <a:ea typeface="Times New Roman" panose="02020603050405020304" pitchFamily="18" charset="0"/>
              </a:rPr>
              <a:t>Francesco, </a:t>
            </a:r>
            <a:r>
              <a:rPr lang="en-IN" sz="2800" dirty="0" err="1">
                <a:solidFill>
                  <a:srgbClr val="000000"/>
                </a:solidFill>
                <a:latin typeface="Times New Roman" panose="02020603050405020304" pitchFamily="18" charset="0"/>
                <a:ea typeface="Times New Roman" panose="02020603050405020304" pitchFamily="18" charset="0"/>
              </a:rPr>
              <a:t>C.,Pavle</a:t>
            </a:r>
            <a:r>
              <a:rPr lang="en-IN" sz="2800" dirty="0">
                <a:solidFill>
                  <a:srgbClr val="000000"/>
                </a:solidFill>
                <a:latin typeface="Times New Roman" panose="02020603050405020304" pitchFamily="18" charset="0"/>
                <a:ea typeface="Times New Roman" panose="02020603050405020304" pitchFamily="18" charset="0"/>
              </a:rPr>
              <a:t>, K.,2018.Stochastic prediction of train delays in real-time using Bayesian networks. </a:t>
            </a:r>
            <a:endParaRPr lang="en-US" sz="2800"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IN" sz="2400" dirty="0"/>
          </a:p>
        </p:txBody>
      </p:sp>
    </p:spTree>
    <p:extLst>
      <p:ext uri="{BB962C8B-B14F-4D97-AF65-F5344CB8AC3E}">
        <p14:creationId xmlns:p14="http://schemas.microsoft.com/office/powerpoint/2010/main" val="2012760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Date Placeholder 13"/>
          <p:cNvSpPr>
            <a:spLocks noGrp="1"/>
          </p:cNvSpPr>
          <p:nvPr>
            <p:ph type="dt" sz="half" idx="10"/>
          </p:nvPr>
        </p:nvSpPr>
        <p:spPr/>
        <p:txBody>
          <a:bodyPr/>
          <a:lstStyle/>
          <a:p>
            <a:fld id="{A75A7DDB-4FFC-4226-AA06-D61431761ABF}" type="datetime5">
              <a:rPr lang="en-US" b="1" smtClean="0"/>
              <a:pPr/>
              <a:t>22-Mar-25</a:t>
            </a:fld>
            <a:endParaRPr lang="en-US" b="1" dirty="0"/>
          </a:p>
        </p:txBody>
      </p:sp>
      <p:graphicFrame>
        <p:nvGraphicFramePr>
          <p:cNvPr id="5" name="Table 4"/>
          <p:cNvGraphicFramePr>
            <a:graphicFrameLocks noGrp="1"/>
          </p:cNvGraphicFramePr>
          <p:nvPr>
            <p:extLst>
              <p:ext uri="{D42A27DB-BD31-4B8C-83A1-F6EECF244321}">
                <p14:modId xmlns:p14="http://schemas.microsoft.com/office/powerpoint/2010/main" val="2093770707"/>
              </p:ext>
            </p:extLst>
          </p:nvPr>
        </p:nvGraphicFramePr>
        <p:xfrm>
          <a:off x="609603" y="1142984"/>
          <a:ext cx="11125200" cy="5291921"/>
        </p:xfrm>
        <a:graphic>
          <a:graphicData uri="http://schemas.openxmlformats.org/drawingml/2006/table">
            <a:tbl>
              <a:tblPr firstRow="1" bandRow="1">
                <a:tableStyleId>{BC89EF96-8CEA-46FF-86C4-4CE0E7609802}</a:tableStyleId>
              </a:tblPr>
              <a:tblGrid>
                <a:gridCol w="1122727">
                  <a:extLst>
                    <a:ext uri="{9D8B030D-6E8A-4147-A177-3AD203B41FA5}">
                      <a16:colId xmlns:a16="http://schemas.microsoft.com/office/drawing/2014/main" val="20000"/>
                    </a:ext>
                  </a:extLst>
                </a:gridCol>
                <a:gridCol w="5817764">
                  <a:extLst>
                    <a:ext uri="{9D8B030D-6E8A-4147-A177-3AD203B41FA5}">
                      <a16:colId xmlns:a16="http://schemas.microsoft.com/office/drawing/2014/main" val="20001"/>
                    </a:ext>
                  </a:extLst>
                </a:gridCol>
                <a:gridCol w="2449585">
                  <a:extLst>
                    <a:ext uri="{9D8B030D-6E8A-4147-A177-3AD203B41FA5}">
                      <a16:colId xmlns:a16="http://schemas.microsoft.com/office/drawing/2014/main" val="20002"/>
                    </a:ext>
                  </a:extLst>
                </a:gridCol>
                <a:gridCol w="1735124">
                  <a:extLst>
                    <a:ext uri="{9D8B030D-6E8A-4147-A177-3AD203B41FA5}">
                      <a16:colId xmlns:a16="http://schemas.microsoft.com/office/drawing/2014/main" val="20003"/>
                    </a:ext>
                  </a:extLst>
                </a:gridCol>
              </a:tblGrid>
              <a:tr h="303045">
                <a:tc>
                  <a:txBody>
                    <a:bodyPr/>
                    <a:lstStyle/>
                    <a:p>
                      <a:pPr algn="just"/>
                      <a:r>
                        <a:rPr lang="en-IN" sz="1200" dirty="0">
                          <a:latin typeface="+mj-lt"/>
                        </a:rPr>
                        <a:t>S.NO.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200" dirty="0">
                          <a:latin typeface="+mj-lt"/>
                        </a:rPr>
                        <a:t>ACTIVITY/MODULE/SUB-MODULE</a:t>
                      </a:r>
                      <a:r>
                        <a:rPr lang="en-IN" sz="1200" baseline="0" dirty="0">
                          <a:latin typeface="+mj-lt"/>
                        </a:rPr>
                        <a:t> OF THE PROJECT</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DURATION/DATE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03045">
                <a:tc>
                  <a:txBody>
                    <a:bodyPr/>
                    <a:lstStyle/>
                    <a:p>
                      <a:pPr algn="just"/>
                      <a:r>
                        <a:rPr lang="en-IN" sz="1200" dirty="0">
                          <a:latin typeface="+mj-lt"/>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just"/>
                      <a:r>
                        <a:rPr lang="en-IN" sz="1200" baseline="0" dirty="0">
                          <a:latin typeface="+mj-lt"/>
                        </a:rPr>
                        <a:t>Abstract Preparation</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August’2024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Completed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01"/>
                  </a:ext>
                </a:extLst>
              </a:tr>
              <a:tr h="303045">
                <a:tc>
                  <a:txBody>
                    <a:bodyPr/>
                    <a:lstStyle/>
                    <a:p>
                      <a:pPr algn="just"/>
                      <a:r>
                        <a:rPr lang="en-IN" sz="1200" dirty="0">
                          <a:latin typeface="+mj-lt"/>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200" dirty="0">
                          <a:latin typeface="+mj-lt"/>
                        </a:rPr>
                        <a:t>Registration Seminar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 August’2024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96602">
                <a:tc>
                  <a:txBody>
                    <a:bodyPr/>
                    <a:lstStyle/>
                    <a:p>
                      <a:pPr algn="just"/>
                      <a:r>
                        <a:rPr lang="en-IN" sz="1200" dirty="0">
                          <a:latin typeface="+mj-lt"/>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marL="285750" indent="-285750" algn="just">
                        <a:buNone/>
                      </a:pPr>
                      <a:r>
                        <a:rPr lang="en-IN" sz="1200" baseline="0" dirty="0">
                          <a:latin typeface="+mj-lt"/>
                        </a:rPr>
                        <a:t>Data collection</a:t>
                      </a:r>
                    </a:p>
                    <a:p>
                      <a:pPr marL="285750" indent="-285750" algn="just">
                        <a:buAutoNum type="romanLcParenBoth"/>
                      </a:pP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September’2024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endParaRPr lang="en-IN" sz="1200" dirty="0">
                        <a:latin typeface="+mj-lt"/>
                      </a:endParaRPr>
                    </a:p>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03"/>
                  </a:ext>
                </a:extLst>
              </a:tr>
              <a:tr h="473508">
                <a:tc>
                  <a:txBody>
                    <a:bodyPr/>
                    <a:lstStyle/>
                    <a:p>
                      <a:pPr algn="just"/>
                      <a:r>
                        <a:rPr lang="en-IN" sz="1200" dirty="0">
                          <a:latin typeface="+mj-lt"/>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200" dirty="0">
                          <a:latin typeface="+mj-lt"/>
                        </a:rPr>
                        <a:t>Data preparing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September’2024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Completed</a:t>
                      </a:r>
                    </a:p>
                    <a:p>
                      <a:pPr algn="ct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62911">
                <a:tc>
                  <a:txBody>
                    <a:bodyPr/>
                    <a:lstStyle/>
                    <a:p>
                      <a:pPr algn="just"/>
                      <a:r>
                        <a:rPr lang="en-IN" sz="1200" dirty="0">
                          <a:latin typeface="+mj-lt"/>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marL="400050" indent="-400050" algn="just">
                        <a:buNone/>
                      </a:pPr>
                      <a:endParaRPr lang="en-IN" sz="1200" dirty="0">
                        <a:latin typeface="+mj-lt"/>
                      </a:endParaRPr>
                    </a:p>
                    <a:p>
                      <a:pPr marL="0" indent="0" algn="just">
                        <a:buNone/>
                      </a:pPr>
                      <a:r>
                        <a:rPr lang="en-IN" sz="1200" dirty="0">
                          <a:latin typeface="+mj-lt"/>
                        </a:rPr>
                        <a:t>(</a:t>
                      </a:r>
                      <a:r>
                        <a:rPr lang="en-IN" sz="1200" dirty="0" err="1">
                          <a:latin typeface="+mj-lt"/>
                        </a:rPr>
                        <a:t>i</a:t>
                      </a:r>
                      <a:r>
                        <a:rPr lang="en-IN" sz="1200" dirty="0">
                          <a:latin typeface="+mj-lt"/>
                        </a:rPr>
                        <a:t>)Progress Seminar - I</a:t>
                      </a:r>
                    </a:p>
                    <a:p>
                      <a:pPr marL="0" indent="0" algn="just">
                        <a:buNone/>
                      </a:pPr>
                      <a:r>
                        <a:rPr lang="en-IN" sz="1200" dirty="0">
                          <a:latin typeface="+mj-lt"/>
                        </a:rPr>
                        <a:t>(ii)Submission of Phase-I</a:t>
                      </a:r>
                      <a:r>
                        <a:rPr lang="en-IN" sz="1200" baseline="0" dirty="0">
                          <a:latin typeface="+mj-lt"/>
                        </a:rPr>
                        <a:t> Project Report</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kumimoji="0" lang="en-IN" sz="1200" kern="1200" dirty="0">
                          <a:solidFill>
                            <a:schemeClr val="tx1"/>
                          </a:solidFill>
                          <a:latin typeface="+mj-lt"/>
                          <a:ea typeface="+mn-ea"/>
                          <a:cs typeface="+mn-cs"/>
                        </a:rPr>
                        <a:t>October’2024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Completed</a:t>
                      </a:r>
                    </a:p>
                    <a:p>
                      <a:pPr algn="ct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05"/>
                  </a:ext>
                </a:extLst>
              </a:tr>
              <a:tr h="303045">
                <a:tc>
                  <a:txBody>
                    <a:bodyPr/>
                    <a:lstStyle/>
                    <a:p>
                      <a:pPr algn="just"/>
                      <a:r>
                        <a:rPr lang="en-IN" sz="1200" dirty="0">
                          <a:latin typeface="+mj-lt"/>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200" dirty="0">
                          <a:latin typeface="+mj-lt"/>
                        </a:rPr>
                        <a:t>Major Project Work Phase</a:t>
                      </a:r>
                      <a:r>
                        <a:rPr lang="en-IN" sz="1200" baseline="0" dirty="0">
                          <a:latin typeface="+mj-lt"/>
                        </a:rPr>
                        <a:t> – I – Viva-Voce</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200" kern="1200" dirty="0">
                          <a:solidFill>
                            <a:schemeClr val="tx1"/>
                          </a:solidFill>
                          <a:latin typeface="+mj-lt"/>
                          <a:ea typeface="+mn-ea"/>
                          <a:cs typeface="+mn-cs"/>
                        </a:rPr>
                        <a:t>November’2024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660015">
                <a:tc>
                  <a:txBody>
                    <a:bodyPr/>
                    <a:lstStyle/>
                    <a:p>
                      <a:pPr algn="just"/>
                      <a:r>
                        <a:rPr lang="en-IN" sz="1200" dirty="0">
                          <a:latin typeface="+mj-lt"/>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just"/>
                      <a:r>
                        <a:rPr lang="en-IN" sz="1200" dirty="0">
                          <a:latin typeface="+mj-lt"/>
                        </a:rPr>
                        <a:t>Splitting the data module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kumimoji="0" lang="en-IN" sz="1200" kern="1200" dirty="0">
                          <a:solidFill>
                            <a:schemeClr val="tx1"/>
                          </a:solidFill>
                          <a:latin typeface="+mj-lt"/>
                          <a:ea typeface="+mn-ea"/>
                          <a:cs typeface="+mn-cs"/>
                        </a:rPr>
                        <a:t>December’2024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07"/>
                  </a:ext>
                </a:extLst>
              </a:tr>
              <a:tr h="505076">
                <a:tc>
                  <a:txBody>
                    <a:bodyPr/>
                    <a:lstStyle/>
                    <a:p>
                      <a:pPr algn="just"/>
                      <a:r>
                        <a:rPr lang="en-IN" sz="1200" dirty="0">
                          <a:latin typeface="+mj-lt"/>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200" dirty="0">
                          <a:latin typeface="+mj-lt"/>
                        </a:rPr>
                        <a:t>(i) Implementing</a:t>
                      </a:r>
                      <a:r>
                        <a:rPr lang="en-IN" sz="1200" baseline="0" dirty="0">
                          <a:latin typeface="+mj-lt"/>
                        </a:rPr>
                        <a:t> using python code.</a:t>
                      </a:r>
                    </a:p>
                    <a:p>
                      <a:pPr marL="0" marR="0" indent="0" algn="just" defTabSz="914400" rtl="0" eaLnBrk="1" fontAlgn="auto" latinLnBrk="0" hangingPunct="1">
                        <a:lnSpc>
                          <a:spcPct val="100000"/>
                        </a:lnSpc>
                        <a:spcBef>
                          <a:spcPts val="0"/>
                        </a:spcBef>
                        <a:spcAft>
                          <a:spcPts val="0"/>
                        </a:spcAft>
                        <a:buClrTx/>
                        <a:buSzTx/>
                        <a:buFontTx/>
                        <a:buNone/>
                        <a:tabLst/>
                        <a:defRPr/>
                      </a:pPr>
                      <a:r>
                        <a:rPr kumimoji="0" lang="en-IN" sz="1200" kern="1200" dirty="0">
                          <a:solidFill>
                            <a:schemeClr val="tx1"/>
                          </a:solidFill>
                          <a:latin typeface="+mj-lt"/>
                          <a:ea typeface="+mn-ea"/>
                          <a:cs typeface="+mn-cs"/>
                        </a:rPr>
                        <a:t>(ii) Progress Seminar – II</a:t>
                      </a:r>
                      <a:endParaRPr lang="en-IN" sz="12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kumimoji="0" lang="en-IN" sz="1200" kern="1200" baseline="0" dirty="0">
                          <a:solidFill>
                            <a:schemeClr val="tx1"/>
                          </a:solidFill>
                          <a:latin typeface="+mj-lt"/>
                          <a:ea typeface="+mn-ea"/>
                          <a:cs typeface="+mn-cs"/>
                        </a:rPr>
                        <a:t>January’2025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473508">
                <a:tc>
                  <a:txBody>
                    <a:bodyPr/>
                    <a:lstStyle/>
                    <a:p>
                      <a:pPr algn="just"/>
                      <a:r>
                        <a:rPr lang="en-IN" sz="1200" dirty="0">
                          <a:latin typeface="+mj-lt"/>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kumimoji="0" lang="en-IN" sz="1200" kern="1200" dirty="0">
                          <a:solidFill>
                            <a:schemeClr val="tx1"/>
                          </a:solidFill>
                          <a:latin typeface="+mj-lt"/>
                          <a:ea typeface="+mn-ea"/>
                          <a:cs typeface="+mn-cs"/>
                        </a:rPr>
                        <a:t>(</a:t>
                      </a:r>
                      <a:r>
                        <a:rPr kumimoji="0" lang="en-IN" sz="1200" kern="1200" dirty="0" err="1">
                          <a:solidFill>
                            <a:schemeClr val="tx1"/>
                          </a:solidFill>
                          <a:latin typeface="+mj-lt"/>
                          <a:ea typeface="+mn-ea"/>
                          <a:cs typeface="+mn-cs"/>
                        </a:rPr>
                        <a:t>i</a:t>
                      </a:r>
                      <a:r>
                        <a:rPr kumimoji="0" lang="en-IN" sz="1200" kern="1200" dirty="0">
                          <a:solidFill>
                            <a:schemeClr val="tx1"/>
                          </a:solidFill>
                          <a:latin typeface="+mj-lt"/>
                          <a:ea typeface="+mn-ea"/>
                          <a:cs typeface="+mn-cs"/>
                        </a:rPr>
                        <a:t>)Giving the inputs by running the main code and analysing the prediction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kumimoji="0" lang="en-IN" sz="1200" kern="1200" baseline="0" dirty="0">
                          <a:solidFill>
                            <a:schemeClr val="tx1"/>
                          </a:solidFill>
                          <a:latin typeface="+mj-lt"/>
                          <a:ea typeface="+mn-ea"/>
                          <a:cs typeface="+mn-cs"/>
                        </a:rPr>
                        <a:t>February’2025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Completed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09"/>
                  </a:ext>
                </a:extLst>
              </a:tr>
              <a:tr h="505076">
                <a:tc>
                  <a:txBody>
                    <a:bodyPr/>
                    <a:lstStyle/>
                    <a:p>
                      <a:pPr algn="just"/>
                      <a:r>
                        <a:rPr lang="en-IN" sz="1200" dirty="0">
                          <a:latin typeface="+mj-lt"/>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00050" indent="-400050" algn="just">
                        <a:buAutoNum type="romanLcParenBoth"/>
                      </a:pPr>
                      <a:r>
                        <a:rPr lang="en-IN" sz="1200" dirty="0">
                          <a:latin typeface="+mj-lt"/>
                        </a:rPr>
                        <a:t>Final</a:t>
                      </a:r>
                      <a:r>
                        <a:rPr lang="en-IN" sz="1200" baseline="0" dirty="0">
                          <a:latin typeface="+mj-lt"/>
                        </a:rPr>
                        <a:t> Seminar</a:t>
                      </a:r>
                    </a:p>
                    <a:p>
                      <a:pPr marL="400050" indent="-400050" algn="just">
                        <a:buAutoNum type="romanLcParenBoth"/>
                      </a:pPr>
                      <a:r>
                        <a:rPr lang="en-IN" sz="1200" dirty="0">
                          <a:latin typeface="+mj-lt"/>
                        </a:rPr>
                        <a:t>Submission of Final Project Report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March’2025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mj-lt"/>
                        </a:rPr>
                        <a:t>In progress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303045">
                <a:tc>
                  <a:txBody>
                    <a:bodyPr/>
                    <a:lstStyle/>
                    <a:p>
                      <a:pPr algn="just"/>
                      <a:r>
                        <a:rPr lang="en-IN" sz="1200" dirty="0">
                          <a:latin typeface="+mj-lt"/>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just"/>
                      <a:r>
                        <a:rPr lang="en-IN" sz="1200" dirty="0">
                          <a:latin typeface="+mj-lt"/>
                        </a:rPr>
                        <a:t>Major Project Work Phase – II – Viva-Voce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April’2025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tc>
                  <a:txBody>
                    <a:bodyPr/>
                    <a:lstStyle/>
                    <a:p>
                      <a:pPr algn="ctr"/>
                      <a:r>
                        <a:rPr lang="en-IN" sz="1200" dirty="0">
                          <a:latin typeface="+mj-lt"/>
                        </a:rPr>
                        <a:t>In progress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CD8F6">
                        <a:alpha val="20000"/>
                      </a:srgbClr>
                    </a:solidFill>
                  </a:tcPr>
                </a:tc>
                <a:extLst>
                  <a:ext uri="{0D108BD9-81ED-4DB2-BD59-A6C34878D82A}">
                    <a16:rowId xmlns:a16="http://schemas.microsoft.com/office/drawing/2014/main" val="10011"/>
                  </a:ext>
                </a:extLst>
              </a:tr>
            </a:tbl>
          </a:graphicData>
        </a:graphic>
      </p:graphicFrame>
      <p:sp>
        <p:nvSpPr>
          <p:cNvPr id="4" name="Title 3">
            <a:extLst>
              <a:ext uri="{FF2B5EF4-FFF2-40B4-BE49-F238E27FC236}">
                <a16:creationId xmlns:a16="http://schemas.microsoft.com/office/drawing/2014/main" id="{952E5631-20FF-656B-669A-8D831C472793}"/>
              </a:ext>
            </a:extLst>
          </p:cNvPr>
          <p:cNvSpPr>
            <a:spLocks noGrp="1"/>
          </p:cNvSpPr>
          <p:nvPr>
            <p:ph type="title"/>
          </p:nvPr>
        </p:nvSpPr>
        <p:spPr>
          <a:xfrm>
            <a:off x="1219200" y="223724"/>
            <a:ext cx="8761413" cy="706964"/>
          </a:xfrm>
        </p:spPr>
        <p:txBody>
          <a:bodyPr/>
          <a:lstStyle/>
          <a:p>
            <a:r>
              <a:rPr lang="en-US"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TIMELINE FOR THE PROJECT</a:t>
            </a:r>
            <a:endParaRPr lang="en-IN"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55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52400"/>
            <a:ext cx="8305800" cy="685800"/>
          </a:xfrm>
        </p:spPr>
        <p:txBody>
          <a:bodyPr>
            <a:noAutofit/>
          </a:bodyPr>
          <a:lstStyle/>
          <a:p>
            <a:pPr algn="ctr"/>
            <a:r>
              <a:rPr lang="en-US" sz="4400" b="1" u="sng" dirty="0">
                <a:solidFill>
                  <a:srgbClr val="002060"/>
                </a:solidFill>
                <a:effectLst>
                  <a:outerShdw blurRad="50800" dist="38100" dir="13500000" algn="br" rotWithShape="0">
                    <a:prstClr val="black">
                      <a:alpha val="40000"/>
                    </a:prstClr>
                  </a:outerShdw>
                </a:effectLst>
              </a:rPr>
              <a:t> </a:t>
            </a:r>
          </a:p>
        </p:txBody>
      </p:sp>
      <p:pic>
        <p:nvPicPr>
          <p:cNvPr id="6" name="Content Placeholder 5" descr="thank-you.png"/>
          <p:cNvPicPr>
            <a:picLocks noGrp="1" noChangeAspect="1"/>
          </p:cNvPicPr>
          <p:nvPr>
            <p:ph idx="1"/>
          </p:nvPr>
        </p:nvPicPr>
        <p:blipFill>
          <a:blip r:embed="rId2"/>
          <a:stretch>
            <a:fillRect/>
          </a:stretch>
        </p:blipFill>
        <p:spPr>
          <a:xfrm>
            <a:off x="3276603" y="2286000"/>
            <a:ext cx="5057775" cy="1981200"/>
          </a:xfrm>
        </p:spPr>
      </p:pic>
      <p:sp>
        <p:nvSpPr>
          <p:cNvPr id="14" name="Date Placeholder 13"/>
          <p:cNvSpPr>
            <a:spLocks noGrp="1"/>
          </p:cNvSpPr>
          <p:nvPr>
            <p:ph type="dt" sz="half" idx="10"/>
          </p:nvPr>
        </p:nvSpPr>
        <p:spPr/>
        <p:txBody>
          <a:bodyPr/>
          <a:lstStyle/>
          <a:p>
            <a:fld id="{A75A7DDB-4FFC-4226-AA06-D61431761ABF}" type="datetime5">
              <a:rPr lang="en-US" smtClean="0"/>
              <a:pPr/>
              <a:t>22-Mar-25</a:t>
            </a:fld>
            <a:endParaRPr lang="en-US" dirty="0"/>
          </a:p>
        </p:txBody>
      </p:sp>
    </p:spTree>
    <p:extLst>
      <p:ext uri="{BB962C8B-B14F-4D97-AF65-F5344CB8AC3E}">
        <p14:creationId xmlns:p14="http://schemas.microsoft.com/office/powerpoint/2010/main" val="160355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3721</TotalTime>
  <Words>1144</Words>
  <Application>Microsoft Office PowerPoint</Application>
  <PresentationFormat>Widescreen</PresentationFormat>
  <Paragraphs>218</Paragraphs>
  <Slides>21</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Century Gothic</vt:lpstr>
      <vt:lpstr>Times New Roman</vt:lpstr>
      <vt:lpstr>Wingdings</vt:lpstr>
      <vt:lpstr>Wingdings 3</vt:lpstr>
      <vt:lpstr>Ion Boardroom</vt:lpstr>
      <vt:lpstr>PowerPoint Presentation</vt:lpstr>
      <vt:lpstr>            PRESENTATION CONTENT</vt:lpstr>
      <vt:lpstr>            OBJECTIVE AND EXPECTED OUTCOMES</vt:lpstr>
      <vt:lpstr>PowerPoint Presentation</vt:lpstr>
      <vt:lpstr>                EXISTING METHODS</vt:lpstr>
      <vt:lpstr>DRAWBACKS OF EXISTING METHODS</vt:lpstr>
      <vt:lpstr>            PROPOSED METHODS</vt:lpstr>
      <vt:lpstr>PowerPoint Presentation</vt:lpstr>
      <vt:lpstr>PowerPoint Presentation</vt:lpstr>
      <vt:lpstr>    ADVANTAGES</vt:lpstr>
      <vt:lpstr>                  BLOCK DIAGRAM </vt:lpstr>
      <vt:lpstr>               IMPLEMENTATION</vt:lpstr>
      <vt:lpstr>PowerPoint Presentation</vt:lpstr>
      <vt:lpstr>PowerPoint Presentation</vt:lpstr>
      <vt:lpstr>PowerPoint Presentation</vt:lpstr>
      <vt:lpstr>PowerPoint Presentation</vt:lpstr>
      <vt:lpstr>                    APPLICATIONS</vt:lpstr>
      <vt:lpstr>      REQUIREMENTS FOR PROJECT</vt:lpstr>
      <vt:lpstr>                    REFERENCES</vt:lpstr>
      <vt:lpstr>          TIMELINE FOR THE PROJECT</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KAKATIYA INSTITUTE OF TECHNOLOGY &amp; SCIENCE WARANGAL-15             DEPARTMENT OF ELECTRONICS &amp; COMMUNICATION ENGINEERING</dc:title>
  <dc:creator>Hari</dc:creator>
  <cp:lastModifiedBy>Thota Pranathi</cp:lastModifiedBy>
  <cp:revision>319</cp:revision>
  <dcterms:created xsi:type="dcterms:W3CDTF">2006-08-16T00:00:00Z</dcterms:created>
  <dcterms:modified xsi:type="dcterms:W3CDTF">2025-03-22T05:01:55Z</dcterms:modified>
</cp:coreProperties>
</file>